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6"/>
  </p:notesMasterIdLst>
  <p:sldIdLst>
    <p:sldId id="291" r:id="rId2"/>
    <p:sldId id="292" r:id="rId3"/>
    <p:sldId id="293" r:id="rId4"/>
    <p:sldId id="294" r:id="rId5"/>
    <p:sldId id="295" r:id="rId6"/>
    <p:sldId id="296" r:id="rId7"/>
    <p:sldId id="297" r:id="rId8"/>
    <p:sldId id="298" r:id="rId9"/>
    <p:sldId id="299" r:id="rId10"/>
    <p:sldId id="300" r:id="rId11"/>
    <p:sldId id="301" r:id="rId12"/>
    <p:sldId id="256" r:id="rId13"/>
    <p:sldId id="257" r:id="rId14"/>
    <p:sldId id="258" r:id="rId15"/>
    <p:sldId id="302" r:id="rId16"/>
    <p:sldId id="259" r:id="rId17"/>
    <p:sldId id="260" r:id="rId18"/>
    <p:sldId id="261" r:id="rId19"/>
    <p:sldId id="303" r:id="rId20"/>
    <p:sldId id="262" r:id="rId21"/>
    <p:sldId id="263" r:id="rId22"/>
    <p:sldId id="304" r:id="rId23"/>
    <p:sldId id="305" r:id="rId24"/>
    <p:sldId id="306" r:id="rId25"/>
    <p:sldId id="307" r:id="rId26"/>
    <p:sldId id="308" r:id="rId27"/>
    <p:sldId id="309" r:id="rId28"/>
    <p:sldId id="310" r:id="rId29"/>
    <p:sldId id="311" r:id="rId30"/>
    <p:sldId id="312" r:id="rId31"/>
    <p:sldId id="313" r:id="rId32"/>
    <p:sldId id="314" r:id="rId33"/>
    <p:sldId id="315" r:id="rId34"/>
    <p:sldId id="316" r:id="rId35"/>
    <p:sldId id="317" r:id="rId36"/>
    <p:sldId id="318" r:id="rId37"/>
    <p:sldId id="264" r:id="rId38"/>
    <p:sldId id="272" r:id="rId39"/>
    <p:sldId id="265" r:id="rId40"/>
    <p:sldId id="266" r:id="rId41"/>
    <p:sldId id="267" r:id="rId42"/>
    <p:sldId id="268" r:id="rId43"/>
    <p:sldId id="269" r:id="rId44"/>
    <p:sldId id="270" r:id="rId45"/>
    <p:sldId id="319" r:id="rId46"/>
    <p:sldId id="320" r:id="rId47"/>
    <p:sldId id="321" r:id="rId48"/>
    <p:sldId id="322" r:id="rId49"/>
    <p:sldId id="323" r:id="rId50"/>
    <p:sldId id="324" r:id="rId51"/>
    <p:sldId id="325" r:id="rId52"/>
    <p:sldId id="326" r:id="rId53"/>
    <p:sldId id="327" r:id="rId54"/>
    <p:sldId id="328" r:id="rId55"/>
    <p:sldId id="329" r:id="rId56"/>
    <p:sldId id="330" r:id="rId57"/>
    <p:sldId id="331" r:id="rId58"/>
    <p:sldId id="332" r:id="rId59"/>
    <p:sldId id="333" r:id="rId60"/>
    <p:sldId id="334" r:id="rId61"/>
    <p:sldId id="335" r:id="rId62"/>
    <p:sldId id="336" r:id="rId63"/>
    <p:sldId id="337" r:id="rId64"/>
    <p:sldId id="338" r:id="rId65"/>
    <p:sldId id="339" r:id="rId66"/>
    <p:sldId id="340" r:id="rId67"/>
    <p:sldId id="341" r:id="rId68"/>
    <p:sldId id="342" r:id="rId69"/>
    <p:sldId id="343" r:id="rId70"/>
    <p:sldId id="344" r:id="rId71"/>
    <p:sldId id="345" r:id="rId72"/>
    <p:sldId id="346" r:id="rId73"/>
    <p:sldId id="347" r:id="rId74"/>
    <p:sldId id="348" r:id="rId75"/>
    <p:sldId id="349" r:id="rId76"/>
    <p:sldId id="350" r:id="rId77"/>
    <p:sldId id="351" r:id="rId78"/>
    <p:sldId id="352" r:id="rId79"/>
    <p:sldId id="353" r:id="rId80"/>
    <p:sldId id="354" r:id="rId81"/>
    <p:sldId id="355" r:id="rId82"/>
    <p:sldId id="356" r:id="rId83"/>
    <p:sldId id="357" r:id="rId84"/>
    <p:sldId id="358" r:id="rId85"/>
    <p:sldId id="359" r:id="rId86"/>
    <p:sldId id="360" r:id="rId87"/>
    <p:sldId id="361" r:id="rId88"/>
    <p:sldId id="362" r:id="rId89"/>
    <p:sldId id="363" r:id="rId90"/>
    <p:sldId id="364" r:id="rId91"/>
    <p:sldId id="365" r:id="rId92"/>
    <p:sldId id="366" r:id="rId93"/>
    <p:sldId id="367" r:id="rId94"/>
    <p:sldId id="368" r:id="rId95"/>
    <p:sldId id="369" r:id="rId96"/>
    <p:sldId id="370" r:id="rId97"/>
    <p:sldId id="371" r:id="rId98"/>
    <p:sldId id="372" r:id="rId99"/>
    <p:sldId id="373" r:id="rId100"/>
    <p:sldId id="374" r:id="rId101"/>
    <p:sldId id="375" r:id="rId102"/>
    <p:sldId id="376" r:id="rId103"/>
    <p:sldId id="377" r:id="rId104"/>
    <p:sldId id="378" r:id="rId105"/>
    <p:sldId id="379" r:id="rId106"/>
    <p:sldId id="380" r:id="rId107"/>
    <p:sldId id="381" r:id="rId108"/>
    <p:sldId id="382" r:id="rId109"/>
    <p:sldId id="273" r:id="rId110"/>
    <p:sldId id="383" r:id="rId111"/>
    <p:sldId id="384" r:id="rId112"/>
    <p:sldId id="385" r:id="rId113"/>
    <p:sldId id="271" r:id="rId114"/>
    <p:sldId id="386" r:id="rId115"/>
    <p:sldId id="387" r:id="rId116"/>
    <p:sldId id="388" r:id="rId117"/>
    <p:sldId id="389" r:id="rId118"/>
    <p:sldId id="390" r:id="rId119"/>
    <p:sldId id="391" r:id="rId120"/>
    <p:sldId id="392" r:id="rId121"/>
    <p:sldId id="393" r:id="rId122"/>
    <p:sldId id="394" r:id="rId123"/>
    <p:sldId id="395" r:id="rId124"/>
    <p:sldId id="396" r:id="rId125"/>
  </p:sldIdLst>
  <p:sldSz cx="36576000" cy="20574000"/>
  <p:notesSz cx="6858000" cy="9144000"/>
  <p:defaultTextStyle>
    <a:defPPr marL="0" marR="0" indent="0" algn="l" defTabSz="1369222" rtl="0" fontAlgn="auto" latinLnBrk="1" hangingPunct="0">
      <a:lnSpc>
        <a:spcPct val="100000"/>
      </a:lnSpc>
      <a:spcBef>
        <a:spcPts val="0"/>
      </a:spcBef>
      <a:spcAft>
        <a:spcPts val="0"/>
      </a:spcAft>
      <a:buClrTx/>
      <a:buSzTx/>
      <a:buFontTx/>
      <a:buNone/>
      <a:tabLst/>
      <a:defRPr kumimoji="0" sz="2696" b="0" i="0" u="none" strike="noStrike" cap="none" spc="0" normalizeH="0" baseline="0">
        <a:ln>
          <a:noFill/>
        </a:ln>
        <a:solidFill>
          <a:srgbClr val="000000"/>
        </a:solidFill>
        <a:effectLst/>
        <a:uFillTx/>
      </a:defRPr>
    </a:defPPr>
    <a:lvl1pPr marL="0" marR="0" indent="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1pPr>
    <a:lvl2pPr marL="0" marR="0" indent="34230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2pPr>
    <a:lvl3pPr marL="0" marR="0" indent="68461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3pPr>
    <a:lvl4pPr marL="0" marR="0" indent="102691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4pPr>
    <a:lvl5pPr marL="0" marR="0" indent="136922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5pPr>
    <a:lvl6pPr marL="0" marR="0" indent="1711528"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6pPr>
    <a:lvl7pPr marL="0" marR="0" indent="2053834"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7pPr>
    <a:lvl8pPr marL="0" marR="0" indent="239614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8pPr>
    <a:lvl9pPr marL="0" marR="0" indent="273844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A8F9"/>
    <a:srgbClr val="FFFFFF"/>
    <a:srgbClr val="C1E1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132" autoAdjust="0"/>
    <p:restoredTop sz="94660"/>
  </p:normalViewPr>
  <p:slideViewPr>
    <p:cSldViewPr snapToGrid="0">
      <p:cViewPr varScale="1">
        <p:scale>
          <a:sx n="26" d="100"/>
          <a:sy n="26" d="100"/>
        </p:scale>
        <p:origin x="118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78303747"/>
      </p:ext>
    </p:extLst>
  </p:cSld>
  <p:clrMap bg1="lt1" tx1="dk1" bg2="lt2" tx2="dk2" accent1="accent1" accent2="accent2" accent3="accent3" accent4="accent4" accent5="accent5" accent6="accent6" hlink="hlink" folHlink="folHlink"/>
  <p:notesStyle>
    <a:lvl1pPr defTabSz="684612" latinLnBrk="0">
      <a:lnSpc>
        <a:spcPct val="117999"/>
      </a:lnSpc>
      <a:defRPr sz="3294">
        <a:latin typeface="Helvetica Neue"/>
        <a:ea typeface="Helvetica Neue"/>
        <a:cs typeface="Helvetica Neue"/>
        <a:sym typeface="Helvetica Neue"/>
      </a:defRPr>
    </a:lvl1pPr>
    <a:lvl2pPr indent="342306" defTabSz="684612" latinLnBrk="0">
      <a:lnSpc>
        <a:spcPct val="117999"/>
      </a:lnSpc>
      <a:defRPr sz="3294">
        <a:latin typeface="Helvetica Neue"/>
        <a:ea typeface="Helvetica Neue"/>
        <a:cs typeface="Helvetica Neue"/>
        <a:sym typeface="Helvetica Neue"/>
      </a:defRPr>
    </a:lvl2pPr>
    <a:lvl3pPr indent="684612" defTabSz="684612" latinLnBrk="0">
      <a:lnSpc>
        <a:spcPct val="117999"/>
      </a:lnSpc>
      <a:defRPr sz="3294">
        <a:latin typeface="Helvetica Neue"/>
        <a:ea typeface="Helvetica Neue"/>
        <a:cs typeface="Helvetica Neue"/>
        <a:sym typeface="Helvetica Neue"/>
      </a:defRPr>
    </a:lvl3pPr>
    <a:lvl4pPr indent="1026916" defTabSz="684612" latinLnBrk="0">
      <a:lnSpc>
        <a:spcPct val="117999"/>
      </a:lnSpc>
      <a:defRPr sz="3294">
        <a:latin typeface="Helvetica Neue"/>
        <a:ea typeface="Helvetica Neue"/>
        <a:cs typeface="Helvetica Neue"/>
        <a:sym typeface="Helvetica Neue"/>
      </a:defRPr>
    </a:lvl4pPr>
    <a:lvl5pPr indent="1369222" defTabSz="684612" latinLnBrk="0">
      <a:lnSpc>
        <a:spcPct val="117999"/>
      </a:lnSpc>
      <a:defRPr sz="3294">
        <a:latin typeface="Helvetica Neue"/>
        <a:ea typeface="Helvetica Neue"/>
        <a:cs typeface="Helvetica Neue"/>
        <a:sym typeface="Helvetica Neue"/>
      </a:defRPr>
    </a:lvl5pPr>
    <a:lvl6pPr indent="1711528" defTabSz="684612" latinLnBrk="0">
      <a:lnSpc>
        <a:spcPct val="117999"/>
      </a:lnSpc>
      <a:defRPr sz="3294">
        <a:latin typeface="Helvetica Neue"/>
        <a:ea typeface="Helvetica Neue"/>
        <a:cs typeface="Helvetica Neue"/>
        <a:sym typeface="Helvetica Neue"/>
      </a:defRPr>
    </a:lvl6pPr>
    <a:lvl7pPr indent="2053834" defTabSz="684612" latinLnBrk="0">
      <a:lnSpc>
        <a:spcPct val="117999"/>
      </a:lnSpc>
      <a:defRPr sz="3294">
        <a:latin typeface="Helvetica Neue"/>
        <a:ea typeface="Helvetica Neue"/>
        <a:cs typeface="Helvetica Neue"/>
        <a:sym typeface="Helvetica Neue"/>
      </a:defRPr>
    </a:lvl7pPr>
    <a:lvl8pPr indent="2396140" defTabSz="684612" latinLnBrk="0">
      <a:lnSpc>
        <a:spcPct val="117999"/>
      </a:lnSpc>
      <a:defRPr sz="3294">
        <a:latin typeface="Helvetica Neue"/>
        <a:ea typeface="Helvetica Neue"/>
        <a:cs typeface="Helvetica Neue"/>
        <a:sym typeface="Helvetica Neue"/>
      </a:defRPr>
    </a:lvl8pPr>
    <a:lvl9pPr indent="2738446" defTabSz="684612" latinLnBrk="0">
      <a:lnSpc>
        <a:spcPct val="117999"/>
      </a:lnSpc>
      <a:defRPr sz="3294">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2027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46048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31375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302104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57226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562093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720035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220871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138817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285115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 name="Google Shape;53;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 name="Google Shape;63;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 name="Google Shape;73;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 name="Google Shape;83;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 name="Google Shape;93;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3" name="Google Shape;103;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72992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5" name="Google Shape;115;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5" name="Google Shape;125;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 name="Google Shape;53;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 name="Google Shape;63;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 name="Google Shape;74;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 name="Google Shape;84;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 name="Google Shape;94;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 name="Google Shape;104;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4" name="Google Shape;114;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 name="Google Shape;53;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 name="Google Shape;63;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 name="Google Shape;74;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 name="Google Shape;84;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 name="Google Shape;94;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 name="Google Shape;104;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5" name="Google Shape;115;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5" name="Google Shape;125;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5" name="Google Shape;135;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5" name="Google Shape;135;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extLst>
      <p:ext uri="{BB962C8B-B14F-4D97-AF65-F5344CB8AC3E}">
        <p14:creationId xmlns:p14="http://schemas.microsoft.com/office/powerpoint/2010/main" val="31871916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8" name="Google Shape;158;p1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8" name="Google Shape;168;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8" name="Google Shape;178;p1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8" name="Google Shape;188;p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1" name="Google Shape;201;p1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 name="Google Shape;53;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 name="Google Shape;63;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 name="Google Shape;74;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 name="Google Shape;84;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 name="Google Shape;94;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5" name="Google Shape;105;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5" name="Google Shape;115;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339144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478849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318329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7285718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1813667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9671935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0554738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 name="Google Shape;53;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 name="Google Shape;64;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 name="Google Shape;86;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 name="Google Shape;97;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8" name="Google Shape;108;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 name="Google Shape;118;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 name="Google Shape;129;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0819426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8689344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5572885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7066787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 name="Google Shape;53;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 name="Google Shape;64;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 name="Google Shape;85;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5" name="Google Shape;95;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5" name="Google Shape;105;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6" name="Google Shape;116;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6" name="Google Shape;136;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extLst>
      <p:ext uri="{BB962C8B-B14F-4D97-AF65-F5344CB8AC3E}">
        <p14:creationId xmlns:p14="http://schemas.microsoft.com/office/powerpoint/2010/main" val="94891949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 name="Google Shape;53;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 name="Google Shape;63;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 name="Google Shape;73;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 name="Google Shape;73;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Tree>
    <p:extLst>
      <p:ext uri="{BB962C8B-B14F-4D97-AF65-F5344CB8AC3E}">
        <p14:creationId xmlns:p14="http://schemas.microsoft.com/office/powerpoint/2010/main" val="408309079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 name="Google Shape;84;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 name="Google Shape;94;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5" name="Google Shape;105;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5" name="Google Shape;115;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5" name="Google Shape;125;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Tree>
    <p:extLst>
      <p:ext uri="{BB962C8B-B14F-4D97-AF65-F5344CB8AC3E}">
        <p14:creationId xmlns:p14="http://schemas.microsoft.com/office/powerpoint/2010/main" val="28467350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5" name="Google Shape;135;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5" name="Google Shape;145;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 name="Google Shape;53;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 name="Google Shape;63;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 name="Google Shape;74;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 name="Google Shape;86;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 name="Google Shape;97;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8" name="Google Shape;108;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9" name="Google Shape;119;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 name="Google Shape;129;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0" name="Google Shape;140;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0" name="Google Shape;150;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0" name="Google Shape;160;p1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extLst>
      <p:ext uri="{BB962C8B-B14F-4D97-AF65-F5344CB8AC3E}">
        <p14:creationId xmlns:p14="http://schemas.microsoft.com/office/powerpoint/2010/main" val="294185719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0" name="Google Shape;160;p1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1" name="Google Shape;171;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1" name="Google Shape;171;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extLst>
      <p:ext uri="{BB962C8B-B14F-4D97-AF65-F5344CB8AC3E}">
        <p14:creationId xmlns:p14="http://schemas.microsoft.com/office/powerpoint/2010/main" val="666503078"/>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1" name="Google Shape;171;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extLst>
      <p:ext uri="{BB962C8B-B14F-4D97-AF65-F5344CB8AC3E}">
        <p14:creationId xmlns:p14="http://schemas.microsoft.com/office/powerpoint/2010/main" val="213039859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1" name="Google Shape;171;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extLst>
      <p:ext uri="{BB962C8B-B14F-4D97-AF65-F5344CB8AC3E}">
        <p14:creationId xmlns:p14="http://schemas.microsoft.com/office/powerpoint/2010/main" val="137524698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 name="Google Shape;53;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 name="Google Shape;63;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 name="Google Shape;73;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 name="Google Shape;85;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 name="Google Shape;97;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7" name="Google Shape;107;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9" name="Google Shape;119;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 name="Google Shape;129;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 name="Google Shape;139;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1" name="Google Shape;151;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Shape 20"/>
          <p:cNvSpPr>
            <a:spLocks noGrp="1"/>
          </p:cNvSpPr>
          <p:nvPr>
            <p:ph type="pic" idx="13"/>
          </p:nvPr>
        </p:nvSpPr>
        <p:spPr>
          <a:xfrm>
            <a:off x="4688955" y="1009652"/>
            <a:ext cx="27203402" cy="13106400"/>
          </a:xfrm>
          <a:prstGeom prst="rect">
            <a:avLst/>
          </a:prstGeom>
        </p:spPr>
        <p:txBody>
          <a:bodyPr lIns="91439" tIns="45719" rIns="91439" bIns="45719" anchor="t">
            <a:noAutofit/>
          </a:bodyPr>
          <a:lstStyle/>
          <a:p>
            <a:endParaRPr/>
          </a:p>
        </p:txBody>
      </p:sp>
      <p:sp>
        <p:nvSpPr>
          <p:cNvPr id="21" name="Shape 21"/>
          <p:cNvSpPr>
            <a:spLocks noGrp="1"/>
          </p:cNvSpPr>
          <p:nvPr>
            <p:ph type="title"/>
          </p:nvPr>
        </p:nvSpPr>
        <p:spPr>
          <a:xfrm>
            <a:off x="952500" y="14173202"/>
            <a:ext cx="34671000" cy="3009900"/>
          </a:xfrm>
          <a:prstGeom prst="rect">
            <a:avLst/>
          </a:prstGeom>
        </p:spPr>
        <p:txBody>
          <a:bodyPr anchor="b"/>
          <a:lstStyle/>
          <a:p>
            <a:r>
              <a:t>Title Text</a:t>
            </a:r>
          </a:p>
        </p:txBody>
      </p:sp>
      <p:sp>
        <p:nvSpPr>
          <p:cNvPr id="22" name="Shape 22"/>
          <p:cNvSpPr>
            <a:spLocks noGrp="1"/>
          </p:cNvSpPr>
          <p:nvPr>
            <p:ph type="body" sz="quarter" idx="1"/>
          </p:nvPr>
        </p:nvSpPr>
        <p:spPr>
          <a:xfrm>
            <a:off x="952500" y="17278351"/>
            <a:ext cx="34671000" cy="238125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23" name="Shape 2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Shape 30"/>
          <p:cNvSpPr>
            <a:spLocks noGrp="1"/>
          </p:cNvSpPr>
          <p:nvPr>
            <p:ph type="title"/>
          </p:nvPr>
        </p:nvSpPr>
        <p:spPr>
          <a:xfrm>
            <a:off x="2667000" y="6800852"/>
            <a:ext cx="31242000" cy="6972300"/>
          </a:xfrm>
          <a:prstGeom prst="rect">
            <a:avLst/>
          </a:prstGeom>
        </p:spPr>
        <p:txBody>
          <a:bodyPr/>
          <a:lstStyle/>
          <a:p>
            <a:r>
              <a:t>Title Text</a:t>
            </a:r>
          </a:p>
        </p:txBody>
      </p:sp>
      <p:sp>
        <p:nvSpPr>
          <p:cNvPr id="31" name="Shape 3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Shape 38"/>
          <p:cNvSpPr>
            <a:spLocks noGrp="1"/>
          </p:cNvSpPr>
          <p:nvPr>
            <p:ph type="pic" sz="half" idx="13"/>
          </p:nvPr>
        </p:nvSpPr>
        <p:spPr>
          <a:xfrm>
            <a:off x="19748973" y="1657352"/>
            <a:ext cx="14287502" cy="17259300"/>
          </a:xfrm>
          <a:prstGeom prst="rect">
            <a:avLst/>
          </a:prstGeom>
        </p:spPr>
        <p:txBody>
          <a:bodyPr lIns="91439" tIns="45719" rIns="91439" bIns="45719" anchor="t">
            <a:noAutofit/>
          </a:bodyPr>
          <a:lstStyle/>
          <a:p>
            <a:endParaRPr/>
          </a:p>
        </p:txBody>
      </p:sp>
      <p:sp>
        <p:nvSpPr>
          <p:cNvPr id="39" name="Shape 39"/>
          <p:cNvSpPr>
            <a:spLocks noGrp="1"/>
          </p:cNvSpPr>
          <p:nvPr>
            <p:ph type="title"/>
          </p:nvPr>
        </p:nvSpPr>
        <p:spPr>
          <a:xfrm>
            <a:off x="2476503" y="1657350"/>
            <a:ext cx="15335250" cy="8420100"/>
          </a:xfrm>
          <a:prstGeom prst="rect">
            <a:avLst/>
          </a:prstGeom>
        </p:spPr>
        <p:txBody>
          <a:bodyPr anchor="b"/>
          <a:lstStyle>
            <a:lvl1pPr>
              <a:defRPr sz="12598"/>
            </a:lvl1pPr>
          </a:lstStyle>
          <a:p>
            <a:r>
              <a:t>Title Text</a:t>
            </a:r>
          </a:p>
        </p:txBody>
      </p:sp>
      <p:sp>
        <p:nvSpPr>
          <p:cNvPr id="40" name="Shape 40"/>
          <p:cNvSpPr>
            <a:spLocks noGrp="1"/>
          </p:cNvSpPr>
          <p:nvPr>
            <p:ph type="body" sz="quarter" idx="1"/>
          </p:nvPr>
        </p:nvSpPr>
        <p:spPr>
          <a:xfrm>
            <a:off x="2476503" y="10267950"/>
            <a:ext cx="15335250" cy="864870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41" name="Shape 4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Shape 48"/>
          <p:cNvSpPr>
            <a:spLocks noGrp="1"/>
          </p:cNvSpPr>
          <p:nvPr>
            <p:ph type="title"/>
          </p:nvPr>
        </p:nvSpPr>
        <p:spPr>
          <a:prstGeom prst="rect">
            <a:avLst/>
          </a:prstGeom>
        </p:spPr>
        <p:txBody>
          <a:bodyPr/>
          <a:lstStyle/>
          <a:p>
            <a:r>
              <a:t>Title Text</a:t>
            </a:r>
          </a:p>
        </p:txBody>
      </p:sp>
      <p:sp>
        <p:nvSpPr>
          <p:cNvPr id="49" name="Shape 4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t>Title Text</a:t>
            </a:r>
          </a:p>
        </p:txBody>
      </p:sp>
      <p:sp>
        <p:nvSpPr>
          <p:cNvPr id="57" name="Shape 5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hape 5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hape 65"/>
          <p:cNvSpPr>
            <a:spLocks noGrp="1"/>
          </p:cNvSpPr>
          <p:nvPr>
            <p:ph type="pic" sz="half" idx="13"/>
          </p:nvPr>
        </p:nvSpPr>
        <p:spPr>
          <a:xfrm>
            <a:off x="19754850" y="4857753"/>
            <a:ext cx="14287500" cy="13811250"/>
          </a:xfrm>
          <a:prstGeom prst="rect">
            <a:avLst/>
          </a:prstGeom>
        </p:spPr>
        <p:txBody>
          <a:bodyPr lIns="91439" tIns="45719" rIns="91439" bIns="45719" anchor="t">
            <a:noAutofit/>
          </a:bodyPr>
          <a:lstStyle/>
          <a:p>
            <a:endParaRPr/>
          </a:p>
        </p:txBody>
      </p:sp>
      <p:sp>
        <p:nvSpPr>
          <p:cNvPr id="66" name="Shape 66"/>
          <p:cNvSpPr>
            <a:spLocks noGrp="1"/>
          </p:cNvSpPr>
          <p:nvPr>
            <p:ph type="title"/>
          </p:nvPr>
        </p:nvSpPr>
        <p:spPr>
          <a:prstGeom prst="rect">
            <a:avLst/>
          </a:prstGeom>
        </p:spPr>
        <p:txBody>
          <a:bodyPr/>
          <a:lstStyle/>
          <a:p>
            <a:r>
              <a:t>Title Text</a:t>
            </a:r>
          </a:p>
        </p:txBody>
      </p:sp>
      <p:sp>
        <p:nvSpPr>
          <p:cNvPr id="67" name="Shape 67"/>
          <p:cNvSpPr>
            <a:spLocks noGrp="1"/>
          </p:cNvSpPr>
          <p:nvPr>
            <p:ph type="body" sz="half" idx="1"/>
          </p:nvPr>
        </p:nvSpPr>
        <p:spPr>
          <a:xfrm>
            <a:off x="2533650" y="4857753"/>
            <a:ext cx="15011400" cy="13811250"/>
          </a:xfrm>
          <a:prstGeom prst="rect">
            <a:avLst/>
          </a:prstGeom>
        </p:spPr>
        <p:txBody>
          <a:bodyPr/>
          <a:lstStyle>
            <a:lvl1pPr marL="838154" indent="-838154">
              <a:spcBef>
                <a:spcPts val="6750"/>
              </a:spcBef>
              <a:defRPr sz="6750"/>
            </a:lvl1pPr>
            <a:lvl2pPr marL="1676310" indent="-838154">
              <a:spcBef>
                <a:spcPts val="6750"/>
              </a:spcBef>
              <a:defRPr sz="6750"/>
            </a:lvl2pPr>
            <a:lvl3pPr marL="2514464" indent="-838154">
              <a:spcBef>
                <a:spcPts val="6750"/>
              </a:spcBef>
              <a:defRPr sz="6750"/>
            </a:lvl3pPr>
            <a:lvl4pPr marL="3352620" indent="-838154">
              <a:spcBef>
                <a:spcPts val="6750"/>
              </a:spcBef>
              <a:defRPr sz="6750"/>
            </a:lvl4pPr>
            <a:lvl5pPr marL="4190774" indent="-838154">
              <a:spcBef>
                <a:spcPts val="6750"/>
              </a:spcBef>
              <a:defRPr sz="6750"/>
            </a:lvl5pPr>
          </a:lstStyle>
          <a:p>
            <a:r>
              <a:t>Body Level One</a:t>
            </a:r>
          </a:p>
          <a:p>
            <a:pPr lvl="1"/>
            <a:r>
              <a:t>Body Level Two</a:t>
            </a:r>
          </a:p>
          <a:p>
            <a:pPr lvl="2"/>
            <a:r>
              <a:t>Body Level Three</a:t>
            </a:r>
          </a:p>
          <a:p>
            <a:pPr lvl="3"/>
            <a:r>
              <a:t>Body Level Four</a:t>
            </a:r>
          </a:p>
          <a:p>
            <a:pPr lvl="4"/>
            <a:r>
              <a:t>Body Level Five</a:t>
            </a:r>
          </a:p>
        </p:txBody>
      </p:sp>
      <p:sp>
        <p:nvSpPr>
          <p:cNvPr id="68" name="Shape 6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Shape 75"/>
          <p:cNvSpPr>
            <a:spLocks noGrp="1"/>
          </p:cNvSpPr>
          <p:nvPr>
            <p:ph type="body" idx="1"/>
          </p:nvPr>
        </p:nvSpPr>
        <p:spPr>
          <a:xfrm>
            <a:off x="2533650" y="2667001"/>
            <a:ext cx="31508700" cy="1522095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hape 7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Shape 83"/>
          <p:cNvSpPr>
            <a:spLocks noGrp="1"/>
          </p:cNvSpPr>
          <p:nvPr>
            <p:ph type="pic" sz="quarter" idx="13"/>
          </p:nvPr>
        </p:nvSpPr>
        <p:spPr>
          <a:xfrm>
            <a:off x="23641053" y="10572751"/>
            <a:ext cx="11106150" cy="8324850"/>
          </a:xfrm>
          <a:prstGeom prst="rect">
            <a:avLst/>
          </a:prstGeom>
        </p:spPr>
        <p:txBody>
          <a:bodyPr lIns="91439" tIns="45719" rIns="91439" bIns="45719" anchor="t">
            <a:noAutofit/>
          </a:bodyPr>
          <a:lstStyle/>
          <a:p>
            <a:endParaRPr/>
          </a:p>
        </p:txBody>
      </p:sp>
      <p:sp>
        <p:nvSpPr>
          <p:cNvPr id="84" name="Shape 84"/>
          <p:cNvSpPr>
            <a:spLocks noGrp="1"/>
          </p:cNvSpPr>
          <p:nvPr>
            <p:ph type="pic" sz="quarter" idx="14"/>
          </p:nvPr>
        </p:nvSpPr>
        <p:spPr>
          <a:xfrm>
            <a:off x="23641053" y="1695451"/>
            <a:ext cx="11106150" cy="8324850"/>
          </a:xfrm>
          <a:prstGeom prst="rect">
            <a:avLst/>
          </a:prstGeom>
        </p:spPr>
        <p:txBody>
          <a:bodyPr lIns="91439" tIns="45719" rIns="91439" bIns="45719" anchor="t">
            <a:noAutofit/>
          </a:bodyPr>
          <a:lstStyle/>
          <a:p>
            <a:endParaRPr/>
          </a:p>
        </p:txBody>
      </p:sp>
      <p:sp>
        <p:nvSpPr>
          <p:cNvPr id="85" name="Shape 85"/>
          <p:cNvSpPr>
            <a:spLocks noGrp="1"/>
          </p:cNvSpPr>
          <p:nvPr>
            <p:ph type="pic" idx="15"/>
          </p:nvPr>
        </p:nvSpPr>
        <p:spPr>
          <a:xfrm>
            <a:off x="1809750" y="1695451"/>
            <a:ext cx="21259800" cy="17202150"/>
          </a:xfrm>
          <a:prstGeom prst="rect">
            <a:avLst/>
          </a:prstGeom>
        </p:spPr>
        <p:txBody>
          <a:bodyPr lIns="91439" tIns="45719" rIns="91439" bIns="45719" anchor="t">
            <a:noAutofit/>
          </a:bodyPr>
          <a:lstStyle/>
          <a:p>
            <a:endParaRPr/>
          </a:p>
        </p:txBody>
      </p:sp>
      <p:sp>
        <p:nvSpPr>
          <p:cNvPr id="86" name="Shape 8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Shape 93"/>
          <p:cNvSpPr>
            <a:spLocks noGrp="1"/>
          </p:cNvSpPr>
          <p:nvPr>
            <p:ph type="body" sz="quarter" idx="13"/>
          </p:nvPr>
        </p:nvSpPr>
        <p:spPr>
          <a:xfrm>
            <a:off x="3581403" y="13430251"/>
            <a:ext cx="29432250" cy="979755"/>
          </a:xfrm>
          <a:prstGeom prst="rect">
            <a:avLst/>
          </a:prstGeom>
        </p:spPr>
        <p:txBody>
          <a:bodyPr anchor="t">
            <a:spAutoFit/>
          </a:bodyPr>
          <a:lstStyle>
            <a:lvl1pPr marL="0" indent="0" algn="ctr">
              <a:spcBef>
                <a:spcPts val="0"/>
              </a:spcBef>
              <a:buSzTx/>
              <a:buNone/>
              <a:defRPr sz="5700">
                <a:latin typeface="Helvetica"/>
                <a:ea typeface="Helvetica"/>
                <a:cs typeface="Helvetica"/>
                <a:sym typeface="Helvetica"/>
              </a:defRPr>
            </a:lvl1pPr>
          </a:lstStyle>
          <a:p>
            <a:r>
              <a:t>–Johnny Appleseed</a:t>
            </a:r>
          </a:p>
        </p:txBody>
      </p:sp>
      <p:sp>
        <p:nvSpPr>
          <p:cNvPr id="94" name="Shape 94"/>
          <p:cNvSpPr>
            <a:spLocks noGrp="1"/>
          </p:cNvSpPr>
          <p:nvPr>
            <p:ph type="body" sz="quarter" idx="14"/>
          </p:nvPr>
        </p:nvSpPr>
        <p:spPr>
          <a:xfrm>
            <a:off x="3581403" y="9083251"/>
            <a:ext cx="29432250" cy="1302601"/>
          </a:xfrm>
          <a:prstGeom prst="rect">
            <a:avLst/>
          </a:prstGeom>
        </p:spPr>
        <p:txBody>
          <a:bodyPr>
            <a:spAutoFit/>
          </a:bodyPr>
          <a:lstStyle>
            <a:lvl1pPr marL="0" indent="0" algn="ctr">
              <a:spcBef>
                <a:spcPts val="0"/>
              </a:spcBef>
              <a:buSzTx/>
              <a:buNone/>
            </a:lvl1pPr>
          </a:lstStyle>
          <a:p>
            <a:r>
              <a:t>“Type a quote here.” </a:t>
            </a:r>
          </a:p>
        </p:txBody>
      </p:sp>
      <p:sp>
        <p:nvSpPr>
          <p:cNvPr id="95" name="Shape 9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Shape 102"/>
          <p:cNvSpPr>
            <a:spLocks noGrp="1"/>
          </p:cNvSpPr>
          <p:nvPr>
            <p:ph type="pic" idx="13"/>
          </p:nvPr>
        </p:nvSpPr>
        <p:spPr>
          <a:xfrm>
            <a:off x="0" y="2"/>
            <a:ext cx="36576000" cy="20574000"/>
          </a:xfrm>
          <a:prstGeom prst="rect">
            <a:avLst/>
          </a:prstGeom>
        </p:spPr>
        <p:txBody>
          <a:bodyPr lIns="91439" tIns="45719" rIns="91439" bIns="45719" anchor="t">
            <a:noAutofit/>
          </a:bodyPr>
          <a:lstStyle/>
          <a:p>
            <a:endParaRPr/>
          </a:p>
        </p:txBody>
      </p:sp>
      <p:sp>
        <p:nvSpPr>
          <p:cNvPr id="103" name="Shape 10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hape 11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2533650" y="1428750"/>
            <a:ext cx="31508700" cy="3429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2533650" y="4857753"/>
            <a:ext cx="31508700" cy="1381125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17880931" y="19621502"/>
            <a:ext cx="795089" cy="656590"/>
          </a:xfrm>
          <a:prstGeom prst="rect">
            <a:avLst/>
          </a:prstGeom>
          <a:ln w="12700">
            <a:miter lim="400000"/>
          </a:ln>
        </p:spPr>
        <p:txBody>
          <a:bodyPr wrap="none" lIns="50800" tIns="50800" rIns="50800" bIns="50800">
            <a:spAutoFit/>
          </a:bodyPr>
          <a:lstStyle>
            <a:lvl1pPr>
              <a:defRPr sz="36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spd="med"/>
  <p:txStyles>
    <p:titleStyle>
      <a:lvl1pPr marL="0" marR="0" indent="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9pPr>
    </p:titleStyle>
    <p:bodyStyle>
      <a:lvl1pPr marL="95244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1pPr>
      <a:lvl2pPr marL="190489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2pPr>
      <a:lvl3pPr marL="285734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3pPr>
      <a:lvl4pPr marL="380979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4pPr>
      <a:lvl5pPr marL="4762244"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5pPr>
      <a:lvl6pPr marL="571469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6pPr>
      <a:lvl7pPr marL="666714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7pPr>
      <a:lvl8pPr marL="761959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8pPr>
      <a:lvl9pPr marL="857204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3.xml"/><Relationship Id="rId1" Type="http://schemas.openxmlformats.org/officeDocument/2006/relationships/slideLayout" Target="../slideLayouts/slideLayout5.xml"/><Relationship Id="rId4" Type="http://schemas.openxmlformats.org/officeDocument/2006/relationships/hyperlink" Target="https://symbl.cc/" TargetMode="External"/></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6.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7.xml"/><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8.xml"/><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9.xml"/><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0.xml"/><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1.xml"/><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2.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3.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4.xml"/><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5.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6.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7.xm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8.xml"/><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9.xml"/><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0.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1.xml"/><Relationship Id="rId1" Type="http://schemas.openxmlformats.org/officeDocument/2006/relationships/slideLayout" Target="../slideLayouts/slideLayout5.xml"/><Relationship Id="rId5" Type="http://schemas.openxmlformats.org/officeDocument/2006/relationships/image" Target="../media/image31.png"/><Relationship Id="rId4" Type="http://schemas.openxmlformats.org/officeDocument/2006/relationships/image" Target="../media/image30.png"/></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2.xml"/><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1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3.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1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4.xml"/><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1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5.xml"/><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6.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7.xml"/><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8.xml"/><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9.xml"/><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0.xml"/><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1.xml"/><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2.xml"/><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3.xml"/><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4.xml"/><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5.xml"/><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6.xml"/><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7.xml"/><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1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8.xml"/><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9.xml"/><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0.xml"/><Relationship Id="rId1" Type="http://schemas.openxmlformats.org/officeDocument/2006/relationships/slideLayout" Target="../slideLayouts/slideLayout5.xml"/><Relationship Id="rId5" Type="http://schemas.openxmlformats.org/officeDocument/2006/relationships/image" Target="../media/image39.png"/><Relationship Id="rId4" Type="http://schemas.openxmlformats.org/officeDocument/2006/relationships/image" Target="../media/image38.png"/></Relationships>
</file>

<file path=ppt/slides/_rels/slide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1.xml"/><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2.xml"/><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3.xml"/><Relationship Id="rId1" Type="http://schemas.openxmlformats.org/officeDocument/2006/relationships/slideLayout" Target="../slideLayouts/slideLayout5.xml"/><Relationship Id="rId5" Type="http://schemas.openxmlformats.org/officeDocument/2006/relationships/image" Target="../media/image41.png"/><Relationship Id="rId4" Type="http://schemas.openxmlformats.org/officeDocument/2006/relationships/image" Target="../media/image40.png"/></Relationships>
</file>

<file path=ppt/slides/_rels/slide1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935412"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Getting Started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Hello World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video, we're going to print some things to the screen, to get our first real taste of programming.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Java Shell Tool, or </a:t>
            </a:r>
            <a:r>
              <a:rPr lang="en-US" sz="6400" dirty="0" err="1">
                <a:latin typeface="Open Sans" panose="020B0606030504020204" pitchFamily="34" charset="0"/>
                <a:ea typeface="Open Sans" panose="020B0606030504020204" pitchFamily="34" charset="0"/>
                <a:cs typeface="Open Sans" panose="020B0606030504020204" pitchFamily="34" charset="0"/>
              </a:rPr>
              <a:t>JShell</a:t>
            </a:r>
            <a:r>
              <a:rPr lang="en-US" sz="6400" dirty="0">
                <a:latin typeface="Open Sans" panose="020B0606030504020204" pitchFamily="34" charset="0"/>
                <a:ea typeface="Open Sans" panose="020B0606030504020204" pitchFamily="34" charset="0"/>
                <a:cs typeface="Open Sans" panose="020B0606030504020204" pitchFamily="34" charset="0"/>
              </a:rPr>
              <a:t> as it's referred to, is the tool we'll be using to achieve this, and is the one I talked about in the previous video.</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Be sure to watch that previous video if you need a recap, on how to access it for your operating system.</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For best results for this course, make sure you follow along as closely as you can, typing the code segments I'll be typing, into your own </a:t>
            </a:r>
            <a:r>
              <a:rPr lang="en-US" sz="6400" dirty="0" err="1">
                <a:latin typeface="Open Sans" panose="020B0606030504020204" pitchFamily="34" charset="0"/>
                <a:ea typeface="Open Sans" panose="020B0606030504020204" pitchFamily="34" charset="0"/>
                <a:cs typeface="Open Sans" panose="020B0606030504020204" pitchFamily="34" charset="0"/>
              </a:rPr>
              <a:t>JShell</a:t>
            </a:r>
            <a:r>
              <a:rPr lang="en-US" sz="6400" dirty="0">
                <a:latin typeface="Open Sans" panose="020B0606030504020204" pitchFamily="34" charset="0"/>
                <a:ea typeface="Open Sans" panose="020B0606030504020204" pitchFamily="34" charset="0"/>
                <a:cs typeface="Open Sans" panose="020B0606030504020204" pitchFamily="34" charset="0"/>
              </a:rPr>
              <a:t> session.</a:t>
            </a:r>
          </a:p>
        </p:txBody>
      </p:sp>
    </p:spTree>
    <p:extLst>
      <p:ext uri="{BB962C8B-B14F-4D97-AF65-F5344CB8AC3E}">
        <p14:creationId xmlns:p14="http://schemas.microsoft.com/office/powerpoint/2010/main" val="603139770"/>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935412"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Getting Started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Hello World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Nothing beats learning from your own mistakes, and figuring out how to get a line of code to work, when it wasn't working before.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emulates real-world problem solving, and you'll find when you type in your own code, you'll be making all kinds of typos, or omitting or overlooking some characters that are required.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is the best way to learn, and pick up all the nuances, of any programming language you're learning.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 do encounter a mistake on your own, pause the video, try solving it on your own, and if that doesn't work – remember the working code segments, are always available in the resources section of every video. </a:t>
            </a:r>
          </a:p>
        </p:txBody>
      </p:sp>
    </p:spTree>
    <p:extLst>
      <p:ext uri="{BB962C8B-B14F-4D97-AF65-F5344CB8AC3E}">
        <p14:creationId xmlns:p14="http://schemas.microsoft.com/office/powerpoint/2010/main" val="1054202662"/>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935412"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Getting Started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Hello World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addition, I'll be trying to talk through, and demonstrate, some of the most common mistakes we all make in Java. If you're making these mistakes, and correcting them on your own, you won't forget them easily.</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you're like most programmers, figuring out how the pieces fit, and seeing the result of the code working, after a bit of a struggle, is the best part of programming.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Coding is a lot of fun, and I promise you'll feel the same way as we progress through this course.</a:t>
            </a:r>
          </a:p>
        </p:txBody>
      </p:sp>
    </p:spTree>
    <p:extLst>
      <p:ext uri="{BB962C8B-B14F-4D97-AF65-F5344CB8AC3E}">
        <p14:creationId xmlns:p14="http://schemas.microsoft.com/office/powerpoint/2010/main" val="775462578"/>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935412"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Getting Started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Hello World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All right – So let's get started. It's always been a tradition, when you're learning a new programming language, to create a simple program that outputs the text, "Hello World".  This lets us test all the parts that are necessary, to create a successful program, with very little investment of time, or knowledge of the language.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It's the first step, and honestly, even after many years of programming, I still get that first feeling of achievement, when I've accomplished this step in a new language.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 can print "Hello World" to the screen, you're on your way to bigger, and better things.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Lets do that now. </a:t>
            </a:r>
          </a:p>
        </p:txBody>
      </p:sp>
    </p:spTree>
    <p:extLst>
      <p:ext uri="{BB962C8B-B14F-4D97-AF65-F5344CB8AC3E}">
        <p14:creationId xmlns:p14="http://schemas.microsoft.com/office/powerpoint/2010/main" val="3102786882"/>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6844823"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Statement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Hello World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What is a statement?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It's a complete command to be executed. It can include one or more expressions, and I'll be talking about expressions and related topics, as we progress through the course.</a:t>
            </a:r>
          </a:p>
        </p:txBody>
      </p:sp>
    </p:spTree>
    <p:extLst>
      <p:ext uri="{BB962C8B-B14F-4D97-AF65-F5344CB8AC3E}">
        <p14:creationId xmlns:p14="http://schemas.microsoft.com/office/powerpoint/2010/main" val="2682074551"/>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6844823"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Statement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Hello World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What we've typed above, is a command to print some information to the screen, using syntax provided by the Java language.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specified what we wanted Java to print in the parentheses and double quotes – in this case, the text "Hello World" – effectively we're telling Java to print out the words, as we've specified them in the quotes – "Hello World".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After we press the </a:t>
            </a:r>
            <a:r>
              <a:rPr lang="en-US" sz="6400" b="1" dirty="0">
                <a:latin typeface="Open Sans" panose="020B0606030504020204" pitchFamily="34" charset="0"/>
                <a:ea typeface="Open Sans" panose="020B0606030504020204" pitchFamily="34" charset="0"/>
                <a:cs typeface="Open Sans" panose="020B0606030504020204" pitchFamily="34" charset="0"/>
              </a:rPr>
              <a:t>enter</a:t>
            </a:r>
            <a:r>
              <a:rPr lang="en-US" sz="6400" dirty="0">
                <a:latin typeface="Open Sans" panose="020B0606030504020204" pitchFamily="34" charset="0"/>
                <a:ea typeface="Open Sans" panose="020B0606030504020204" pitchFamily="34" charset="0"/>
                <a:cs typeface="Open Sans" panose="020B0606030504020204" pitchFamily="34" charset="0"/>
              </a:rPr>
              <a:t> key, the program executing the code should print that text to the screen – in this case, the output is printed on the very next line.</a:t>
            </a:r>
          </a:p>
        </p:txBody>
      </p:sp>
      <p:pic>
        <p:nvPicPr>
          <p:cNvPr id="4" name="Picture 3">
            <a:extLst>
              <a:ext uri="{FF2B5EF4-FFF2-40B4-BE49-F238E27FC236}">
                <a16:creationId xmlns:a16="http://schemas.microsoft.com/office/drawing/2014/main" id="{B4137BEE-D345-A679-3F68-7615E3E2CA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22977" y="4285904"/>
            <a:ext cx="16130047" cy="1145969"/>
          </a:xfrm>
          <a:prstGeom prst="rect">
            <a:avLst/>
          </a:prstGeom>
        </p:spPr>
      </p:pic>
    </p:spTree>
    <p:extLst>
      <p:ext uri="{BB962C8B-B14F-4D97-AF65-F5344CB8AC3E}">
        <p14:creationId xmlns:p14="http://schemas.microsoft.com/office/powerpoint/2010/main" val="2112849264"/>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6513001"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Challenge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Hello World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I've got a bit of a challenge for you here, and the challenge is to see whether you can modify the statement we typed below, so that instead of it printing out "Hello World", it prints, "Hello Tim".</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Looking at this code, how do you think you'd go about achieving that?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Let's see if you can figure that out, and get that to run.</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pic>
        <p:nvPicPr>
          <p:cNvPr id="4" name="Picture 3">
            <a:extLst>
              <a:ext uri="{FF2B5EF4-FFF2-40B4-BE49-F238E27FC236}">
                <a16:creationId xmlns:a16="http://schemas.microsoft.com/office/drawing/2014/main" id="{B4137BEE-D345-A679-3F68-7615E3E2CA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22977" y="7719569"/>
            <a:ext cx="16130047" cy="1145969"/>
          </a:xfrm>
          <a:prstGeom prst="rect">
            <a:avLst/>
          </a:prstGeom>
        </p:spPr>
      </p:pic>
    </p:spTree>
    <p:extLst>
      <p:ext uri="{BB962C8B-B14F-4D97-AF65-F5344CB8AC3E}">
        <p14:creationId xmlns:p14="http://schemas.microsoft.com/office/powerpoint/2010/main" val="1479231872"/>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6513001"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Challenge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Hello World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have a few options here. You could just retype the entire line in from scratch, with the changed text to print out. But we want to modify the statement, not type a new line in.</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To modify the existing line, press the up arrow key – remember that in </a:t>
            </a:r>
            <a:r>
              <a:rPr lang="en-US" sz="6400" dirty="0" err="1">
                <a:latin typeface="Open Sans" panose="020B0606030504020204" pitchFamily="34" charset="0"/>
                <a:ea typeface="Open Sans" panose="020B0606030504020204" pitchFamily="34" charset="0"/>
                <a:cs typeface="Open Sans" panose="020B0606030504020204" pitchFamily="34" charset="0"/>
              </a:rPr>
              <a:t>JShell</a:t>
            </a:r>
            <a:r>
              <a:rPr lang="en-US" sz="6400" dirty="0">
                <a:latin typeface="Open Sans" panose="020B0606030504020204" pitchFamily="34" charset="0"/>
                <a:ea typeface="Open Sans" panose="020B0606030504020204" pitchFamily="34" charset="0"/>
                <a:cs typeface="Open Sans" panose="020B0606030504020204" pitchFamily="34" charset="0"/>
              </a:rPr>
              <a:t>, you can see the history of the lines you've previously typed, using the up and down arrows.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Pressing the up arrow now, will display the code we first typed in – so make the change, and then press enter to see the result printed to the screen.</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pic>
        <p:nvPicPr>
          <p:cNvPr id="4" name="Picture 3">
            <a:extLst>
              <a:ext uri="{FF2B5EF4-FFF2-40B4-BE49-F238E27FC236}">
                <a16:creationId xmlns:a16="http://schemas.microsoft.com/office/drawing/2014/main" id="{B4137BEE-D345-A679-3F68-7615E3E2CA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22977" y="2707802"/>
            <a:ext cx="16130047" cy="1145969"/>
          </a:xfrm>
          <a:prstGeom prst="rect">
            <a:avLst/>
          </a:prstGeom>
        </p:spPr>
      </p:pic>
    </p:spTree>
    <p:extLst>
      <p:ext uri="{BB962C8B-B14F-4D97-AF65-F5344CB8AC3E}">
        <p14:creationId xmlns:p14="http://schemas.microsoft.com/office/powerpoint/2010/main" val="2730111824"/>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7734490"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Hello World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Hello World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Congratulations if you managed to make that work! These are the first steps almost all programmers make, in almost every programming language, regardless of their experience.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 had a problem getting it to work, don't worry, the more you work at this course, the easier things will be to understand – so hang in there!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Every video builds on some content in previous videos, and you'll have lots of opportunities to explore these concepts further, so you won't be left behind.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Next, let's look at some common errors you might get, when typing in Java </a:t>
            </a:r>
            <a:r>
              <a:rPr lang="en-US" sz="6400">
                <a:latin typeface="Open Sans" panose="020B0606030504020204" pitchFamily="34" charset="0"/>
                <a:ea typeface="Open Sans" panose="020B0606030504020204" pitchFamily="34" charset="0"/>
                <a:cs typeface="Open Sans" panose="020B0606030504020204" pitchFamily="34" charset="0"/>
              </a:rPr>
              <a:t>code.</a:t>
            </a: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050753610"/>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7734490"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Hello World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Hello World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These were a few examples, of errors that might occur, when your coding in </a:t>
            </a:r>
            <a:r>
              <a:rPr lang="en-US" sz="6400" dirty="0" err="1">
                <a:latin typeface="Open Sans" panose="020B0606030504020204" pitchFamily="34" charset="0"/>
                <a:ea typeface="Open Sans" panose="020B0606030504020204" pitchFamily="34" charset="0"/>
                <a:cs typeface="Open Sans" panose="020B0606030504020204" pitchFamily="34" charset="0"/>
              </a:rPr>
              <a:t>JShell</a:t>
            </a:r>
            <a:r>
              <a:rPr lang="en-US" sz="6400" dirty="0">
                <a:latin typeface="Open Sans" panose="020B0606030504020204" pitchFamily="34" charset="0"/>
                <a:ea typeface="Open Sans" panose="020B0606030504020204" pitchFamily="34" charset="0"/>
                <a:cs typeface="Open Sans" panose="020B0606030504020204" pitchFamily="34" charset="0"/>
              </a:rPr>
              <a:t>. Let me encourage you to play with this line of code in </a:t>
            </a:r>
            <a:r>
              <a:rPr lang="en-US" sz="6400" dirty="0" err="1">
                <a:latin typeface="Open Sans" panose="020B0606030504020204" pitchFamily="34" charset="0"/>
                <a:ea typeface="Open Sans" panose="020B0606030504020204" pitchFamily="34" charset="0"/>
                <a:cs typeface="Open Sans" panose="020B0606030504020204" pitchFamily="34" charset="0"/>
              </a:rPr>
              <a:t>JShell</a:t>
            </a:r>
            <a:r>
              <a:rPr lang="en-US" sz="6400" dirty="0">
                <a:latin typeface="Open Sans" panose="020B0606030504020204" pitchFamily="34" charset="0"/>
                <a:ea typeface="Open Sans" panose="020B0606030504020204" pitchFamily="34" charset="0"/>
                <a:cs typeface="Open Sans" panose="020B0606030504020204" pitchFamily="34" charset="0"/>
              </a:rPr>
              <a:t>, in as many ways as you can think of, to see what kind of errors you might get, or what kind of output is produced.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is the whole point of </a:t>
            </a:r>
            <a:r>
              <a:rPr lang="en-US" sz="6400" dirty="0" err="1">
                <a:latin typeface="Open Sans" panose="020B0606030504020204" pitchFamily="34" charset="0"/>
                <a:ea typeface="Open Sans" panose="020B0606030504020204" pitchFamily="34" charset="0"/>
                <a:cs typeface="Open Sans" panose="020B0606030504020204" pitchFamily="34" charset="0"/>
              </a:rPr>
              <a:t>JShell</a:t>
            </a:r>
            <a:r>
              <a:rPr lang="en-US" sz="6400" dirty="0">
                <a:latin typeface="Open Sans" panose="020B0606030504020204" pitchFamily="34" charset="0"/>
                <a:ea typeface="Open Sans" panose="020B0606030504020204" pitchFamily="34" charset="0"/>
                <a:cs typeface="Open Sans" panose="020B0606030504020204" pitchFamily="34" charset="0"/>
              </a:rPr>
              <a:t> – to provide you with a safe place to test code segments.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Remember that the key combination 'control c', on windows, or 'control d' on a mac or a </a:t>
            </a:r>
            <a:r>
              <a:rPr lang="en-US" sz="6400" dirty="0" err="1">
                <a:latin typeface="Open Sans" panose="020B0606030504020204" pitchFamily="34" charset="0"/>
                <a:ea typeface="Open Sans" panose="020B0606030504020204" pitchFamily="34" charset="0"/>
                <a:cs typeface="Open Sans" panose="020B0606030504020204" pitchFamily="34" charset="0"/>
              </a:rPr>
              <a:t>linux</a:t>
            </a:r>
            <a:r>
              <a:rPr lang="en-US" sz="6400" dirty="0">
                <a:latin typeface="Open Sans" panose="020B0606030504020204" pitchFamily="34" charset="0"/>
                <a:ea typeface="Open Sans" panose="020B0606030504020204" pitchFamily="34" charset="0"/>
                <a:cs typeface="Open Sans" panose="020B0606030504020204" pitchFamily="34" charset="0"/>
              </a:rPr>
              <a:t> machine, should cancel what you are in the middle of, and get you back to the </a:t>
            </a:r>
            <a:r>
              <a:rPr lang="en-US" sz="6400" dirty="0" err="1">
                <a:latin typeface="Open Sans" panose="020B0606030504020204" pitchFamily="34" charset="0"/>
                <a:ea typeface="Open Sans" panose="020B0606030504020204" pitchFamily="34" charset="0"/>
                <a:cs typeface="Open Sans" panose="020B0606030504020204" pitchFamily="34" charset="0"/>
              </a:rPr>
              <a:t>JShell</a:t>
            </a:r>
            <a:r>
              <a:rPr lang="en-US" sz="6400" dirty="0">
                <a:latin typeface="Open Sans" panose="020B0606030504020204" pitchFamily="34" charset="0"/>
                <a:ea typeface="Open Sans" panose="020B0606030504020204" pitchFamily="34" charset="0"/>
                <a:cs typeface="Open Sans" panose="020B0606030504020204" pitchFamily="34" charset="0"/>
              </a:rPr>
              <a:t> prompt.</a:t>
            </a:r>
          </a:p>
        </p:txBody>
      </p:sp>
    </p:spTree>
    <p:extLst>
      <p:ext uri="{BB962C8B-B14F-4D97-AF65-F5344CB8AC3E}">
        <p14:creationId xmlns:p14="http://schemas.microsoft.com/office/powerpoint/2010/main" val="3895147675"/>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7734490"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Hello World</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Hello World</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Typing forward slash and the word '</a:t>
            </a:r>
            <a:r>
              <a:rPr lang="en-US" sz="6400" b="1" dirty="0">
                <a:latin typeface="Open Sans" panose="020B0606030504020204" pitchFamily="34" charset="0"/>
                <a:ea typeface="Open Sans" panose="020B0606030504020204" pitchFamily="34" charset="0"/>
                <a:cs typeface="Open Sans" panose="020B0606030504020204" pitchFamily="34" charset="0"/>
              </a:rPr>
              <a:t>exit</a:t>
            </a:r>
            <a:r>
              <a:rPr lang="en-US" sz="6400" dirty="0">
                <a:latin typeface="Open Sans" panose="020B0606030504020204" pitchFamily="34" charset="0"/>
                <a:ea typeface="Open Sans" panose="020B0606030504020204" pitchFamily="34" charset="0"/>
                <a:cs typeface="Open Sans" panose="020B0606030504020204" pitchFamily="34" charset="0"/>
              </a:rPr>
              <a:t>', or forward slash with the shortcut text </a:t>
            </a:r>
            <a:r>
              <a:rPr lang="en-US" sz="6400" b="1" dirty="0">
                <a:latin typeface="Open Sans" panose="020B0606030504020204" pitchFamily="34" charset="0"/>
                <a:ea typeface="Open Sans" panose="020B0606030504020204" pitchFamily="34" charset="0"/>
                <a:cs typeface="Open Sans" panose="020B0606030504020204" pitchFamily="34" charset="0"/>
              </a:rPr>
              <a:t>ex</a:t>
            </a:r>
            <a:r>
              <a:rPr lang="en-US" sz="6400" dirty="0">
                <a:latin typeface="Open Sans" panose="020B0606030504020204" pitchFamily="34" charset="0"/>
                <a:ea typeface="Open Sans" panose="020B0606030504020204" pitchFamily="34" charset="0"/>
                <a:cs typeface="Open Sans" panose="020B0606030504020204" pitchFamily="34" charset="0"/>
              </a:rPr>
              <a:t>, will end your </a:t>
            </a:r>
            <a:r>
              <a:rPr lang="en-US" sz="6400" dirty="0" err="1">
                <a:latin typeface="Open Sans" panose="020B0606030504020204" pitchFamily="34" charset="0"/>
                <a:ea typeface="Open Sans" panose="020B0606030504020204" pitchFamily="34" charset="0"/>
                <a:cs typeface="Open Sans" panose="020B0606030504020204" pitchFamily="34" charset="0"/>
              </a:rPr>
              <a:t>JShell</a:t>
            </a:r>
            <a:r>
              <a:rPr lang="en-US" sz="6400" dirty="0">
                <a:latin typeface="Open Sans" panose="020B0606030504020204" pitchFamily="34" charset="0"/>
                <a:ea typeface="Open Sans" panose="020B0606030504020204" pitchFamily="34" charset="0"/>
                <a:cs typeface="Open Sans" panose="020B0606030504020204" pitchFamily="34" charset="0"/>
              </a:rPr>
              <a:t> session, if you get stuck.</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 example would be </a:t>
            </a:r>
            <a:r>
              <a:rPr lang="en-US" sz="6400" b="1" dirty="0">
                <a:latin typeface="Open Sans" panose="020B0606030504020204" pitchFamily="34" charset="0"/>
                <a:ea typeface="Open Sans" panose="020B0606030504020204" pitchFamily="34" charset="0"/>
                <a:cs typeface="Open Sans" panose="020B0606030504020204" pitchFamily="34" charset="0"/>
              </a:rPr>
              <a:t>/exit</a:t>
            </a:r>
            <a:r>
              <a:rPr lang="en-US" sz="6400" dirty="0">
                <a:latin typeface="Open Sans" panose="020B0606030504020204" pitchFamily="34" charset="0"/>
                <a:ea typeface="Open Sans" panose="020B0606030504020204" pitchFamily="34" charset="0"/>
                <a:cs typeface="Open Sans" panose="020B0606030504020204" pitchFamily="34" charset="0"/>
              </a:rPr>
              <a:t> or </a:t>
            </a:r>
            <a:r>
              <a:rPr lang="en-US" sz="6400" b="1" dirty="0">
                <a:latin typeface="Open Sans" panose="020B0606030504020204" pitchFamily="34" charset="0"/>
                <a:ea typeface="Open Sans" panose="020B0606030504020204" pitchFamily="34" charset="0"/>
                <a:cs typeface="Open Sans" panose="020B0606030504020204" pitchFamily="34" charset="0"/>
              </a:rPr>
              <a:t>/ex</a:t>
            </a:r>
            <a:r>
              <a:rPr lang="en-US" sz="6400" dirty="0">
                <a:latin typeface="Open Sans" panose="020B0606030504020204" pitchFamily="34" charset="0"/>
                <a:ea typeface="Open Sans" panose="020B0606030504020204" pitchFamily="34" charset="0"/>
                <a:cs typeface="Open Sans" panose="020B0606030504020204" pitchFamily="34" charset="0"/>
              </a:rPr>
              <a:t>.</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013585008"/>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
          <p:cNvSpPr/>
          <p:nvPr/>
        </p:nvSpPr>
        <p:spPr>
          <a:xfrm>
            <a:off x="952498" y="459786"/>
            <a:ext cx="6073779"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Variables</a:t>
            </a:r>
            <a:endParaRPr/>
          </a:p>
        </p:txBody>
      </p:sp>
      <p:cxnSp>
        <p:nvCxnSpPr>
          <p:cNvPr id="56" name="Google Shape;56;p1"/>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57" name="Google Shape;57;p1"/>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58" name="Google Shape;58;p1"/>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59" name="Google Shape;59;p1"/>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Variables</a:t>
            </a:r>
            <a:endParaRPr/>
          </a:p>
        </p:txBody>
      </p:sp>
      <p:sp>
        <p:nvSpPr>
          <p:cNvPr id="60" name="Google Shape;60;p1"/>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In the previous video, we saw how to write our first code in Java. It was pretty basic to say the least, printing out some text on the screen, but it was a good place to start.</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In this video, I want to talk about variables and keywords. </a:t>
            </a:r>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p:nvPr/>
        </p:nvSpPr>
        <p:spPr>
          <a:xfrm>
            <a:off x="952498" y="459786"/>
            <a:ext cx="6466514"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Keywords</a:t>
            </a:r>
            <a:endParaRPr/>
          </a:p>
        </p:txBody>
      </p:sp>
      <p:cxnSp>
        <p:nvCxnSpPr>
          <p:cNvPr id="66" name="Google Shape;66;p2"/>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67" name="Google Shape;67;p2"/>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68" name="Google Shape;68;p2"/>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69" name="Google Shape;69;p2"/>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Variables</a:t>
            </a:r>
            <a:endParaRPr/>
          </a:p>
        </p:txBody>
      </p:sp>
      <p:sp>
        <p:nvSpPr>
          <p:cNvPr id="70" name="Google Shape;70;p2"/>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A keyword is </a:t>
            </a:r>
            <a:r>
              <a:rPr lang="en-US" sz="6400" b="1" i="0" u="none" strike="noStrike" cap="none">
                <a:solidFill>
                  <a:srgbClr val="000000"/>
                </a:solidFill>
                <a:latin typeface="Open Sans"/>
                <a:ea typeface="Open Sans"/>
                <a:cs typeface="Open Sans"/>
                <a:sym typeface="Open Sans"/>
              </a:rPr>
              <a:t>any one of a number of reserved words, that have a predefined meaning in the Java language</a:t>
            </a:r>
            <a:r>
              <a:rPr lang="en-US" sz="6400" b="0" i="0" u="none" strike="noStrike" cap="none">
                <a:solidFill>
                  <a:srgbClr val="000000"/>
                </a:solidFill>
                <a:latin typeface="Open Sans"/>
                <a:ea typeface="Open Sans"/>
                <a:cs typeface="Open Sans"/>
                <a:sym typeface="Open Sans"/>
              </a:rPr>
              <a:t>.</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In Java syntax, all code is case-sensitive, and this includes keywords. As we'll </a:t>
            </a:r>
            <a:r>
              <a:rPr lang="en-US" sz="6400">
                <a:latin typeface="Open Sans"/>
                <a:ea typeface="Open Sans"/>
                <a:cs typeface="Open Sans"/>
                <a:sym typeface="Open Sans"/>
              </a:rPr>
              <a:t>soon see</a:t>
            </a:r>
            <a:r>
              <a:rPr lang="en-US" sz="6400" b="0" i="0" u="none" strike="noStrike" cap="none">
                <a:solidFill>
                  <a:srgbClr val="000000"/>
                </a:solidFill>
                <a:latin typeface="Open Sans"/>
                <a:ea typeface="Open Sans"/>
                <a:cs typeface="Open Sans"/>
                <a:sym typeface="Open Sans"/>
              </a:rPr>
              <a:t>, an </a:t>
            </a:r>
            <a:r>
              <a:rPr lang="en-US" sz="6400" b="1" i="0" u="none" strike="noStrike" cap="none">
                <a:solidFill>
                  <a:srgbClr val="000000"/>
                </a:solidFill>
                <a:latin typeface="Open Sans"/>
                <a:ea typeface="Open Sans"/>
                <a:cs typeface="Open Sans"/>
                <a:sym typeface="Open Sans"/>
              </a:rPr>
              <a:t>int</a:t>
            </a:r>
            <a:r>
              <a:rPr lang="en-US" sz="6400" b="0" i="0" u="none" strike="noStrike" cap="none">
                <a:solidFill>
                  <a:srgbClr val="000000"/>
                </a:solidFill>
                <a:latin typeface="Open Sans"/>
                <a:ea typeface="Open Sans"/>
                <a:cs typeface="Open Sans"/>
                <a:sym typeface="Open Sans"/>
              </a:rPr>
              <a:t>, all in lowercase, is not the same as </a:t>
            </a:r>
            <a:r>
              <a:rPr lang="en-US" sz="6400" b="1" i="0" u="none" strike="noStrike" cap="none">
                <a:solidFill>
                  <a:srgbClr val="000000"/>
                </a:solidFill>
                <a:latin typeface="Open Sans"/>
                <a:ea typeface="Open Sans"/>
                <a:cs typeface="Open Sans"/>
                <a:sym typeface="Open Sans"/>
              </a:rPr>
              <a:t>Int</a:t>
            </a:r>
            <a:r>
              <a:rPr lang="en-US" sz="6400" b="0" i="0" u="none" strike="noStrike" cap="none">
                <a:solidFill>
                  <a:srgbClr val="000000"/>
                </a:solidFill>
                <a:latin typeface="Open Sans"/>
                <a:ea typeface="Open Sans"/>
                <a:cs typeface="Open Sans"/>
                <a:sym typeface="Open Sans"/>
              </a:rPr>
              <a:t>, with a capital I. Here, an </a:t>
            </a:r>
            <a:r>
              <a:rPr lang="en-US" sz="6400" b="1" i="0" u="none" strike="noStrike" cap="none">
                <a:solidFill>
                  <a:srgbClr val="000000"/>
                </a:solidFill>
                <a:latin typeface="Open Sans"/>
                <a:ea typeface="Open Sans"/>
                <a:cs typeface="Open Sans"/>
                <a:sym typeface="Open Sans"/>
              </a:rPr>
              <a:t>int</a:t>
            </a:r>
            <a:r>
              <a:rPr lang="en-US" sz="6400" b="0" i="0" u="none" strike="noStrike" cap="none">
                <a:solidFill>
                  <a:srgbClr val="000000"/>
                </a:solidFill>
                <a:latin typeface="Open Sans"/>
                <a:ea typeface="Open Sans"/>
                <a:cs typeface="Open Sans"/>
                <a:sym typeface="Open Sans"/>
              </a:rPr>
              <a:t>, (all in lowercase) is a keyword in Java.</a:t>
            </a:r>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p:nvPr/>
        </p:nvSpPr>
        <p:spPr>
          <a:xfrm>
            <a:off x="952498" y="459786"/>
            <a:ext cx="6073779"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Variables</a:t>
            </a:r>
            <a:endParaRPr/>
          </a:p>
        </p:txBody>
      </p:sp>
      <p:cxnSp>
        <p:nvCxnSpPr>
          <p:cNvPr id="76" name="Google Shape;76;p3"/>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77" name="Google Shape;77;p3"/>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78" name="Google Shape;78;p3"/>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79" name="Google Shape;79;p3"/>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dirty="0">
                <a:solidFill>
                  <a:srgbClr val="000000"/>
                </a:solidFill>
                <a:latin typeface="Open Sans"/>
                <a:ea typeface="Open Sans"/>
                <a:cs typeface="Open Sans"/>
                <a:sym typeface="Open Sans"/>
              </a:rPr>
              <a:t>COMPLETE JAVA MASTERCLASS</a:t>
            </a:r>
            <a:endParaRPr dirty="0"/>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dirty="0">
                <a:solidFill>
                  <a:srgbClr val="000000"/>
                </a:solidFill>
                <a:latin typeface="Open Sans"/>
                <a:ea typeface="Open Sans"/>
                <a:cs typeface="Open Sans"/>
                <a:sym typeface="Open Sans"/>
              </a:rPr>
              <a:t>Variables</a:t>
            </a:r>
            <a:endParaRPr dirty="0"/>
          </a:p>
        </p:txBody>
      </p:sp>
      <p:sp>
        <p:nvSpPr>
          <p:cNvPr id="80" name="Google Shape;80;p3"/>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So what are variables?</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Well, </a:t>
            </a:r>
            <a:r>
              <a:rPr lang="en-US" sz="6400" b="1" i="0" u="none" strike="noStrike" cap="none">
                <a:solidFill>
                  <a:srgbClr val="000000"/>
                </a:solidFill>
                <a:latin typeface="Open Sans"/>
                <a:ea typeface="Open Sans"/>
                <a:cs typeface="Open Sans"/>
                <a:sym typeface="Open Sans"/>
              </a:rPr>
              <a:t>variables are a way to store information in our computer</a:t>
            </a:r>
            <a:r>
              <a:rPr lang="en-US" sz="6400" b="0" i="0" u="none" strike="noStrike" cap="none">
                <a:solidFill>
                  <a:srgbClr val="000000"/>
                </a:solidFill>
                <a:latin typeface="Open Sans"/>
                <a:ea typeface="Open Sans"/>
                <a:cs typeface="Open Sans"/>
                <a:sym typeface="Open Sans"/>
              </a:rPr>
              <a:t>.</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Variables that we define in a program, can be </a:t>
            </a:r>
            <a:r>
              <a:rPr lang="en-US" sz="6400" b="1" i="0" u="none" strike="noStrike" cap="none">
                <a:solidFill>
                  <a:srgbClr val="000000"/>
                </a:solidFill>
                <a:latin typeface="Open Sans"/>
                <a:ea typeface="Open Sans"/>
                <a:cs typeface="Open Sans"/>
                <a:sym typeface="Open Sans"/>
              </a:rPr>
              <a:t>accessed by a name we give them</a:t>
            </a:r>
            <a:r>
              <a:rPr lang="en-US" sz="6400" b="0" i="0" u="none" strike="noStrike" cap="none">
                <a:solidFill>
                  <a:srgbClr val="000000"/>
                </a:solidFill>
                <a:latin typeface="Open Sans"/>
                <a:ea typeface="Open Sans"/>
                <a:cs typeface="Open Sans"/>
                <a:sym typeface="Open Sans"/>
              </a:rPr>
              <a:t>, and the computer does the hard work, of figuring out where they get stored, in the </a:t>
            </a:r>
            <a:r>
              <a:rPr lang="en-US" sz="6400">
                <a:latin typeface="Open Sans"/>
                <a:ea typeface="Open Sans"/>
                <a:cs typeface="Open Sans"/>
                <a:sym typeface="Open Sans"/>
              </a:rPr>
              <a:t>computer's</a:t>
            </a:r>
            <a:r>
              <a:rPr lang="en-US" sz="6400" b="0" i="0" u="none" strike="noStrike" cap="none">
                <a:solidFill>
                  <a:srgbClr val="000000"/>
                </a:solidFill>
                <a:latin typeface="Open Sans"/>
                <a:ea typeface="Open Sans"/>
                <a:cs typeface="Open Sans"/>
                <a:sym typeface="Open Sans"/>
              </a:rPr>
              <a:t> </a:t>
            </a:r>
            <a:r>
              <a:rPr lang="en-US" sz="6400" b="1" i="0" u="none" strike="noStrike" cap="none">
                <a:solidFill>
                  <a:srgbClr val="000000"/>
                </a:solidFill>
                <a:latin typeface="Open Sans"/>
                <a:ea typeface="Open Sans"/>
                <a:cs typeface="Open Sans"/>
                <a:sym typeface="Open Sans"/>
              </a:rPr>
              <a:t>random access memory</a:t>
            </a:r>
            <a:r>
              <a:rPr lang="en-US" sz="6400" b="0" i="0" u="none" strike="noStrike" cap="none">
                <a:solidFill>
                  <a:srgbClr val="000000"/>
                </a:solidFill>
                <a:latin typeface="Open Sans"/>
                <a:ea typeface="Open Sans"/>
                <a:cs typeface="Open Sans"/>
                <a:sym typeface="Open Sans"/>
              </a:rPr>
              <a:t>, or </a:t>
            </a:r>
            <a:r>
              <a:rPr lang="en-US" sz="6400">
                <a:latin typeface="Open Sans"/>
                <a:ea typeface="Open Sans"/>
                <a:cs typeface="Open Sans"/>
                <a:sym typeface="Open Sans"/>
              </a:rPr>
              <a:t>RAM</a:t>
            </a:r>
            <a:r>
              <a:rPr lang="en-US" sz="6400" b="0" i="0" u="none" strike="noStrike" cap="none">
                <a:solidFill>
                  <a:srgbClr val="000000"/>
                </a:solidFill>
                <a:latin typeface="Open Sans"/>
                <a:ea typeface="Open Sans"/>
                <a:cs typeface="Open Sans"/>
                <a:sym typeface="Open Sans"/>
              </a:rPr>
              <a:t>.</a:t>
            </a:r>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There are lots of different types of data, that we can define for our variables, some of which I've shown you in the keyword list previously.</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Collectively, these are known as data types.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As you may have guessed, some data types are keywords in Java.  </a:t>
            </a:r>
            <a:r>
              <a:rPr lang="en-US" sz="6400">
                <a:latin typeface="Open Sans" panose="020B0606030504020204" pitchFamily="34" charset="0"/>
                <a:ea typeface="Open Sans" panose="020B0606030504020204" pitchFamily="34" charset="0"/>
                <a:cs typeface="Open Sans" panose="020B0606030504020204" pitchFamily="34" charset="0"/>
              </a:rPr>
              <a:t>When we get to the Object Oriented features of Java, you will see that we have a lot of flexibility for creating our own data types, but in the next couple of videos, we'll explore primitive data types, which are built into the Java language.</a:t>
            </a: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Google Shape;89;p4">
            <a:extLst>
              <a:ext uri="{FF2B5EF4-FFF2-40B4-BE49-F238E27FC236}">
                <a16:creationId xmlns:a16="http://schemas.microsoft.com/office/drawing/2014/main" id="{B9DC5404-24EE-43C7-139A-FB56A61A3D3E}"/>
              </a:ext>
            </a:extLst>
          </p:cNvPr>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Variables</a:t>
            </a:r>
            <a:endParaRPr/>
          </a:p>
        </p:txBody>
      </p:sp>
      <p:sp>
        <p:nvSpPr>
          <p:cNvPr id="12" name="Google Shape;85;p4">
            <a:extLst>
              <a:ext uri="{FF2B5EF4-FFF2-40B4-BE49-F238E27FC236}">
                <a16:creationId xmlns:a16="http://schemas.microsoft.com/office/drawing/2014/main" id="{164AE763-0C3B-5056-B300-04DA18F738F6}"/>
              </a:ext>
            </a:extLst>
          </p:cNvPr>
          <p:cNvSpPr/>
          <p:nvPr/>
        </p:nvSpPr>
        <p:spPr>
          <a:xfrm>
            <a:off x="952498" y="459786"/>
            <a:ext cx="14635417"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dirty="0">
                <a:solidFill>
                  <a:srgbClr val="000000"/>
                </a:solidFill>
                <a:latin typeface="Open Sans"/>
                <a:ea typeface="Open Sans"/>
                <a:cs typeface="Open Sans"/>
                <a:sym typeface="Open Sans"/>
              </a:rPr>
              <a:t>Data type</a:t>
            </a:r>
            <a:endParaRPr dirty="0"/>
          </a:p>
        </p:txBody>
      </p:sp>
    </p:spTree>
    <p:extLst>
      <p:ext uri="{BB962C8B-B14F-4D97-AF65-F5344CB8AC3E}">
        <p14:creationId xmlns:p14="http://schemas.microsoft.com/office/powerpoint/2010/main" val="148311680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4"/>
          <p:cNvSpPr/>
          <p:nvPr/>
        </p:nvSpPr>
        <p:spPr>
          <a:xfrm>
            <a:off x="952498" y="459786"/>
            <a:ext cx="14635417"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dirty="0">
                <a:solidFill>
                  <a:srgbClr val="000000"/>
                </a:solidFill>
                <a:latin typeface="Open Sans"/>
                <a:ea typeface="Open Sans"/>
                <a:cs typeface="Open Sans"/>
                <a:sym typeface="Open Sans"/>
              </a:rPr>
              <a:t>Declaration Statement</a:t>
            </a:r>
            <a:endParaRPr dirty="0"/>
          </a:p>
        </p:txBody>
      </p:sp>
      <p:cxnSp>
        <p:nvCxnSpPr>
          <p:cNvPr id="86" name="Google Shape;86;p4"/>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87" name="Google Shape;87;p4"/>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88" name="Google Shape;88;p4"/>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89" name="Google Shape;89;p4"/>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Variables</a:t>
            </a:r>
            <a:endParaRPr/>
          </a:p>
        </p:txBody>
      </p:sp>
      <p:sp>
        <p:nvSpPr>
          <p:cNvPr id="90" name="Google Shape;90;p4"/>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A declaration statement is used to define a variable by indicating the data type, and the name, then optionally to set the variable to a specific value.</a:t>
            </a:r>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5"/>
          <p:cNvSpPr/>
          <p:nvPr/>
        </p:nvSpPr>
        <p:spPr>
          <a:xfrm>
            <a:off x="952498" y="459786"/>
            <a:ext cx="7861126"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Expressions</a:t>
            </a:r>
            <a:endParaRPr/>
          </a:p>
        </p:txBody>
      </p:sp>
      <p:cxnSp>
        <p:nvCxnSpPr>
          <p:cNvPr id="96" name="Google Shape;96;p5"/>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97" name="Google Shape;97;p5"/>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98" name="Google Shape;98;p5"/>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99" name="Google Shape;99;p5"/>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Variables</a:t>
            </a:r>
            <a:endParaRPr/>
          </a:p>
        </p:txBody>
      </p:sp>
      <p:sp>
        <p:nvSpPr>
          <p:cNvPr id="100" name="Google Shape;100;p5"/>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So what is an expression?</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An expression is a coding </a:t>
            </a:r>
            <a:r>
              <a:rPr lang="en-US" sz="6400" b="1" i="0" u="none" strike="noStrike" cap="none">
                <a:solidFill>
                  <a:srgbClr val="000000"/>
                </a:solidFill>
                <a:latin typeface="Open Sans"/>
                <a:ea typeface="Open Sans"/>
                <a:cs typeface="Open Sans"/>
                <a:sym typeface="Open Sans"/>
              </a:rPr>
              <a:t>construct, that evaluates to a single value</a:t>
            </a:r>
            <a:r>
              <a:rPr lang="en-US" sz="6400" b="0" i="0" u="none" strike="noStrike" cap="none">
                <a:solidFill>
                  <a:srgbClr val="000000"/>
                </a:solidFill>
                <a:latin typeface="Open Sans"/>
                <a:ea typeface="Open Sans"/>
                <a:cs typeface="Open Sans"/>
                <a:sym typeface="Open Sans"/>
              </a:rPr>
              <a:t>.</a:t>
            </a:r>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6"/>
          <p:cNvSpPr/>
          <p:nvPr/>
        </p:nvSpPr>
        <p:spPr>
          <a:xfrm>
            <a:off x="952498" y="459786"/>
            <a:ext cx="13282482"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Variable Challenge 1</a:t>
            </a:r>
            <a:endParaRPr/>
          </a:p>
        </p:txBody>
      </p:sp>
      <p:cxnSp>
        <p:nvCxnSpPr>
          <p:cNvPr id="106" name="Google Shape;106;p6"/>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07" name="Google Shape;107;p6"/>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08" name="Google Shape;108;p6"/>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09" name="Google Shape;109;p6"/>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Variables</a:t>
            </a:r>
            <a:endParaRPr/>
          </a:p>
        </p:txBody>
      </p:sp>
      <p:sp>
        <p:nvSpPr>
          <p:cNvPr id="110" name="Google Shape;110;p6"/>
          <p:cNvSpPr/>
          <p:nvPr/>
        </p:nvSpPr>
        <p:spPr>
          <a:xfrm>
            <a:off x="952501" y="11364688"/>
            <a:ext cx="34782670" cy="652848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a:latin typeface="Open Sans"/>
                <a:ea typeface="Open Sans"/>
                <a:cs typeface="Open Sans"/>
                <a:sym typeface="Open Sans"/>
              </a:rPr>
              <a:t>Your</a:t>
            </a:r>
            <a:r>
              <a:rPr lang="en-US" sz="6400" b="0" i="0" u="none" strike="noStrike" cap="none">
                <a:solidFill>
                  <a:srgbClr val="000000"/>
                </a:solidFill>
                <a:latin typeface="Open Sans"/>
                <a:ea typeface="Open Sans"/>
                <a:cs typeface="Open Sans"/>
                <a:sym typeface="Open Sans"/>
              </a:rPr>
              <a:t> challenge is to look at creating a new System.out.print below the declaration for </a:t>
            </a:r>
            <a:r>
              <a:rPr lang="en-US" sz="6400" b="1" i="0" u="none" strike="noStrike" cap="none">
                <a:solidFill>
                  <a:srgbClr val="000000"/>
                </a:solidFill>
                <a:latin typeface="Open Sans"/>
                <a:ea typeface="Open Sans"/>
                <a:cs typeface="Open Sans"/>
                <a:sym typeface="Open Sans"/>
              </a:rPr>
              <a:t>myFirstNumber</a:t>
            </a:r>
            <a:r>
              <a:rPr lang="en-US" sz="6400" b="0" i="0" u="none" strike="noStrike" cap="none">
                <a:solidFill>
                  <a:srgbClr val="000000"/>
                </a:solidFill>
                <a:latin typeface="Open Sans"/>
                <a:ea typeface="Open Sans"/>
                <a:cs typeface="Open Sans"/>
                <a:sym typeface="Open Sans"/>
              </a:rPr>
              <a:t>, and to see if you can figure out how to print out the value</a:t>
            </a:r>
            <a:r>
              <a:rPr lang="en-US" sz="6400">
                <a:latin typeface="Open Sans"/>
                <a:ea typeface="Open Sans"/>
                <a:cs typeface="Open Sans"/>
                <a:sym typeface="Open Sans"/>
              </a:rPr>
              <a:t> </a:t>
            </a:r>
            <a:r>
              <a:rPr lang="en-US" sz="6400" b="0" i="0" u="none" strike="noStrike" cap="none">
                <a:solidFill>
                  <a:srgbClr val="000000"/>
                </a:solidFill>
                <a:latin typeface="Open Sans"/>
                <a:ea typeface="Open Sans"/>
                <a:cs typeface="Open Sans"/>
                <a:sym typeface="Open Sans"/>
              </a:rPr>
              <a:t>of the </a:t>
            </a:r>
            <a:r>
              <a:rPr lang="en-US" sz="6400" b="1" i="0" u="none" strike="noStrike" cap="none">
                <a:solidFill>
                  <a:srgbClr val="000000"/>
                </a:solidFill>
                <a:latin typeface="Open Sans"/>
                <a:ea typeface="Open Sans"/>
                <a:cs typeface="Open Sans"/>
                <a:sym typeface="Open Sans"/>
              </a:rPr>
              <a:t>myFirstNumber</a:t>
            </a:r>
            <a:r>
              <a:rPr lang="en-US" sz="6400" b="0" i="0" u="none" strike="noStrike" cap="none">
                <a:solidFill>
                  <a:srgbClr val="000000"/>
                </a:solidFill>
                <a:latin typeface="Open Sans"/>
                <a:ea typeface="Open Sans"/>
                <a:cs typeface="Open Sans"/>
                <a:sym typeface="Open Sans"/>
              </a:rPr>
              <a:t> variable.</a:t>
            </a:r>
            <a:endParaRPr/>
          </a:p>
        </p:txBody>
      </p:sp>
      <p:pic>
        <p:nvPicPr>
          <p:cNvPr id="111" name="Google Shape;111;p6"/>
          <p:cNvPicPr preferRelativeResize="0"/>
          <p:nvPr/>
        </p:nvPicPr>
        <p:blipFill rotWithShape="1">
          <a:blip r:embed="rId4">
            <a:alphaModFix/>
          </a:blip>
          <a:srcRect/>
          <a:stretch/>
        </p:blipFill>
        <p:spPr>
          <a:xfrm>
            <a:off x="11438763" y="2910918"/>
            <a:ext cx="14144434" cy="1520411"/>
          </a:xfrm>
          <a:prstGeom prst="rect">
            <a:avLst/>
          </a:prstGeom>
          <a:noFill/>
          <a:ln>
            <a:noFill/>
          </a:ln>
        </p:spPr>
      </p:pic>
      <p:pic>
        <p:nvPicPr>
          <p:cNvPr id="112" name="Google Shape;112;p6"/>
          <p:cNvPicPr preferRelativeResize="0"/>
          <p:nvPr/>
        </p:nvPicPr>
        <p:blipFill rotWithShape="1">
          <a:blip r:embed="rId5">
            <a:alphaModFix/>
          </a:blip>
          <a:srcRect/>
          <a:stretch/>
        </p:blipFill>
        <p:spPr>
          <a:xfrm>
            <a:off x="11438763" y="5100775"/>
            <a:ext cx="13698474" cy="5832899"/>
          </a:xfrm>
          <a:prstGeom prst="rect">
            <a:avLst/>
          </a:prstGeom>
          <a:noFill/>
          <a:ln>
            <a:noFill/>
          </a:ln>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Here's your challenge – Change the value of our existing variable from ten to one thousand, and print the new value out using the </a:t>
            </a:r>
            <a:r>
              <a:rPr lang="en-US" sz="6400" dirty="0" err="1">
                <a:latin typeface="Open Sans" panose="020B0606030504020204" pitchFamily="34" charset="0"/>
                <a:ea typeface="Open Sans" panose="020B0606030504020204" pitchFamily="34" charset="0"/>
                <a:cs typeface="Open Sans" panose="020B0606030504020204" pitchFamily="34" charset="0"/>
              </a:rPr>
              <a:t>System.out.print</a:t>
            </a:r>
            <a:r>
              <a:rPr lang="en-US" sz="6400" dirty="0">
                <a:latin typeface="Open Sans" panose="020B0606030504020204" pitchFamily="34" charset="0"/>
                <a:ea typeface="Open Sans" panose="020B0606030504020204" pitchFamily="34" charset="0"/>
                <a:cs typeface="Open Sans" panose="020B0606030504020204" pitchFamily="34" charset="0"/>
              </a:rPr>
              <a:t> method as we've done previously.</a:t>
            </a:r>
          </a:p>
        </p:txBody>
      </p:sp>
      <p:sp>
        <p:nvSpPr>
          <p:cNvPr id="11" name="Google Shape;89;p4">
            <a:extLst>
              <a:ext uri="{FF2B5EF4-FFF2-40B4-BE49-F238E27FC236}">
                <a16:creationId xmlns:a16="http://schemas.microsoft.com/office/drawing/2014/main" id="{B9DC5404-24EE-43C7-139A-FB56A61A3D3E}"/>
              </a:ext>
            </a:extLst>
          </p:cNvPr>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Variables</a:t>
            </a:r>
            <a:endParaRPr/>
          </a:p>
        </p:txBody>
      </p:sp>
      <p:sp>
        <p:nvSpPr>
          <p:cNvPr id="12" name="Google Shape;85;p4">
            <a:extLst>
              <a:ext uri="{FF2B5EF4-FFF2-40B4-BE49-F238E27FC236}">
                <a16:creationId xmlns:a16="http://schemas.microsoft.com/office/drawing/2014/main" id="{164AE763-0C3B-5056-B300-04DA18F738F6}"/>
              </a:ext>
            </a:extLst>
          </p:cNvPr>
          <p:cNvSpPr/>
          <p:nvPr/>
        </p:nvSpPr>
        <p:spPr>
          <a:xfrm>
            <a:off x="952498" y="459786"/>
            <a:ext cx="34782668"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dirty="0">
                <a:solidFill>
                  <a:srgbClr val="000000"/>
                </a:solidFill>
                <a:latin typeface="Open Sans"/>
                <a:ea typeface="Open Sans"/>
                <a:cs typeface="Open Sans"/>
                <a:sym typeface="Open Sans"/>
              </a:rPr>
              <a:t>Variable Challenge 2</a:t>
            </a:r>
            <a:endParaRPr dirty="0"/>
          </a:p>
        </p:txBody>
      </p:sp>
    </p:spTree>
    <p:extLst>
      <p:ext uri="{BB962C8B-B14F-4D97-AF65-F5344CB8AC3E}">
        <p14:creationId xmlns:p14="http://schemas.microsoft.com/office/powerpoint/2010/main" val="409261937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7"/>
          <p:cNvSpPr/>
          <p:nvPr/>
        </p:nvSpPr>
        <p:spPr>
          <a:xfrm>
            <a:off x="952498" y="459786"/>
            <a:ext cx="19242447"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Variable Declarations in JShell</a:t>
            </a:r>
            <a:endParaRPr sz="10800" b="0" i="0" u="none" strike="noStrike" cap="none">
              <a:solidFill>
                <a:srgbClr val="000000"/>
              </a:solidFill>
              <a:latin typeface="Open Sans"/>
              <a:ea typeface="Open Sans"/>
              <a:cs typeface="Open Sans"/>
              <a:sym typeface="Open Sans"/>
            </a:endParaRPr>
          </a:p>
        </p:txBody>
      </p:sp>
      <p:cxnSp>
        <p:nvCxnSpPr>
          <p:cNvPr id="118" name="Google Shape;118;p7"/>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19" name="Google Shape;119;p7"/>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20" name="Google Shape;120;p7"/>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21" name="Google Shape;121;p7"/>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Variables</a:t>
            </a:r>
            <a:endParaRPr/>
          </a:p>
        </p:txBody>
      </p:sp>
      <p:sp>
        <p:nvSpPr>
          <p:cNvPr id="122" name="Google Shape;122;p7"/>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By declaring a variable again, we are effectively re-declaring a variable, and in normal Java programming, that would not be allowed, and would throw an error.</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Due to its interactive nature, JShell </a:t>
            </a:r>
            <a:r>
              <a:rPr lang="en-US" sz="6400">
                <a:latin typeface="Open Sans"/>
                <a:ea typeface="Open Sans"/>
                <a:cs typeface="Open Sans"/>
                <a:sym typeface="Open Sans"/>
              </a:rPr>
              <a:t>“</a:t>
            </a:r>
            <a:r>
              <a:rPr lang="en-US" sz="6400" b="0" i="0" u="none" strike="noStrike" cap="none">
                <a:solidFill>
                  <a:srgbClr val="000000"/>
                </a:solidFill>
                <a:latin typeface="Open Sans"/>
                <a:ea typeface="Open Sans"/>
                <a:cs typeface="Open Sans"/>
                <a:sym typeface="Open Sans"/>
              </a:rPr>
              <a:t>holds our hand</a:t>
            </a:r>
            <a:r>
              <a:rPr lang="en-US" sz="6400">
                <a:latin typeface="Open Sans"/>
                <a:ea typeface="Open Sans"/>
                <a:cs typeface="Open Sans"/>
                <a:sym typeface="Open Sans"/>
              </a:rPr>
              <a:t>”</a:t>
            </a:r>
            <a:r>
              <a:rPr lang="en-US" sz="6400" b="0" i="0" u="none" strike="noStrike" cap="none">
                <a:solidFill>
                  <a:srgbClr val="000000"/>
                </a:solidFill>
                <a:latin typeface="Open Sans"/>
                <a:ea typeface="Open Sans"/>
                <a:cs typeface="Open Sans"/>
                <a:sym typeface="Open Sans"/>
              </a:rPr>
              <a:t>, and allows the redeclaration to occur without throwing an error.</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For now, just follow along, knowing that re-declaring a variable for a second, or subsequent time, is not allowed, and later in the course, when we switch to a full editor, you'll see what happens when we try and do that.</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Note that we can assign a value to a variable multiple times in Java, but it</a:t>
            </a:r>
            <a:r>
              <a:rPr lang="en-US" sz="6400">
                <a:latin typeface="Open Sans"/>
                <a:ea typeface="Open Sans"/>
                <a:cs typeface="Open Sans"/>
                <a:sym typeface="Open Sans"/>
              </a:rPr>
              <a:t>’</a:t>
            </a:r>
            <a:r>
              <a:rPr lang="en-US" sz="6400" b="0" i="0" u="none" strike="noStrike" cap="none">
                <a:solidFill>
                  <a:srgbClr val="000000"/>
                </a:solidFill>
                <a:latin typeface="Open Sans"/>
                <a:ea typeface="Open Sans"/>
                <a:cs typeface="Open Sans"/>
                <a:sym typeface="Open Sans"/>
              </a:rPr>
              <a:t>s the declaration (which includes the data type) that cannot normally be done a second time for the same variable.</a:t>
            </a:r>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8"/>
          <p:cNvSpPr/>
          <p:nvPr/>
        </p:nvSpPr>
        <p:spPr>
          <a:xfrm>
            <a:off x="952498" y="459786"/>
            <a:ext cx="6747040"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Operators</a:t>
            </a:r>
            <a:endParaRPr/>
          </a:p>
        </p:txBody>
      </p:sp>
      <p:cxnSp>
        <p:nvCxnSpPr>
          <p:cNvPr id="128" name="Google Shape;128;p8"/>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29" name="Google Shape;129;p8"/>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30" name="Google Shape;130;p8"/>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31" name="Google Shape;131;p8"/>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Variables</a:t>
            </a:r>
            <a:endParaRPr/>
          </a:p>
        </p:txBody>
      </p:sp>
      <p:sp>
        <p:nvSpPr>
          <p:cNvPr id="132" name="Google Shape;132;p8"/>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Java operators, or just operators, perform an operation (hence the term) on a variable or value.</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Addition, Subtraction, Division, and Multiplication are four common ones that I feel sure you're familiar with, but there are lots more operators </a:t>
            </a:r>
            <a:r>
              <a:rPr lang="en-US" sz="6400">
                <a:latin typeface="Open Sans"/>
                <a:ea typeface="Open Sans"/>
                <a:cs typeface="Open Sans"/>
                <a:sym typeface="Open Sans"/>
              </a:rPr>
              <a:t>you will work with as </a:t>
            </a:r>
            <a:r>
              <a:rPr lang="en-US" sz="6400" b="0" i="0" u="none" strike="noStrike" cap="none">
                <a:solidFill>
                  <a:srgbClr val="000000"/>
                </a:solidFill>
                <a:latin typeface="Open Sans"/>
                <a:ea typeface="Open Sans"/>
                <a:cs typeface="Open Sans"/>
                <a:sym typeface="Open Sans"/>
              </a:rPr>
              <a:t>we go through the course.</a:t>
            </a:r>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
          <p:cNvSpPr/>
          <p:nvPr/>
        </p:nvSpPr>
        <p:spPr>
          <a:xfrm>
            <a:off x="952498" y="459786"/>
            <a:ext cx="18913832"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Starting out with Expressions</a:t>
            </a:r>
            <a:endParaRPr/>
          </a:p>
        </p:txBody>
      </p:sp>
      <p:cxnSp>
        <p:nvCxnSpPr>
          <p:cNvPr id="56" name="Google Shape;56;p1"/>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57" name="Google Shape;57;p1"/>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58" name="Google Shape;58;p1"/>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59" name="Google Shape;59;p1"/>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Starting out with Expressions</a:t>
            </a:r>
            <a:endParaRPr/>
          </a:p>
        </p:txBody>
      </p:sp>
      <p:sp>
        <p:nvSpPr>
          <p:cNvPr id="60" name="Google Shape;60;p1"/>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In this video, we'll be continuing what we were working on in the last video, but here, we'll be using variables in expressions.</a:t>
            </a:r>
            <a:endParaRPr dirty="0"/>
          </a:p>
          <a:p>
            <a:pPr marL="0" marR="0" lvl="0" indent="0" algn="l" rtl="0">
              <a:lnSpc>
                <a:spcPct val="100000"/>
              </a:lnSpc>
              <a:spcBef>
                <a:spcPts val="5022"/>
              </a:spcBef>
              <a:spcAft>
                <a:spcPts val="0"/>
              </a:spcAft>
              <a:buClr>
                <a:srgbClr val="000000"/>
              </a:buClr>
              <a:buSzPts val="6400"/>
              <a:buFont typeface="Open Sans"/>
              <a:buNone/>
            </a:pPr>
            <a:r>
              <a:rPr lang="en-US" sz="6400" b="1" i="0" u="none" strike="noStrike" cap="none" dirty="0">
                <a:solidFill>
                  <a:srgbClr val="000000"/>
                </a:solidFill>
                <a:latin typeface="Open Sans"/>
                <a:ea typeface="Open Sans"/>
                <a:cs typeface="Open Sans"/>
                <a:sym typeface="Open Sans"/>
              </a:rPr>
              <a:t>Remember the expression is the code segment that is on the right side of the equals </a:t>
            </a:r>
            <a:r>
              <a:rPr lang="en-US" sz="6400" b="1" i="0" u="none" strike="noStrike" cap="none">
                <a:solidFill>
                  <a:srgbClr val="000000"/>
                </a:solidFill>
                <a:latin typeface="Open Sans"/>
                <a:ea typeface="Open Sans"/>
                <a:cs typeface="Open Sans"/>
                <a:sym typeface="Open Sans"/>
              </a:rPr>
              <a:t>sign in an assignment or declaration statement.</a:t>
            </a:r>
            <a:endParaRPr b="1"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This code can be a simple literal value, like the </a:t>
            </a:r>
            <a:r>
              <a:rPr lang="en-US" sz="6400" b="1" i="0" u="none" strike="noStrike" cap="none" dirty="0">
                <a:solidFill>
                  <a:srgbClr val="000000"/>
                </a:solidFill>
                <a:latin typeface="Open Sans"/>
                <a:ea typeface="Open Sans"/>
                <a:cs typeface="Open Sans"/>
                <a:sym typeface="Open Sans"/>
              </a:rPr>
              <a:t>number 5</a:t>
            </a:r>
            <a:r>
              <a:rPr lang="en-US" sz="6400" b="0" i="0" u="none" strike="noStrike" cap="none" dirty="0">
                <a:solidFill>
                  <a:srgbClr val="000000"/>
                </a:solidFill>
                <a:latin typeface="Open Sans"/>
                <a:ea typeface="Open Sans"/>
                <a:cs typeface="Open Sans"/>
                <a:sym typeface="Open Sans"/>
              </a:rPr>
              <a:t>, or it can be a complex mathematical equation using multiple literal values and mathematical operators.</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In this video, we'll talk about how to use variables to replace literal values.</a:t>
            </a:r>
            <a:endParaRPr dirty="0"/>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p:nvPr/>
        </p:nvSpPr>
        <p:spPr>
          <a:xfrm>
            <a:off x="952498" y="459786"/>
            <a:ext cx="4687181"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Review</a:t>
            </a:r>
            <a:endParaRPr/>
          </a:p>
        </p:txBody>
      </p:sp>
      <p:cxnSp>
        <p:nvCxnSpPr>
          <p:cNvPr id="66" name="Google Shape;66;p2"/>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67" name="Google Shape;67;p2"/>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68" name="Google Shape;68;p2"/>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69" name="Google Shape;69;p2"/>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Starting out with Expressions</a:t>
            </a:r>
            <a:endParaRPr/>
          </a:p>
        </p:txBody>
      </p:sp>
      <p:pic>
        <p:nvPicPr>
          <p:cNvPr id="70" name="Google Shape;70;p2"/>
          <p:cNvPicPr preferRelativeResize="0"/>
          <p:nvPr/>
        </p:nvPicPr>
        <p:blipFill rotWithShape="1">
          <a:blip r:embed="rId4">
            <a:alphaModFix/>
          </a:blip>
          <a:srcRect/>
          <a:stretch/>
        </p:blipFill>
        <p:spPr>
          <a:xfrm>
            <a:off x="7825550" y="2736103"/>
            <a:ext cx="20924901" cy="1089367"/>
          </a:xfrm>
          <a:prstGeom prst="rect">
            <a:avLst/>
          </a:prstGeom>
          <a:noFill/>
          <a:ln>
            <a:noFill/>
          </a:ln>
        </p:spPr>
      </p:pic>
      <p:sp>
        <p:nvSpPr>
          <p:cNvPr id="71" name="Google Shape;71;p2"/>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Up until now, we've only used literal values in our expressions, and we've also used several operators, such as in the example we used in the last video – </a:t>
            </a:r>
            <a:r>
              <a:rPr lang="en-US" sz="6400">
                <a:latin typeface="Open Sans"/>
                <a:ea typeface="Open Sans"/>
                <a:cs typeface="Open Sans"/>
                <a:sym typeface="Open Sans"/>
              </a:rPr>
              <a:t>see above.</a:t>
            </a:r>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3"/>
          <p:cNvSpPr/>
          <p:nvPr/>
        </p:nvSpPr>
        <p:spPr>
          <a:xfrm>
            <a:off x="952498" y="459786"/>
            <a:ext cx="6513001"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Challenge</a:t>
            </a:r>
            <a:endParaRPr/>
          </a:p>
        </p:txBody>
      </p:sp>
      <p:cxnSp>
        <p:nvCxnSpPr>
          <p:cNvPr id="77" name="Google Shape;77;p3"/>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78" name="Google Shape;78;p3"/>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79" name="Google Shape;79;p3"/>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80" name="Google Shape;80;p3"/>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Starting out with Expressions</a:t>
            </a:r>
            <a:endParaRPr/>
          </a:p>
        </p:txBody>
      </p:sp>
      <p:sp>
        <p:nvSpPr>
          <p:cNvPr id="81" name="Google Shape;81;p3"/>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a:latin typeface="Open Sans"/>
                <a:ea typeface="Open Sans"/>
                <a:cs typeface="Open Sans"/>
                <a:sym typeface="Open Sans"/>
              </a:rPr>
              <a:t>Your</a:t>
            </a:r>
            <a:r>
              <a:rPr lang="en-US" sz="6400" b="0" i="0" u="none" strike="noStrike" cap="none">
                <a:solidFill>
                  <a:srgbClr val="000000"/>
                </a:solidFill>
                <a:latin typeface="Open Sans"/>
                <a:ea typeface="Open Sans"/>
                <a:cs typeface="Open Sans"/>
                <a:sym typeface="Open Sans"/>
              </a:rPr>
              <a:t> challenge is to create two additional variables in JShell.</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Here's what we need:</a:t>
            </a:r>
            <a:endParaRPr/>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a:solidFill>
                  <a:srgbClr val="000000"/>
                </a:solidFill>
                <a:latin typeface="Open Sans"/>
                <a:ea typeface="Open Sans"/>
                <a:cs typeface="Open Sans"/>
                <a:sym typeface="Open Sans"/>
              </a:rPr>
              <a:t>One variable called </a:t>
            </a:r>
            <a:r>
              <a:rPr lang="en-US" sz="6400" b="1" i="0" u="none" strike="noStrike" cap="none">
                <a:solidFill>
                  <a:srgbClr val="000000"/>
                </a:solidFill>
                <a:latin typeface="Open Sans"/>
                <a:ea typeface="Open Sans"/>
                <a:cs typeface="Open Sans"/>
                <a:sym typeface="Open Sans"/>
              </a:rPr>
              <a:t>mySecondNumber</a:t>
            </a:r>
            <a:r>
              <a:rPr lang="en-US" sz="6400" b="0" i="0" u="none" strike="noStrike" cap="none">
                <a:solidFill>
                  <a:srgbClr val="000000"/>
                </a:solidFill>
                <a:latin typeface="Open Sans"/>
                <a:ea typeface="Open Sans"/>
                <a:cs typeface="Open Sans"/>
                <a:sym typeface="Open Sans"/>
              </a:rPr>
              <a:t>, which is an int, with a value of </a:t>
            </a:r>
            <a:r>
              <a:rPr lang="en-US" sz="6400" b="1" i="0" u="none" strike="noStrike" cap="none">
                <a:solidFill>
                  <a:srgbClr val="000000"/>
                </a:solidFill>
                <a:latin typeface="Open Sans"/>
                <a:ea typeface="Open Sans"/>
                <a:cs typeface="Open Sans"/>
                <a:sym typeface="Open Sans"/>
              </a:rPr>
              <a:t>12</a:t>
            </a:r>
            <a:r>
              <a:rPr lang="en-US" sz="6400" b="0" i="0" u="none" strike="noStrike" cap="none">
                <a:solidFill>
                  <a:srgbClr val="000000"/>
                </a:solidFill>
                <a:latin typeface="Open Sans"/>
                <a:ea typeface="Open Sans"/>
                <a:cs typeface="Open Sans"/>
                <a:sym typeface="Open Sans"/>
              </a:rPr>
              <a:t>.</a:t>
            </a:r>
            <a:endParaRPr/>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a:solidFill>
                  <a:srgbClr val="000000"/>
                </a:solidFill>
                <a:latin typeface="Open Sans"/>
                <a:ea typeface="Open Sans"/>
                <a:cs typeface="Open Sans"/>
                <a:sym typeface="Open Sans"/>
              </a:rPr>
              <a:t>And another variable called </a:t>
            </a:r>
            <a:r>
              <a:rPr lang="en-US" sz="6400" b="1" i="0" u="none" strike="noStrike" cap="none">
                <a:solidFill>
                  <a:srgbClr val="000000"/>
                </a:solidFill>
                <a:latin typeface="Open Sans"/>
                <a:ea typeface="Open Sans"/>
                <a:cs typeface="Open Sans"/>
                <a:sym typeface="Open Sans"/>
              </a:rPr>
              <a:t>myThirdNumber</a:t>
            </a:r>
            <a:r>
              <a:rPr lang="en-US" sz="6400" b="0" i="0" u="none" strike="noStrike" cap="none">
                <a:solidFill>
                  <a:srgbClr val="000000"/>
                </a:solidFill>
                <a:latin typeface="Open Sans"/>
                <a:ea typeface="Open Sans"/>
                <a:cs typeface="Open Sans"/>
                <a:sym typeface="Open Sans"/>
              </a:rPr>
              <a:t>, also of type int, with a value of </a:t>
            </a:r>
            <a:r>
              <a:rPr lang="en-US" sz="6400" b="1" i="0" u="none" strike="noStrike" cap="none">
                <a:solidFill>
                  <a:srgbClr val="000000"/>
                </a:solidFill>
                <a:latin typeface="Open Sans"/>
                <a:ea typeface="Open Sans"/>
                <a:cs typeface="Open Sans"/>
                <a:sym typeface="Open Sans"/>
              </a:rPr>
              <a:t>6</a:t>
            </a:r>
            <a:r>
              <a:rPr lang="en-US" sz="6400" b="0" i="0" u="none" strike="noStrike" cap="none">
                <a:solidFill>
                  <a:srgbClr val="000000"/>
                </a:solidFill>
                <a:latin typeface="Open Sans"/>
                <a:ea typeface="Open Sans"/>
                <a:cs typeface="Open Sans"/>
                <a:sym typeface="Open Sans"/>
              </a:rPr>
              <a:t>.</a:t>
            </a:r>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4"/>
          <p:cNvSpPr/>
          <p:nvPr/>
        </p:nvSpPr>
        <p:spPr>
          <a:xfrm>
            <a:off x="952498" y="459786"/>
            <a:ext cx="6513001"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Challenge</a:t>
            </a:r>
            <a:endParaRPr/>
          </a:p>
        </p:txBody>
      </p:sp>
      <p:cxnSp>
        <p:nvCxnSpPr>
          <p:cNvPr id="87" name="Google Shape;87;p4"/>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88" name="Google Shape;88;p4"/>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89" name="Google Shape;89;p4"/>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90" name="Google Shape;90;p4"/>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Starting out with Expressions</a:t>
            </a:r>
            <a:endParaRPr/>
          </a:p>
        </p:txBody>
      </p:sp>
      <p:sp>
        <p:nvSpPr>
          <p:cNvPr id="91" name="Google Shape;91;p4"/>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First, create a new variable and call it </a:t>
            </a:r>
            <a:r>
              <a:rPr lang="en-US" sz="6400" b="1" i="0" u="none" strike="noStrike" cap="none" dirty="0">
                <a:solidFill>
                  <a:srgbClr val="000000"/>
                </a:solidFill>
                <a:latin typeface="Open Sans"/>
                <a:ea typeface="Open Sans"/>
                <a:cs typeface="Open Sans"/>
                <a:sym typeface="Open Sans"/>
              </a:rPr>
              <a:t>myLastOne</a:t>
            </a:r>
            <a:r>
              <a:rPr lang="en-US" sz="6400" b="0" i="0" u="none" strike="noStrike" cap="none" dirty="0">
                <a:solidFill>
                  <a:srgbClr val="000000"/>
                </a:solidFill>
                <a:latin typeface="Open Sans"/>
                <a:ea typeface="Open Sans"/>
                <a:cs typeface="Open Sans"/>
                <a:sym typeface="Open Sans"/>
              </a:rPr>
              <a:t>:</a:t>
            </a:r>
            <a:endParaRPr dirty="0"/>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dirty="0">
                <a:solidFill>
                  <a:srgbClr val="000000"/>
                </a:solidFill>
                <a:latin typeface="Open Sans"/>
                <a:ea typeface="Open Sans"/>
                <a:cs typeface="Open Sans"/>
                <a:sym typeface="Open Sans"/>
              </a:rPr>
              <a:t>Its data type should be </a:t>
            </a:r>
            <a:r>
              <a:rPr lang="en-US" sz="6400" b="1" i="0" u="none" strike="noStrike" cap="none" dirty="0">
                <a:solidFill>
                  <a:srgbClr val="000000"/>
                </a:solidFill>
                <a:latin typeface="Open Sans"/>
                <a:ea typeface="Open Sans"/>
                <a:cs typeface="Open Sans"/>
                <a:sym typeface="Open Sans"/>
              </a:rPr>
              <a:t>int</a:t>
            </a:r>
            <a:r>
              <a:rPr lang="en-US" sz="6400" b="0" i="0" u="none" strike="noStrike" cap="none" dirty="0">
                <a:solidFill>
                  <a:srgbClr val="000000"/>
                </a:solidFill>
                <a:latin typeface="Open Sans"/>
                <a:ea typeface="Open Sans"/>
                <a:cs typeface="Open Sans"/>
                <a:sym typeface="Open Sans"/>
              </a:rPr>
              <a:t>.</a:t>
            </a:r>
            <a:endParaRPr dirty="0"/>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dirty="0">
                <a:solidFill>
                  <a:srgbClr val="000000"/>
                </a:solidFill>
                <a:latin typeface="Open Sans"/>
                <a:ea typeface="Open Sans"/>
                <a:cs typeface="Open Sans"/>
                <a:sym typeface="Open Sans"/>
              </a:rPr>
              <a:t>It should be set to the value of </a:t>
            </a:r>
            <a:r>
              <a:rPr lang="en-US" sz="6400" b="1" i="0" u="none" strike="noStrike" cap="none" dirty="0">
                <a:solidFill>
                  <a:srgbClr val="000000"/>
                </a:solidFill>
                <a:latin typeface="Open Sans"/>
                <a:ea typeface="Open Sans"/>
                <a:cs typeface="Open Sans"/>
                <a:sym typeface="Open Sans"/>
              </a:rPr>
              <a:t>1000</a:t>
            </a:r>
            <a:r>
              <a:rPr lang="en-US" sz="6400" b="0" i="0" u="none" strike="noStrike" cap="none" dirty="0">
                <a:solidFill>
                  <a:srgbClr val="000000"/>
                </a:solidFill>
                <a:latin typeface="Open Sans"/>
                <a:ea typeface="Open Sans"/>
                <a:cs typeface="Open Sans"/>
                <a:sym typeface="Open Sans"/>
              </a:rPr>
              <a:t>, minus (or less than) the value in the </a:t>
            </a:r>
            <a:r>
              <a:rPr lang="en-US" sz="6400" b="1" i="0" u="none" strike="noStrike" cap="none" dirty="0" err="1">
                <a:solidFill>
                  <a:srgbClr val="000000"/>
                </a:solidFill>
                <a:latin typeface="Open Sans"/>
                <a:ea typeface="Open Sans"/>
                <a:cs typeface="Open Sans"/>
                <a:sym typeface="Open Sans"/>
              </a:rPr>
              <a:t>myTotal</a:t>
            </a:r>
            <a:r>
              <a:rPr lang="en-US" sz="6400" b="0" i="0" u="none" strike="noStrike" cap="none" dirty="0">
                <a:solidFill>
                  <a:srgbClr val="000000"/>
                </a:solidFill>
                <a:latin typeface="Open Sans"/>
                <a:ea typeface="Open Sans"/>
                <a:cs typeface="Open Sans"/>
                <a:sym typeface="Open Sans"/>
              </a:rPr>
              <a:t> variable, which we've just talked about in our previous code segment.</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Next, print out the value of the </a:t>
            </a:r>
            <a:r>
              <a:rPr lang="en-US" sz="6400" b="1" i="0" u="none" strike="noStrike" cap="none" dirty="0">
                <a:solidFill>
                  <a:srgbClr val="000000"/>
                </a:solidFill>
                <a:latin typeface="Open Sans"/>
                <a:ea typeface="Open Sans"/>
                <a:cs typeface="Open Sans"/>
                <a:sym typeface="Open Sans"/>
              </a:rPr>
              <a:t>myLastOne</a:t>
            </a:r>
            <a:r>
              <a:rPr lang="en-US" sz="6400" b="0" i="0" u="none" strike="noStrike" cap="none" dirty="0">
                <a:solidFill>
                  <a:srgbClr val="000000"/>
                </a:solidFill>
                <a:latin typeface="Open Sans"/>
                <a:ea typeface="Open Sans"/>
                <a:cs typeface="Open Sans"/>
                <a:sym typeface="Open Sans"/>
              </a:rPr>
              <a:t> variable on the line after you declare it.</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Hint: We need to use another operator that we haven't used in code before, but if you think about this, it should be easy to figure out which operator you need to use.</a:t>
            </a:r>
            <a:endParaRPr dirty="0"/>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p:nvPr/>
        </p:nvSpPr>
        <p:spPr>
          <a:xfrm>
            <a:off x="952498" y="459786"/>
            <a:ext cx="16807486"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Java code is case sensitive</a:t>
            </a:r>
            <a:endParaRPr/>
          </a:p>
        </p:txBody>
      </p:sp>
      <p:cxnSp>
        <p:nvCxnSpPr>
          <p:cNvPr id="97" name="Google Shape;97;p5"/>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98" name="Google Shape;98;p5"/>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99" name="Google Shape;99;p5"/>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00" name="Google Shape;100;p5"/>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Starting out with Expressions</a:t>
            </a:r>
            <a:endParaRPr/>
          </a:p>
        </p:txBody>
      </p:sp>
      <p:sp>
        <p:nvSpPr>
          <p:cNvPr id="101" name="Google Shape;101;p5"/>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Java code is case sensitive.</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This includes not </a:t>
            </a:r>
            <a:r>
              <a:rPr lang="en-US" sz="6400" dirty="0">
                <a:latin typeface="Open Sans"/>
                <a:ea typeface="Open Sans"/>
                <a:cs typeface="Open Sans"/>
                <a:sym typeface="Open Sans"/>
              </a:rPr>
              <a:t>only</a:t>
            </a:r>
            <a:r>
              <a:rPr lang="en-US" sz="6400" b="0" i="0" u="none" strike="noStrike" cap="none" dirty="0">
                <a:solidFill>
                  <a:srgbClr val="000000"/>
                </a:solidFill>
                <a:latin typeface="Open Sans"/>
                <a:ea typeface="Open Sans"/>
                <a:cs typeface="Open Sans"/>
                <a:sym typeface="Open Sans"/>
              </a:rPr>
              <a:t> keywords and language syntax, but variable names and data types as well.</a:t>
            </a:r>
            <a:endParaRPr dirty="0"/>
          </a:p>
          <a:p>
            <a:pPr marL="0" marR="0" lvl="0" indent="0" algn="l" rtl="0">
              <a:lnSpc>
                <a:spcPct val="100000"/>
              </a:lnSpc>
              <a:spcBef>
                <a:spcPts val="5022"/>
              </a:spcBef>
              <a:spcAft>
                <a:spcPts val="0"/>
              </a:spcAft>
              <a:buClr>
                <a:srgbClr val="000000"/>
              </a:buClr>
              <a:buSzPts val="6400"/>
              <a:buFont typeface="Open Sans"/>
              <a:buNone/>
            </a:pPr>
            <a:r>
              <a:rPr lang="en-US" sz="6400" b="1" i="0" u="none" strike="noStrike" cap="none" dirty="0">
                <a:solidFill>
                  <a:srgbClr val="000000"/>
                </a:solidFill>
                <a:latin typeface="Open Sans"/>
                <a:ea typeface="Open Sans"/>
                <a:cs typeface="Open Sans"/>
                <a:sym typeface="Open Sans"/>
              </a:rPr>
              <a:t>myLastOne</a:t>
            </a:r>
            <a:r>
              <a:rPr lang="en-US" sz="6400" i="0" u="none" strike="noStrike" cap="none" dirty="0">
                <a:solidFill>
                  <a:srgbClr val="000000"/>
                </a:solidFill>
                <a:latin typeface="Open Sans"/>
                <a:ea typeface="Open Sans"/>
                <a:cs typeface="Open Sans"/>
                <a:sym typeface="Open Sans"/>
              </a:rPr>
              <a:t> is not the same variable as </a:t>
            </a:r>
            <a:r>
              <a:rPr lang="en-US" sz="6400" b="1" i="0" u="none" strike="noStrike" cap="none" dirty="0">
                <a:solidFill>
                  <a:srgbClr val="000000"/>
                </a:solidFill>
                <a:latin typeface="Open Sans"/>
                <a:ea typeface="Open Sans"/>
                <a:cs typeface="Open Sans"/>
                <a:sym typeface="Open Sans"/>
              </a:rPr>
              <a:t>MyLastOne</a:t>
            </a:r>
            <a:r>
              <a:rPr lang="en-US" sz="6400" i="0" u="none" strike="noStrike" cap="none" dirty="0">
                <a:solidFill>
                  <a:srgbClr val="000000"/>
                </a:solidFill>
                <a:latin typeface="Open Sans"/>
                <a:ea typeface="Open Sans"/>
                <a:cs typeface="Open Sans"/>
                <a:sym typeface="Open Sans"/>
              </a:rPr>
              <a:t> with a capital </a:t>
            </a:r>
            <a:r>
              <a:rPr lang="en-US" sz="6400" b="1" i="0" u="none" strike="noStrike" cap="none" dirty="0">
                <a:solidFill>
                  <a:srgbClr val="000000"/>
                </a:solidFill>
                <a:latin typeface="Open Sans"/>
                <a:ea typeface="Open Sans"/>
                <a:cs typeface="Open Sans"/>
                <a:sym typeface="Open Sans"/>
              </a:rPr>
              <a:t>M</a:t>
            </a:r>
            <a:r>
              <a:rPr lang="en-US" sz="6400" i="0" u="none" strike="noStrike" cap="none" dirty="0">
                <a:solidFill>
                  <a:srgbClr val="000000"/>
                </a:solidFill>
                <a:latin typeface="Open Sans"/>
                <a:ea typeface="Open Sans"/>
                <a:cs typeface="Open Sans"/>
                <a:sym typeface="Open Sans"/>
              </a:rPr>
              <a:t>.</a:t>
            </a:r>
          </a:p>
          <a:p>
            <a:pPr marL="0" marR="0" lvl="0" indent="0" algn="l" rtl="0">
              <a:lnSpc>
                <a:spcPct val="100000"/>
              </a:lnSpc>
              <a:spcBef>
                <a:spcPts val="5022"/>
              </a:spcBef>
              <a:spcAft>
                <a:spcPts val="0"/>
              </a:spcAft>
              <a:buClr>
                <a:srgbClr val="000000"/>
              </a:buClr>
              <a:buSzPts val="6400"/>
              <a:buFont typeface="Open Sans"/>
              <a:buNone/>
            </a:pPr>
            <a:r>
              <a:rPr lang="en-US" sz="6400" b="1" i="0" u="none" strike="noStrike" cap="none" dirty="0">
                <a:solidFill>
                  <a:srgbClr val="000000"/>
                </a:solidFill>
                <a:latin typeface="Open Sans"/>
                <a:ea typeface="Open Sans"/>
                <a:cs typeface="Open Sans"/>
                <a:sym typeface="Open Sans"/>
              </a:rPr>
              <a:t>int</a:t>
            </a:r>
            <a:r>
              <a:rPr lang="en-US" sz="6400" i="0" u="none" strike="noStrike" cap="none" dirty="0">
                <a:solidFill>
                  <a:srgbClr val="000000"/>
                </a:solidFill>
                <a:latin typeface="Open Sans"/>
                <a:ea typeface="Open Sans"/>
                <a:cs typeface="Open Sans"/>
                <a:sym typeface="Open Sans"/>
              </a:rPr>
              <a:t> in lowercase, is not the same as </a:t>
            </a:r>
            <a:r>
              <a:rPr lang="en-US" sz="6400" b="1" i="0" u="none" strike="noStrike" cap="none" dirty="0">
                <a:solidFill>
                  <a:srgbClr val="000000"/>
                </a:solidFill>
                <a:latin typeface="Open Sans"/>
                <a:ea typeface="Open Sans"/>
                <a:cs typeface="Open Sans"/>
                <a:sym typeface="Open Sans"/>
              </a:rPr>
              <a:t>Int</a:t>
            </a:r>
            <a:r>
              <a:rPr lang="en-US" sz="6400" i="0" u="none" strike="noStrike" cap="none" dirty="0">
                <a:solidFill>
                  <a:srgbClr val="000000"/>
                </a:solidFill>
                <a:latin typeface="Open Sans"/>
                <a:ea typeface="Open Sans"/>
                <a:cs typeface="Open Sans"/>
                <a:sym typeface="Open Sans"/>
              </a:rPr>
              <a:t> with the first letter capitalized, or </a:t>
            </a:r>
            <a:r>
              <a:rPr lang="en-US" sz="6400" b="1" i="0" u="none" strike="noStrike" cap="none" dirty="0">
                <a:solidFill>
                  <a:srgbClr val="000000"/>
                </a:solidFill>
                <a:latin typeface="Open Sans"/>
                <a:ea typeface="Open Sans"/>
                <a:cs typeface="Open Sans"/>
                <a:sym typeface="Open Sans"/>
              </a:rPr>
              <a:t>INT</a:t>
            </a:r>
            <a:r>
              <a:rPr lang="en-US" sz="6400" i="0" u="none" strike="noStrike" cap="none" dirty="0">
                <a:solidFill>
                  <a:srgbClr val="000000"/>
                </a:solidFill>
                <a:latin typeface="Open Sans"/>
                <a:ea typeface="Open Sans"/>
                <a:cs typeface="Open Sans"/>
                <a:sym typeface="Open Sans"/>
              </a:rPr>
              <a:t>, all in uppercase, etc.</a:t>
            </a:r>
            <a:endParaRPr dirty="0"/>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6"/>
          <p:cNvSpPr/>
          <p:nvPr/>
        </p:nvSpPr>
        <p:spPr>
          <a:xfrm>
            <a:off x="952498" y="459786"/>
            <a:ext cx="16807486"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Java code is case sensitive</a:t>
            </a:r>
            <a:endParaRPr/>
          </a:p>
        </p:txBody>
      </p:sp>
      <p:cxnSp>
        <p:nvCxnSpPr>
          <p:cNvPr id="107" name="Google Shape;107;p6"/>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08" name="Google Shape;108;p6"/>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09" name="Google Shape;109;p6"/>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10" name="Google Shape;110;p6"/>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Starting out with Expressions</a:t>
            </a:r>
            <a:endParaRPr/>
          </a:p>
        </p:txBody>
      </p:sp>
      <p:sp>
        <p:nvSpPr>
          <p:cNvPr id="111" name="Google Shape;111;p6"/>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Keywords need to be in </a:t>
            </a:r>
            <a:r>
              <a:rPr lang="en-US" sz="6400" b="0" i="0" u="none" strike="noStrike" cap="none">
                <a:solidFill>
                  <a:srgbClr val="000000"/>
                </a:solidFill>
                <a:latin typeface="Open Sans"/>
                <a:ea typeface="Open Sans"/>
                <a:cs typeface="Open Sans"/>
                <a:sym typeface="Open Sans"/>
              </a:rPr>
              <a:t>lowercase.</a:t>
            </a:r>
            <a:endParaRPr lang="en-US"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And variables will always be exactly as you declare them, including capitalization.   </a:t>
            </a:r>
            <a:endParaRPr lang="en-US"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Remember that case matters in Java code! </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The </a:t>
            </a:r>
            <a:r>
              <a:rPr lang="en-US" sz="6400" b="1" i="0" u="none" strike="noStrike" cap="none" dirty="0">
                <a:solidFill>
                  <a:srgbClr val="000000"/>
                </a:solidFill>
                <a:latin typeface="Open Sans"/>
                <a:ea typeface="Open Sans"/>
                <a:cs typeface="Open Sans"/>
                <a:sym typeface="Open Sans"/>
              </a:rPr>
              <a:t>/vars</a:t>
            </a:r>
            <a:r>
              <a:rPr lang="en-US" sz="6400" b="0" i="0" u="none" strike="noStrike" cap="none" dirty="0">
                <a:solidFill>
                  <a:srgbClr val="000000"/>
                </a:solidFill>
                <a:latin typeface="Open Sans"/>
                <a:ea typeface="Open Sans"/>
                <a:cs typeface="Open Sans"/>
                <a:sym typeface="Open Sans"/>
              </a:rPr>
              <a:t> command in </a:t>
            </a:r>
            <a:r>
              <a:rPr lang="en-US" sz="6400" b="0" i="0" u="none" strike="noStrike" cap="none" dirty="0" err="1">
                <a:solidFill>
                  <a:srgbClr val="000000"/>
                </a:solidFill>
                <a:latin typeface="Open Sans"/>
                <a:ea typeface="Open Sans"/>
                <a:cs typeface="Open Sans"/>
                <a:sym typeface="Open Sans"/>
              </a:rPr>
              <a:t>JShell</a:t>
            </a:r>
            <a:r>
              <a:rPr lang="en-US" sz="6400" b="0" i="0" u="none" strike="noStrike" cap="none" dirty="0">
                <a:solidFill>
                  <a:srgbClr val="000000"/>
                </a:solidFill>
                <a:latin typeface="Open Sans"/>
                <a:ea typeface="Open Sans"/>
                <a:cs typeface="Open Sans"/>
                <a:sym typeface="Open Sans"/>
              </a:rPr>
              <a:t> can help you identify any misspellings you may have made.</a:t>
            </a:r>
            <a:endParaRPr dirty="0"/>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7"/>
          <p:cNvSpPr/>
          <p:nvPr/>
        </p:nvSpPr>
        <p:spPr>
          <a:xfrm>
            <a:off x="952498" y="459786"/>
            <a:ext cx="4065215"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Recap</a:t>
            </a:r>
            <a:endParaRPr/>
          </a:p>
        </p:txBody>
      </p:sp>
      <p:cxnSp>
        <p:nvCxnSpPr>
          <p:cNvPr id="117" name="Google Shape;117;p7"/>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18" name="Google Shape;118;p7"/>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19" name="Google Shape;119;p7"/>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20" name="Google Shape;120;p7"/>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Starting out with Expressions</a:t>
            </a:r>
            <a:endParaRPr/>
          </a:p>
        </p:txBody>
      </p:sp>
      <p:sp>
        <p:nvSpPr>
          <p:cNvPr id="121" name="Google Shape;121;p7"/>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In this video:</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We used expressions to assign values to our variables, and we used variables we created, in expressions. </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For now though, in our expressions, we've looked at only one data type so far, which is the type, int.</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In the next video, we'll be looking at and discussing some additional data types.</a:t>
            </a:r>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
          <p:cNvSpPr/>
          <p:nvPr/>
        </p:nvSpPr>
        <p:spPr>
          <a:xfrm>
            <a:off x="952498" y="459786"/>
            <a:ext cx="8164094"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Introduction</a:t>
            </a:r>
            <a:endParaRPr/>
          </a:p>
        </p:txBody>
      </p:sp>
      <p:cxnSp>
        <p:nvCxnSpPr>
          <p:cNvPr id="56" name="Google Shape;56;p1"/>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57" name="Google Shape;57;p1"/>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58" name="Google Shape;58;p1"/>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59" name="Google Shape;59;p1"/>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a:t>
            </a:r>
            <a:endParaRPr/>
          </a:p>
        </p:txBody>
      </p:sp>
      <p:sp>
        <p:nvSpPr>
          <p:cNvPr id="60" name="Google Shape;60;p1"/>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We've been working only with the </a:t>
            </a:r>
            <a:r>
              <a:rPr lang="en-US" sz="6400" b="1" i="0" u="none" strike="noStrike" cap="none">
                <a:solidFill>
                  <a:srgbClr val="000000"/>
                </a:solidFill>
                <a:latin typeface="Open Sans"/>
                <a:ea typeface="Open Sans"/>
                <a:cs typeface="Open Sans"/>
                <a:sym typeface="Open Sans"/>
              </a:rPr>
              <a:t>int</a:t>
            </a:r>
            <a:r>
              <a:rPr lang="en-US" sz="6400" b="0" i="0" u="none" strike="noStrike" cap="none">
                <a:solidFill>
                  <a:srgbClr val="000000"/>
                </a:solidFill>
                <a:latin typeface="Open Sans"/>
                <a:ea typeface="Open Sans"/>
                <a:cs typeface="Open Sans"/>
                <a:sym typeface="Open Sans"/>
              </a:rPr>
              <a:t> data type so far in the course.</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In this video, we'll continue to look at </a:t>
            </a:r>
            <a:r>
              <a:rPr lang="en-US" sz="6400" b="1" i="0" u="none" strike="noStrike" cap="none">
                <a:solidFill>
                  <a:srgbClr val="000000"/>
                </a:solidFill>
                <a:latin typeface="Open Sans"/>
                <a:ea typeface="Open Sans"/>
                <a:cs typeface="Open Sans"/>
                <a:sym typeface="Open Sans"/>
              </a:rPr>
              <a:t>int</a:t>
            </a:r>
            <a:r>
              <a:rPr lang="en-US" sz="6400" b="0" i="0" u="none" strike="noStrike" cap="none">
                <a:solidFill>
                  <a:srgbClr val="000000"/>
                </a:solidFill>
                <a:latin typeface="Open Sans"/>
                <a:ea typeface="Open Sans"/>
                <a:cs typeface="Open Sans"/>
                <a:sym typeface="Open Sans"/>
              </a:rPr>
              <a:t>, as well as several other </a:t>
            </a:r>
            <a:r>
              <a:rPr lang="en-US" sz="6400" i="0" u="none" strike="noStrike" cap="none">
                <a:solidFill>
                  <a:srgbClr val="000000"/>
                </a:solidFill>
                <a:latin typeface="Open Sans"/>
                <a:ea typeface="Open Sans"/>
                <a:cs typeface="Open Sans"/>
                <a:sym typeface="Open Sans"/>
              </a:rPr>
              <a:t>primitive types</a:t>
            </a:r>
            <a:r>
              <a:rPr lang="en-US" sz="6400" b="0" i="0" u="none" strike="noStrike" cap="none">
                <a:solidFill>
                  <a:srgbClr val="000000"/>
                </a:solidFill>
                <a:latin typeface="Open Sans"/>
                <a:ea typeface="Open Sans"/>
                <a:cs typeface="Open Sans"/>
                <a:sym typeface="Open Sans"/>
              </a:rPr>
              <a:t>. </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We'll also introduce the wrapper class, a special category of data type, which offers additional functionality that primitive types don't. </a:t>
            </a:r>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p:nvPr/>
        </p:nvSpPr>
        <p:spPr>
          <a:xfrm>
            <a:off x="952498" y="459786"/>
            <a:ext cx="13896433"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Java's Primitive Types</a:t>
            </a:r>
            <a:endParaRPr/>
          </a:p>
        </p:txBody>
      </p:sp>
      <p:cxnSp>
        <p:nvCxnSpPr>
          <p:cNvPr id="66" name="Google Shape;66;p2"/>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67" name="Google Shape;67;p2"/>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68" name="Google Shape;68;p2"/>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69" name="Google Shape;69;p2"/>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a:t>
            </a:r>
            <a:endParaRPr/>
          </a:p>
        </p:txBody>
      </p:sp>
      <p:sp>
        <p:nvSpPr>
          <p:cNvPr id="10" name="Rectangle 9">
            <a:extLst>
              <a:ext uri="{FF2B5EF4-FFF2-40B4-BE49-F238E27FC236}">
                <a16:creationId xmlns:a16="http://schemas.microsoft.com/office/drawing/2014/main" id="{10568445-2891-2DBA-90CD-28EE01D794C0}"/>
              </a:ext>
            </a:extLst>
          </p:cNvPr>
          <p:cNvSpPr/>
          <p:nvPr/>
        </p:nvSpPr>
        <p:spPr>
          <a:xfrm>
            <a:off x="952501" y="2799188"/>
            <a:ext cx="34782670" cy="3767934"/>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Java, primitive types are the most basic data types.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eight primitive data types in Java are shown in the table below, listed by the type of data stored for each:</a:t>
            </a:r>
          </a:p>
        </p:txBody>
      </p:sp>
      <p:graphicFrame>
        <p:nvGraphicFramePr>
          <p:cNvPr id="11" name="Table 6">
            <a:extLst>
              <a:ext uri="{FF2B5EF4-FFF2-40B4-BE49-F238E27FC236}">
                <a16:creationId xmlns:a16="http://schemas.microsoft.com/office/drawing/2014/main" id="{76FB22D1-B07A-E167-7DE7-86783B1170B8}"/>
              </a:ext>
            </a:extLst>
          </p:cNvPr>
          <p:cNvGraphicFramePr>
            <a:graphicFrameLocks noGrp="1"/>
          </p:cNvGraphicFramePr>
          <p:nvPr/>
        </p:nvGraphicFramePr>
        <p:xfrm>
          <a:off x="9709158" y="6567122"/>
          <a:ext cx="17157684" cy="11179702"/>
        </p:xfrm>
        <a:graphic>
          <a:graphicData uri="http://schemas.openxmlformats.org/drawingml/2006/table">
            <a:tbl>
              <a:tblPr firstRow="1" bandRow="1">
                <a:tableStyleId>{5C22544A-7EE6-4342-B048-85BDC9FD1C3A}</a:tableStyleId>
              </a:tblPr>
              <a:tblGrid>
                <a:gridCol w="6753889">
                  <a:extLst>
                    <a:ext uri="{9D8B030D-6E8A-4147-A177-3AD203B41FA5}">
                      <a16:colId xmlns:a16="http://schemas.microsoft.com/office/drawing/2014/main" val="2398957492"/>
                    </a:ext>
                  </a:extLst>
                </a:gridCol>
                <a:gridCol w="10403795">
                  <a:extLst>
                    <a:ext uri="{9D8B030D-6E8A-4147-A177-3AD203B41FA5}">
                      <a16:colId xmlns:a16="http://schemas.microsoft.com/office/drawing/2014/main" val="1725977642"/>
                    </a:ext>
                  </a:extLst>
                </a:gridCol>
              </a:tblGrid>
              <a:tr h="2278298">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Whole number</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Real number</a:t>
                      </a:r>
                    </a:p>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(floating point or decimal)</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4739951">
                <a:tc>
                  <a:txBody>
                    <a:bodyPr/>
                    <a:lstStyle/>
                    <a:p>
                      <a:pPr marL="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byte</a:t>
                      </a:r>
                    </a:p>
                    <a:p>
                      <a:pPr marL="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short</a:t>
                      </a:r>
                    </a:p>
                    <a:p>
                      <a:pPr marL="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int</a:t>
                      </a:r>
                    </a:p>
                    <a:p>
                      <a:pPr marL="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long</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float</a:t>
                      </a:r>
                    </a:p>
                    <a:p>
                      <a:pPr marL="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double</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7302300"/>
                  </a:ext>
                </a:extLst>
              </a:tr>
              <a:tr h="1441930">
                <a:tc>
                  <a:txBody>
                    <a:bodyPr/>
                    <a:lstStyle/>
                    <a:p>
                      <a:pPr marL="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Single character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marL="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Boolean value</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131693955"/>
                  </a:ext>
                </a:extLst>
              </a:tr>
              <a:tr h="2719523">
                <a:tc>
                  <a:txBody>
                    <a:bodyPr/>
                    <a:lstStyle/>
                    <a:p>
                      <a:pPr marL="36000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char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5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boolean</a:t>
                      </a:r>
                      <a:endParaRPr lang="en-US" sz="5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1765039"/>
                  </a:ext>
                </a:extLst>
              </a:tr>
            </a:tbl>
          </a:graphicData>
        </a:graphic>
      </p:graphicFrame>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3"/>
          <p:cNvSpPr/>
          <p:nvPr/>
        </p:nvSpPr>
        <p:spPr>
          <a:xfrm>
            <a:off x="952498" y="459786"/>
            <a:ext cx="13896433"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Java's Primitive Types</a:t>
            </a:r>
            <a:endParaRPr/>
          </a:p>
        </p:txBody>
      </p:sp>
      <p:cxnSp>
        <p:nvCxnSpPr>
          <p:cNvPr id="77" name="Google Shape;77;p3"/>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78" name="Google Shape;78;p3"/>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79" name="Google Shape;79;p3"/>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80" name="Google Shape;80;p3"/>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a:t>
            </a:r>
            <a:endParaRPr/>
          </a:p>
        </p:txBody>
      </p:sp>
      <p:sp>
        <p:nvSpPr>
          <p:cNvPr id="81" name="Google Shape;81;p3"/>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Consider these types as the building blocks of data manipulation.  </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Remember that primitive data types are simply placeholders in memory for a value.</a:t>
            </a:r>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4"/>
          <p:cNvSpPr/>
          <p:nvPr/>
        </p:nvSpPr>
        <p:spPr>
          <a:xfrm>
            <a:off x="952498" y="459786"/>
            <a:ext cx="17716388"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What actually is an integer?</a:t>
            </a:r>
            <a:endParaRPr/>
          </a:p>
        </p:txBody>
      </p:sp>
      <p:cxnSp>
        <p:nvCxnSpPr>
          <p:cNvPr id="87" name="Google Shape;87;p4"/>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88" name="Google Shape;88;p4"/>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89" name="Google Shape;89;p4"/>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90" name="Google Shape;90;p4"/>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a:t>
            </a:r>
            <a:endParaRPr/>
          </a:p>
        </p:txBody>
      </p:sp>
      <p:sp>
        <p:nvSpPr>
          <p:cNvPr id="91" name="Google Shape;91;p4"/>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An integer is a whole number, meaning it doesn't contain a fractional element, or a decimal.</a:t>
            </a:r>
            <a:endParaRP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p:nvPr/>
        </p:nvSpPr>
        <p:spPr>
          <a:xfrm>
            <a:off x="952498" y="459786"/>
            <a:ext cx="25611178"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What values can we store in an integer?</a:t>
            </a:r>
            <a:endParaRPr/>
          </a:p>
        </p:txBody>
      </p:sp>
      <p:cxnSp>
        <p:nvCxnSpPr>
          <p:cNvPr id="97" name="Google Shape;97;p5"/>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98" name="Google Shape;98;p5"/>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99" name="Google Shape;99;p5"/>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00" name="Google Shape;100;p5"/>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a:t>
            </a:r>
            <a:endParaRPr/>
          </a:p>
        </p:txBody>
      </p:sp>
      <p:sp>
        <p:nvSpPr>
          <p:cNvPr id="101" name="Google Shape;101;p5"/>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There's a specified range of values allowed for the </a:t>
            </a:r>
            <a:r>
              <a:rPr lang="en-US" sz="6400" b="1" i="0" u="none" strike="noStrike" cap="none">
                <a:solidFill>
                  <a:srgbClr val="000000"/>
                </a:solidFill>
                <a:latin typeface="Open Sans"/>
                <a:ea typeface="Open Sans"/>
                <a:cs typeface="Open Sans"/>
                <a:sym typeface="Open Sans"/>
              </a:rPr>
              <a:t>int</a:t>
            </a:r>
            <a:r>
              <a:rPr lang="en-US" sz="6400" b="0" i="0" u="none" strike="noStrike" cap="none">
                <a:solidFill>
                  <a:srgbClr val="000000"/>
                </a:solidFill>
                <a:latin typeface="Open Sans"/>
                <a:ea typeface="Open Sans"/>
                <a:cs typeface="Open Sans"/>
                <a:sym typeface="Open Sans"/>
              </a:rPr>
              <a:t>, which is true for most data types.</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What this means is, that the allowable range of values is NOT infinite.</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There's a defined minimum, and maximum value, for each numeric data type, meaning you can't assign a number bigger or smaller (outside of that range).</a:t>
            </a:r>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6"/>
          <p:cNvSpPr/>
          <p:nvPr/>
        </p:nvSpPr>
        <p:spPr>
          <a:xfrm>
            <a:off x="952498" y="459786"/>
            <a:ext cx="22993474"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Using the + sign in System.out.print</a:t>
            </a:r>
            <a:endParaRPr sz="10800" b="0" i="0" u="none" strike="noStrike" cap="none">
              <a:solidFill>
                <a:srgbClr val="000000"/>
              </a:solidFill>
              <a:latin typeface="Open Sans"/>
              <a:ea typeface="Open Sans"/>
              <a:cs typeface="Open Sans"/>
              <a:sym typeface="Open Sans"/>
            </a:endParaRPr>
          </a:p>
        </p:txBody>
      </p:sp>
      <p:cxnSp>
        <p:nvCxnSpPr>
          <p:cNvPr id="107" name="Google Shape;107;p6"/>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08" name="Google Shape;108;p6"/>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09" name="Google Shape;109;p6"/>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10" name="Google Shape;110;p6"/>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a:t>
            </a:r>
            <a:endParaRPr/>
          </a:p>
        </p:txBody>
      </p:sp>
      <p:sp>
        <p:nvSpPr>
          <p:cNvPr id="111" name="Google Shape;111;p6"/>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The plus sign, +,  when used in </a:t>
            </a:r>
            <a:r>
              <a:rPr lang="en-US" sz="6400" b="1" i="0" u="none" strike="noStrike" cap="none">
                <a:solidFill>
                  <a:srgbClr val="000000"/>
                </a:solidFill>
                <a:latin typeface="Open Sans"/>
                <a:ea typeface="Open Sans"/>
                <a:cs typeface="Open Sans"/>
                <a:sym typeface="Open Sans"/>
              </a:rPr>
              <a:t>System.out.print</a:t>
            </a:r>
            <a:r>
              <a:rPr lang="en-US" sz="6400" b="0" i="0" u="none" strike="noStrike" cap="none">
                <a:solidFill>
                  <a:srgbClr val="000000"/>
                </a:solidFill>
                <a:latin typeface="Open Sans"/>
                <a:ea typeface="Open Sans"/>
                <a:cs typeface="Open Sans"/>
                <a:sym typeface="Open Sans"/>
              </a:rPr>
              <a:t> will print different data types together as a single line of text.</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In the example:</a:t>
            </a:r>
            <a:endParaRPr/>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a:solidFill>
                <a:srgbClr val="000000"/>
              </a:solidFill>
              <a:latin typeface="Open Sans"/>
              <a:ea typeface="Open Sans"/>
              <a:cs typeface="Open Sans"/>
              <a:sym typeface="Open Sans"/>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We want to print a label, before a numeric integer value.</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Whatever follows the plus sign in </a:t>
            </a:r>
            <a:r>
              <a:rPr lang="en-US" sz="6400" b="1" i="0" u="none" strike="noStrike" cap="none">
                <a:solidFill>
                  <a:srgbClr val="000000"/>
                </a:solidFill>
                <a:latin typeface="Open Sans"/>
                <a:ea typeface="Open Sans"/>
                <a:cs typeface="Open Sans"/>
                <a:sym typeface="Open Sans"/>
              </a:rPr>
              <a:t>System.out.print</a:t>
            </a:r>
            <a:r>
              <a:rPr lang="en-US" sz="6400" b="0" i="0" u="none" strike="noStrike" cap="none">
                <a:solidFill>
                  <a:srgbClr val="000000"/>
                </a:solidFill>
                <a:latin typeface="Open Sans"/>
                <a:ea typeface="Open Sans"/>
                <a:cs typeface="Open Sans"/>
                <a:sym typeface="Open Sans"/>
              </a:rPr>
              <a:t> here, is converted to a </a:t>
            </a:r>
            <a:r>
              <a:rPr lang="en-US" sz="6400" b="1" i="0" u="none" strike="noStrike" cap="none">
                <a:solidFill>
                  <a:srgbClr val="000000"/>
                </a:solidFill>
                <a:latin typeface="Open Sans"/>
                <a:ea typeface="Open Sans"/>
                <a:cs typeface="Open Sans"/>
                <a:sym typeface="Open Sans"/>
              </a:rPr>
              <a:t>String</a:t>
            </a:r>
            <a:r>
              <a:rPr lang="en-US" sz="6400" b="0" i="0" u="none" strike="noStrike" cap="none">
                <a:solidFill>
                  <a:srgbClr val="000000"/>
                </a:solidFill>
                <a:latin typeface="Open Sans"/>
                <a:ea typeface="Open Sans"/>
                <a:cs typeface="Open Sans"/>
                <a:sym typeface="Open Sans"/>
              </a:rPr>
              <a:t> by Java, and concatenated to the </a:t>
            </a:r>
            <a:r>
              <a:rPr lang="en-US" sz="6400" b="1" i="0" u="none" strike="noStrike" cap="none">
                <a:solidFill>
                  <a:srgbClr val="000000"/>
                </a:solidFill>
                <a:latin typeface="Open Sans"/>
                <a:ea typeface="Open Sans"/>
                <a:cs typeface="Open Sans"/>
                <a:sym typeface="Open Sans"/>
              </a:rPr>
              <a:t>String</a:t>
            </a:r>
            <a:r>
              <a:rPr lang="en-US" sz="6400" b="0" i="0" u="none" strike="noStrike" cap="none">
                <a:solidFill>
                  <a:srgbClr val="000000"/>
                </a:solidFill>
                <a:latin typeface="Open Sans"/>
                <a:ea typeface="Open Sans"/>
                <a:cs typeface="Open Sans"/>
                <a:sym typeface="Open Sans"/>
              </a:rPr>
              <a:t> before it. </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This is perfectly valid syntax in Java.</a:t>
            </a:r>
            <a:endParaRPr/>
          </a:p>
        </p:txBody>
      </p:sp>
      <p:pic>
        <p:nvPicPr>
          <p:cNvPr id="112" name="Google Shape;112;p6"/>
          <p:cNvPicPr preferRelativeResize="0"/>
          <p:nvPr/>
        </p:nvPicPr>
        <p:blipFill rotWithShape="1">
          <a:blip r:embed="rId4">
            <a:alphaModFix/>
          </a:blip>
          <a:srcRect/>
          <a:stretch/>
        </p:blipFill>
        <p:spPr>
          <a:xfrm>
            <a:off x="2266620" y="8478567"/>
            <a:ext cx="31451762" cy="1169286"/>
          </a:xfrm>
          <a:prstGeom prst="rect">
            <a:avLst/>
          </a:prstGeom>
          <a:noFill/>
          <a:ln>
            <a:noFill/>
          </a:ln>
        </p:spPr>
      </p:pic>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7"/>
          <p:cNvSpPr/>
          <p:nvPr/>
        </p:nvSpPr>
        <p:spPr>
          <a:xfrm>
            <a:off x="952498" y="459786"/>
            <a:ext cx="4908395"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Classes</a:t>
            </a:r>
            <a:endParaRPr/>
          </a:p>
        </p:txBody>
      </p:sp>
      <p:cxnSp>
        <p:nvCxnSpPr>
          <p:cNvPr id="118" name="Google Shape;118;p7"/>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19" name="Google Shape;119;p7"/>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20" name="Google Shape;120;p7"/>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21" name="Google Shape;121;p7"/>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a:t>
            </a:r>
            <a:endParaRPr/>
          </a:p>
        </p:txBody>
      </p:sp>
      <p:sp>
        <p:nvSpPr>
          <p:cNvPr id="122" name="Google Shape;122;p7"/>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So what is a class?</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A class is a building block for object-oriented programming, and allows us to build custom data types.  We'll be talking more about classes in future videos.</a:t>
            </a:r>
            <a:endParaRPr lang="en-US" dirty="0"/>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8"/>
          <p:cNvSpPr/>
          <p:nvPr/>
        </p:nvSpPr>
        <p:spPr>
          <a:xfrm>
            <a:off x="952498" y="459786"/>
            <a:ext cx="10926068"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Wrapper Classes</a:t>
            </a:r>
            <a:endParaRPr/>
          </a:p>
        </p:txBody>
      </p:sp>
      <p:cxnSp>
        <p:nvCxnSpPr>
          <p:cNvPr id="128" name="Google Shape;128;p8"/>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29" name="Google Shape;129;p8"/>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30" name="Google Shape;130;p8"/>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31" name="Google Shape;131;p8"/>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a:t>
            </a:r>
            <a:endParaRPr/>
          </a:p>
        </p:txBody>
      </p:sp>
      <p:sp>
        <p:nvSpPr>
          <p:cNvPr id="132" name="Google Shape;132;p8"/>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Java uses the concept of a wrapper class, for all of its eight primitive data types.</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A wrapper class provides simple operations, as well as some basic information about the primitive data type, which cannot be stored on the primitive itself. </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We saw that MIN_VALUE, and MAX_VALUE, are elements of this basic information, for the int data type.</a:t>
            </a:r>
            <a:endParaRP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9" name="Google Shape;139;p9"/>
          <p:cNvSpPr/>
          <p:nvPr/>
        </p:nvSpPr>
        <p:spPr>
          <a:xfrm>
            <a:off x="952498" y="459786"/>
            <a:ext cx="10926068"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Wrapper Classes</a:t>
            </a:r>
            <a:endParaRPr/>
          </a:p>
        </p:txBody>
      </p:sp>
      <p:cxnSp>
        <p:nvCxnSpPr>
          <p:cNvPr id="140" name="Google Shape;140;p9"/>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41" name="Google Shape;141;p9"/>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42" name="Google Shape;142;p9"/>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43" name="Google Shape;143;p9"/>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a:t>
            </a:r>
            <a:endParaRPr/>
          </a:p>
        </p:txBody>
      </p:sp>
      <p:sp>
        <p:nvSpPr>
          <p:cNvPr id="9" name="Rectangle 8">
            <a:extLst>
              <a:ext uri="{FF2B5EF4-FFF2-40B4-BE49-F238E27FC236}">
                <a16:creationId xmlns:a16="http://schemas.microsoft.com/office/drawing/2014/main" id="{35DDE60B-AA72-BFC5-ADDA-40277507E0EC}"/>
              </a:ext>
            </a:extLst>
          </p:cNvPr>
          <p:cNvSpPr/>
          <p:nvPr/>
        </p:nvSpPr>
        <p:spPr>
          <a:xfrm>
            <a:off x="952501" y="2761861"/>
            <a:ext cx="34782670" cy="1273247"/>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primitive types, and their respective wrapper classes, are shown in the table below.</a:t>
            </a:r>
          </a:p>
        </p:txBody>
      </p:sp>
      <p:graphicFrame>
        <p:nvGraphicFramePr>
          <p:cNvPr id="10" name="Table 6">
            <a:extLst>
              <a:ext uri="{FF2B5EF4-FFF2-40B4-BE49-F238E27FC236}">
                <a16:creationId xmlns:a16="http://schemas.microsoft.com/office/drawing/2014/main" id="{DD2A9127-4FDA-185B-EBB1-F0EA03239AC4}"/>
              </a:ext>
            </a:extLst>
          </p:cNvPr>
          <p:cNvGraphicFramePr>
            <a:graphicFrameLocks noGrp="1"/>
          </p:cNvGraphicFramePr>
          <p:nvPr/>
        </p:nvGraphicFramePr>
        <p:xfrm>
          <a:off x="12042486" y="4233795"/>
          <a:ext cx="12491029" cy="10707669"/>
        </p:xfrm>
        <a:graphic>
          <a:graphicData uri="http://schemas.openxmlformats.org/drawingml/2006/table">
            <a:tbl>
              <a:tblPr firstRow="1" bandRow="1">
                <a:tableStyleId>{5C22544A-7EE6-4342-B048-85BDC9FD1C3A}</a:tableStyleId>
              </a:tblPr>
              <a:tblGrid>
                <a:gridCol w="5295090">
                  <a:extLst>
                    <a:ext uri="{9D8B030D-6E8A-4147-A177-3AD203B41FA5}">
                      <a16:colId xmlns:a16="http://schemas.microsoft.com/office/drawing/2014/main" val="2398957492"/>
                    </a:ext>
                  </a:extLst>
                </a:gridCol>
                <a:gridCol w="7195939">
                  <a:extLst>
                    <a:ext uri="{9D8B030D-6E8A-4147-A177-3AD203B41FA5}">
                      <a16:colId xmlns:a16="http://schemas.microsoft.com/office/drawing/2014/main" val="1725977642"/>
                    </a:ext>
                  </a:extLst>
                </a:gridCol>
              </a:tblGrid>
              <a:tr h="1189741">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Primitive</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Wrapper Class</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1189741">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byte</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Byte</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5377252"/>
                  </a:ext>
                </a:extLst>
              </a:tr>
              <a:tr h="1189741">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short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Short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92473"/>
                  </a:ext>
                </a:extLst>
              </a:tr>
              <a:tr h="1189741">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char</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Character</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07311"/>
                  </a:ext>
                </a:extLst>
              </a:tr>
              <a:tr h="1189741">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int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Integer</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47380"/>
                  </a:ext>
                </a:extLst>
              </a:tr>
              <a:tr h="1189741">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long</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Long</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3727517"/>
                  </a:ext>
                </a:extLst>
              </a:tr>
              <a:tr h="1189741">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float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Float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3549122"/>
                  </a:ext>
                </a:extLst>
              </a:tr>
              <a:tr h="1189741">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double</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Double</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6062375"/>
                  </a:ext>
                </a:extLst>
              </a:tr>
              <a:tr h="1189741">
                <a:tc>
                  <a:txBody>
                    <a:bodyPr/>
                    <a:lstStyle/>
                    <a:p>
                      <a:pPr algn="ctr"/>
                      <a:r>
                        <a:rPr lang="en-US" sz="480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boolean</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Boolean</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4117485"/>
                  </a:ext>
                </a:extLst>
              </a:tr>
            </a:tbl>
          </a:graphicData>
        </a:graphic>
      </p:graphicFrame>
      <p:sp>
        <p:nvSpPr>
          <p:cNvPr id="11" name="Rectangle 10">
            <a:extLst>
              <a:ext uri="{FF2B5EF4-FFF2-40B4-BE49-F238E27FC236}">
                <a16:creationId xmlns:a16="http://schemas.microsoft.com/office/drawing/2014/main" id="{5E888186-02F7-9741-2E73-C619181C82FA}"/>
              </a:ext>
            </a:extLst>
          </p:cNvPr>
          <p:cNvSpPr/>
          <p:nvPr/>
        </p:nvSpPr>
        <p:spPr>
          <a:xfrm>
            <a:off x="952499" y="15302742"/>
            <a:ext cx="34782670" cy="2628562"/>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can see there, that in general, it's pretty easy to remember the wrapper class name, for your primitive data type. It's the same name, but with an uppercase letter at the start.</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9" name="Google Shape;139;p9"/>
          <p:cNvSpPr/>
          <p:nvPr/>
        </p:nvSpPr>
        <p:spPr>
          <a:xfrm>
            <a:off x="952498" y="459786"/>
            <a:ext cx="10926068"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Wrapper Classes</a:t>
            </a:r>
            <a:endParaRPr/>
          </a:p>
        </p:txBody>
      </p:sp>
      <p:cxnSp>
        <p:nvCxnSpPr>
          <p:cNvPr id="140" name="Google Shape;140;p9"/>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41" name="Google Shape;141;p9"/>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42" name="Google Shape;142;p9"/>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43" name="Google Shape;143;p9"/>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a:t>
            </a:r>
            <a:endParaRPr/>
          </a:p>
        </p:txBody>
      </p:sp>
      <p:graphicFrame>
        <p:nvGraphicFramePr>
          <p:cNvPr id="10" name="Table 6">
            <a:extLst>
              <a:ext uri="{FF2B5EF4-FFF2-40B4-BE49-F238E27FC236}">
                <a16:creationId xmlns:a16="http://schemas.microsoft.com/office/drawing/2014/main" id="{DD2A9127-4FDA-185B-EBB1-F0EA03239AC4}"/>
              </a:ext>
            </a:extLst>
          </p:cNvPr>
          <p:cNvGraphicFramePr>
            <a:graphicFrameLocks noGrp="1"/>
          </p:cNvGraphicFramePr>
          <p:nvPr/>
        </p:nvGraphicFramePr>
        <p:xfrm>
          <a:off x="12042486" y="4233795"/>
          <a:ext cx="12491029" cy="10707669"/>
        </p:xfrm>
        <a:graphic>
          <a:graphicData uri="http://schemas.openxmlformats.org/drawingml/2006/table">
            <a:tbl>
              <a:tblPr firstRow="1" bandRow="1">
                <a:tableStyleId>{5C22544A-7EE6-4342-B048-85BDC9FD1C3A}</a:tableStyleId>
              </a:tblPr>
              <a:tblGrid>
                <a:gridCol w="5295090">
                  <a:extLst>
                    <a:ext uri="{9D8B030D-6E8A-4147-A177-3AD203B41FA5}">
                      <a16:colId xmlns:a16="http://schemas.microsoft.com/office/drawing/2014/main" val="2398957492"/>
                    </a:ext>
                  </a:extLst>
                </a:gridCol>
                <a:gridCol w="7195939">
                  <a:extLst>
                    <a:ext uri="{9D8B030D-6E8A-4147-A177-3AD203B41FA5}">
                      <a16:colId xmlns:a16="http://schemas.microsoft.com/office/drawing/2014/main" val="1725977642"/>
                    </a:ext>
                  </a:extLst>
                </a:gridCol>
              </a:tblGrid>
              <a:tr h="1189741">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Primitive</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Wrapper Class</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1189741">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byte</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Byte</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5377252"/>
                  </a:ext>
                </a:extLst>
              </a:tr>
              <a:tr h="1189741">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short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Short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92473"/>
                  </a:ext>
                </a:extLst>
              </a:tr>
              <a:tr h="1189741">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char</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Character</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07311"/>
                  </a:ext>
                </a:extLst>
              </a:tr>
              <a:tr h="1189741">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int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Integer</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47380"/>
                  </a:ext>
                </a:extLst>
              </a:tr>
              <a:tr h="1189741">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long</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Long</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3727517"/>
                  </a:ext>
                </a:extLst>
              </a:tr>
              <a:tr h="1189741">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float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Float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3549122"/>
                  </a:ext>
                </a:extLst>
              </a:tr>
              <a:tr h="1189741">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double</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Double</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6062375"/>
                  </a:ext>
                </a:extLst>
              </a:tr>
              <a:tr h="1189741">
                <a:tc>
                  <a:txBody>
                    <a:bodyPr/>
                    <a:lstStyle/>
                    <a:p>
                      <a:pPr algn="ctr"/>
                      <a:r>
                        <a:rPr lang="en-US" sz="480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boolean</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Boolean</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4117485"/>
                  </a:ext>
                </a:extLst>
              </a:tr>
            </a:tbl>
          </a:graphicData>
        </a:graphic>
      </p:graphicFrame>
      <p:sp>
        <p:nvSpPr>
          <p:cNvPr id="11" name="Rectangle 10">
            <a:extLst>
              <a:ext uri="{FF2B5EF4-FFF2-40B4-BE49-F238E27FC236}">
                <a16:creationId xmlns:a16="http://schemas.microsoft.com/office/drawing/2014/main" id="{5E888186-02F7-9741-2E73-C619181C82FA}"/>
              </a:ext>
            </a:extLst>
          </p:cNvPr>
          <p:cNvSpPr/>
          <p:nvPr/>
        </p:nvSpPr>
        <p:spPr>
          <a:xfrm>
            <a:off x="952499" y="15302742"/>
            <a:ext cx="34782670" cy="2628562"/>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wrapper classes for char and int, Character and Integer respectively, are the only two that differ in name (other than that first capitalized letter) from their primitive types.</a:t>
            </a:r>
          </a:p>
        </p:txBody>
      </p:sp>
    </p:spTree>
    <p:extLst>
      <p:ext uri="{BB962C8B-B14F-4D97-AF65-F5344CB8AC3E}">
        <p14:creationId xmlns:p14="http://schemas.microsoft.com/office/powerpoint/2010/main" val="1738619531"/>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0"/>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In the code we just reviewed, we were able to use MIN_VALUE, and MAX_VALUE, on the wrapper class Integer.</a:t>
            </a:r>
            <a:endParaRPr/>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a:solidFill>
                <a:srgbClr val="000000"/>
              </a:solidFill>
              <a:latin typeface="Open Sans"/>
              <a:ea typeface="Open Sans"/>
              <a:cs typeface="Open Sans"/>
              <a:sym typeface="Open Sans"/>
            </a:endParaRPr>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a:solidFill>
                <a:srgbClr val="000000"/>
              </a:solidFill>
              <a:latin typeface="Open Sans"/>
              <a:ea typeface="Open Sans"/>
              <a:cs typeface="Open Sans"/>
              <a:sym typeface="Open Sans"/>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To discover the minimum and maximum range of numbers, that can be stored in an int, as we saw when we printed out these values previously:</a:t>
            </a:r>
            <a:endParaRPr/>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a:solidFill>
                <a:srgbClr val="000000"/>
              </a:solidFill>
              <a:latin typeface="Open Sans"/>
              <a:ea typeface="Open Sans"/>
              <a:cs typeface="Open Sans"/>
              <a:sym typeface="Open Sans"/>
            </a:endParaRPr>
          </a:p>
        </p:txBody>
      </p:sp>
      <p:sp>
        <p:nvSpPr>
          <p:cNvPr id="149" name="Google Shape;149;p10"/>
          <p:cNvSpPr/>
          <p:nvPr/>
        </p:nvSpPr>
        <p:spPr>
          <a:xfrm>
            <a:off x="952498" y="459786"/>
            <a:ext cx="17203427"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The Integer Wrapper Class</a:t>
            </a:r>
            <a:endParaRPr/>
          </a:p>
        </p:txBody>
      </p:sp>
      <p:cxnSp>
        <p:nvCxnSpPr>
          <p:cNvPr id="150" name="Google Shape;150;p10"/>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51" name="Google Shape;151;p10"/>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52" name="Google Shape;152;p10"/>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53" name="Google Shape;153;p10"/>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a:t>
            </a:r>
            <a:endParaRPr/>
          </a:p>
        </p:txBody>
      </p:sp>
      <p:pic>
        <p:nvPicPr>
          <p:cNvPr id="154" name="Google Shape;154;p10"/>
          <p:cNvPicPr preferRelativeResize="0"/>
          <p:nvPr/>
        </p:nvPicPr>
        <p:blipFill rotWithShape="1">
          <a:blip r:embed="rId4">
            <a:alphaModFix/>
          </a:blip>
          <a:srcRect/>
          <a:stretch/>
        </p:blipFill>
        <p:spPr>
          <a:xfrm>
            <a:off x="952498" y="6683958"/>
            <a:ext cx="20917337" cy="2310019"/>
          </a:xfrm>
          <a:prstGeom prst="rect">
            <a:avLst/>
          </a:prstGeom>
          <a:noFill/>
          <a:ln>
            <a:noFill/>
          </a:ln>
        </p:spPr>
      </p:pic>
      <p:pic>
        <p:nvPicPr>
          <p:cNvPr id="155" name="Google Shape;155;p10"/>
          <p:cNvPicPr preferRelativeResize="0"/>
          <p:nvPr/>
        </p:nvPicPr>
        <p:blipFill rotWithShape="1">
          <a:blip r:embed="rId5">
            <a:alphaModFix/>
          </a:blip>
          <a:srcRect/>
          <a:stretch/>
        </p:blipFill>
        <p:spPr>
          <a:xfrm>
            <a:off x="952498" y="12919202"/>
            <a:ext cx="25735181" cy="1162233"/>
          </a:xfrm>
          <a:prstGeom prst="rect">
            <a:avLst/>
          </a:prstGeom>
          <a:noFill/>
          <a:ln>
            <a:noFill/>
          </a:ln>
        </p:spPr>
      </p:pic>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1"/>
          <p:cNvSpPr/>
          <p:nvPr/>
        </p:nvSpPr>
        <p:spPr>
          <a:xfrm>
            <a:off x="952498" y="459786"/>
            <a:ext cx="20500805"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Overflow and Underflow in Java</a:t>
            </a:r>
            <a:endParaRPr/>
          </a:p>
        </p:txBody>
      </p:sp>
      <p:cxnSp>
        <p:nvCxnSpPr>
          <p:cNvPr id="161" name="Google Shape;161;p11"/>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62" name="Google Shape;162;p11"/>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63" name="Google Shape;163;p11"/>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64" name="Google Shape;164;p11"/>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a:t>
            </a:r>
            <a:endParaRPr/>
          </a:p>
        </p:txBody>
      </p:sp>
      <p:sp>
        <p:nvSpPr>
          <p:cNvPr id="165" name="Google Shape;165;p11"/>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If you try and put a value larger than the maximum value into an int, you'll create something called an Overflow situation.</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And similarly, if you try to put a value smaller than the minimum value into an int, you cause an Underflow to occur.</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These situations are also known as integer wraparounds.</a:t>
            </a:r>
            <a:endParaRP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2"/>
          <p:cNvSpPr/>
          <p:nvPr/>
        </p:nvSpPr>
        <p:spPr>
          <a:xfrm>
            <a:off x="952498" y="459786"/>
            <a:ext cx="20500805"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Overflow and Underflow in Java</a:t>
            </a:r>
            <a:endParaRPr/>
          </a:p>
        </p:txBody>
      </p:sp>
      <p:cxnSp>
        <p:nvCxnSpPr>
          <p:cNvPr id="171" name="Google Shape;171;p12"/>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72" name="Google Shape;172;p12"/>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73" name="Google Shape;173;p12"/>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74" name="Google Shape;174;p12"/>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a:t>
            </a:r>
            <a:endParaRPr/>
          </a:p>
        </p:txBody>
      </p:sp>
      <p:sp>
        <p:nvSpPr>
          <p:cNvPr id="175" name="Google Shape;175;p12"/>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The maximum value, when it overflows, wraps around to the minimum value, and just continues processing without an error.</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The minimum value, when it underflows, wraps around to the maximum value, and continues processing.</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This is not usually behavior you really want, and as a developer, you need to be aware that this can happen, and choose the appropriate data type.</a:t>
            </a:r>
            <a:endParaRP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3"/>
          <p:cNvSpPr/>
          <p:nvPr/>
        </p:nvSpPr>
        <p:spPr>
          <a:xfrm>
            <a:off x="952498" y="571752"/>
            <a:ext cx="33845804" cy="1631216"/>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9600"/>
              <a:buFont typeface="Open Sans"/>
              <a:buNone/>
            </a:pPr>
            <a:r>
              <a:rPr lang="en-US" sz="9600" b="0" i="0" u="none" strike="noStrike" cap="none">
                <a:solidFill>
                  <a:srgbClr val="000000"/>
                </a:solidFill>
                <a:latin typeface="Open Sans"/>
                <a:ea typeface="Open Sans"/>
                <a:cs typeface="Open Sans"/>
                <a:sym typeface="Open Sans"/>
              </a:rPr>
              <a:t>When will you get an overflow? When will you get an error?</a:t>
            </a:r>
            <a:endParaRPr/>
          </a:p>
        </p:txBody>
      </p:sp>
      <p:cxnSp>
        <p:nvCxnSpPr>
          <p:cNvPr id="181" name="Google Shape;181;p13"/>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82" name="Google Shape;182;p13"/>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83" name="Google Shape;183;p13"/>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84" name="Google Shape;184;p13"/>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a:t>
            </a:r>
            <a:endParaRPr/>
          </a:p>
        </p:txBody>
      </p:sp>
      <p:sp>
        <p:nvSpPr>
          <p:cNvPr id="185" name="Google Shape;185;p13"/>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An integer wraparound event, either an overflow or underflow, can occur in Java when you are using expressions that are not a simple literal value.   </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The Java compiler doesn't attempt to evaluate the expression to determine its value, so it DOES NOT give you an error.</a:t>
            </a:r>
            <a:endParaRP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4"/>
          <p:cNvSpPr/>
          <p:nvPr/>
        </p:nvSpPr>
        <p:spPr>
          <a:xfrm>
            <a:off x="952498" y="571752"/>
            <a:ext cx="33845804" cy="1631216"/>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9600"/>
              <a:buFont typeface="Open Sans"/>
              <a:buNone/>
            </a:pPr>
            <a:r>
              <a:rPr lang="en-US" sz="9600" b="0" i="0" u="none" strike="noStrike" cap="none">
                <a:solidFill>
                  <a:srgbClr val="000000"/>
                </a:solidFill>
                <a:latin typeface="Open Sans"/>
                <a:ea typeface="Open Sans"/>
                <a:cs typeface="Open Sans"/>
                <a:sym typeface="Open Sans"/>
              </a:rPr>
              <a:t>When will you get an overflow? When will you get an error?</a:t>
            </a:r>
            <a:endParaRPr/>
          </a:p>
        </p:txBody>
      </p:sp>
      <p:cxnSp>
        <p:nvCxnSpPr>
          <p:cNvPr id="191" name="Google Shape;191;p14"/>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92" name="Google Shape;192;p14"/>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93" name="Google Shape;193;p14"/>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94" name="Google Shape;194;p14"/>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a:t>
            </a:r>
            <a:endParaRPr/>
          </a:p>
        </p:txBody>
      </p:sp>
      <p:sp>
        <p:nvSpPr>
          <p:cNvPr id="195" name="Google Shape;195;p14"/>
          <p:cNvSpPr/>
          <p:nvPr/>
        </p:nvSpPr>
        <p:spPr>
          <a:xfrm>
            <a:off x="952501" y="4285904"/>
            <a:ext cx="34782670" cy="13645402"/>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Here are two more examples that will compile, and result in an overflow.  The second example may be surprising.  Even though we are using numeric literals in the expression, the compiler still won't try to evaluate this expression, and the code will compile, resulting in an overflow condition.</a:t>
            </a:r>
            <a:endParaRPr dirty="0"/>
          </a:p>
          <a:p>
            <a:pPr marL="0" marR="0" lvl="0" indent="0" algn="l" rtl="0">
              <a:lnSpc>
                <a:spcPct val="90000"/>
              </a:lnSpc>
              <a:spcBef>
                <a:spcPts val="5022"/>
              </a:spcBef>
              <a:spcAft>
                <a:spcPts val="0"/>
              </a:spcAft>
              <a:buClr>
                <a:srgbClr val="000000"/>
              </a:buClr>
              <a:buSzPts val="6400"/>
              <a:buFont typeface="Helvetica Neue Light"/>
              <a:buNone/>
            </a:pPr>
            <a:endParaRPr sz="6400" b="0" i="0" u="none" strike="noStrike" cap="none" dirty="0">
              <a:solidFill>
                <a:srgbClr val="000000"/>
              </a:solidFill>
              <a:latin typeface="Open Sans"/>
              <a:ea typeface="Open Sans"/>
              <a:cs typeface="Open Sans"/>
              <a:sym typeface="Open Sans"/>
            </a:endParaRPr>
          </a:p>
          <a:p>
            <a:pPr marL="0" marR="0" lvl="0" indent="0" algn="l" rtl="0">
              <a:lnSpc>
                <a:spcPct val="90000"/>
              </a:lnSpc>
              <a:spcBef>
                <a:spcPts val="5022"/>
              </a:spcBef>
              <a:spcAft>
                <a:spcPts val="0"/>
              </a:spcAft>
              <a:buClr>
                <a:srgbClr val="000000"/>
              </a:buClr>
              <a:buSzPts val="6400"/>
              <a:buFont typeface="Helvetica Neue Light"/>
              <a:buNone/>
            </a:pPr>
            <a:endParaRPr sz="6400" b="0" i="0" u="none" strike="noStrike" cap="none" dirty="0">
              <a:solidFill>
                <a:srgbClr val="000000"/>
              </a:solidFill>
              <a:latin typeface="Open Sans"/>
              <a:ea typeface="Open Sans"/>
              <a:cs typeface="Open Sans"/>
              <a:sym typeface="Open Sans"/>
            </a:endParaRPr>
          </a:p>
          <a:p>
            <a:pPr marL="0" marR="0" lvl="0" indent="0" algn="l" rtl="0">
              <a:lnSpc>
                <a:spcPct val="9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If you assign a numeric literal value to a data type that is outside of the range, the compiler DOES give you an error.   We looked at a similar example previously.</a:t>
            </a:r>
            <a:endParaRPr dirty="0"/>
          </a:p>
          <a:p>
            <a:pPr marL="0" marR="0" lvl="0" indent="0" algn="l" rtl="0">
              <a:lnSpc>
                <a:spcPct val="90000"/>
              </a:lnSpc>
              <a:spcBef>
                <a:spcPts val="5022"/>
              </a:spcBef>
              <a:spcAft>
                <a:spcPts val="0"/>
              </a:spcAft>
              <a:buClr>
                <a:srgbClr val="000000"/>
              </a:buClr>
              <a:buSzPts val="6400"/>
              <a:buFont typeface="Helvetica Neue Light"/>
              <a:buNone/>
            </a:pPr>
            <a:endParaRPr sz="6400" b="0" i="0" u="none" strike="noStrike" cap="none" dirty="0">
              <a:solidFill>
                <a:srgbClr val="000000"/>
              </a:solidFill>
              <a:latin typeface="Open Sans"/>
              <a:ea typeface="Open Sans"/>
              <a:cs typeface="Open Sans"/>
              <a:sym typeface="Open Sans"/>
            </a:endParaRPr>
          </a:p>
        </p:txBody>
      </p:sp>
      <p:pic>
        <p:nvPicPr>
          <p:cNvPr id="196" name="Google Shape;196;p14"/>
          <p:cNvPicPr preferRelativeResize="0"/>
          <p:nvPr/>
        </p:nvPicPr>
        <p:blipFill rotWithShape="1">
          <a:blip r:embed="rId4">
            <a:alphaModFix/>
          </a:blip>
          <a:srcRect/>
          <a:stretch/>
        </p:blipFill>
        <p:spPr>
          <a:xfrm>
            <a:off x="952498" y="8578165"/>
            <a:ext cx="18185821" cy="941169"/>
          </a:xfrm>
          <a:prstGeom prst="rect">
            <a:avLst/>
          </a:prstGeom>
          <a:noFill/>
          <a:ln>
            <a:noFill/>
          </a:ln>
        </p:spPr>
      </p:pic>
      <p:pic>
        <p:nvPicPr>
          <p:cNvPr id="197" name="Google Shape;197;p14"/>
          <p:cNvPicPr preferRelativeResize="0"/>
          <p:nvPr/>
        </p:nvPicPr>
        <p:blipFill rotWithShape="1">
          <a:blip r:embed="rId5">
            <a:alphaModFix/>
          </a:blip>
          <a:srcRect/>
          <a:stretch/>
        </p:blipFill>
        <p:spPr>
          <a:xfrm>
            <a:off x="952498" y="9600871"/>
            <a:ext cx="15386674" cy="988275"/>
          </a:xfrm>
          <a:prstGeom prst="rect">
            <a:avLst/>
          </a:prstGeom>
          <a:noFill/>
          <a:ln>
            <a:noFill/>
          </a:ln>
        </p:spPr>
      </p:pic>
      <p:pic>
        <p:nvPicPr>
          <p:cNvPr id="198" name="Google Shape;198;p14"/>
          <p:cNvPicPr preferRelativeResize="0"/>
          <p:nvPr/>
        </p:nvPicPr>
        <p:blipFill rotWithShape="1">
          <a:blip r:embed="rId6">
            <a:alphaModFix/>
          </a:blip>
          <a:srcRect/>
          <a:stretch/>
        </p:blipFill>
        <p:spPr>
          <a:xfrm>
            <a:off x="952497" y="13841753"/>
            <a:ext cx="12838148" cy="836946"/>
          </a:xfrm>
          <a:prstGeom prst="rect">
            <a:avLst/>
          </a:prstGeom>
          <a:noFill/>
          <a:ln>
            <a:noFill/>
          </a:ln>
        </p:spPr>
      </p:pic>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5"/>
          <p:cNvSpPr/>
          <p:nvPr/>
        </p:nvSpPr>
        <p:spPr>
          <a:xfrm>
            <a:off x="952498" y="459786"/>
            <a:ext cx="33802523"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What does an underscore mean in a numeric literal?</a:t>
            </a:r>
            <a:endParaRPr/>
          </a:p>
        </p:txBody>
      </p:sp>
      <p:cxnSp>
        <p:nvCxnSpPr>
          <p:cNvPr id="204" name="Google Shape;204;p15"/>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205" name="Google Shape;205;p15"/>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206" name="Google Shape;206;p15"/>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207" name="Google Shape;207;p15"/>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a:t>
            </a:r>
            <a:endParaRPr/>
          </a:p>
        </p:txBody>
      </p:sp>
      <p:sp>
        <p:nvSpPr>
          <p:cNvPr id="208" name="Google Shape;208;p15"/>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In Java, you cannot put commas in a numeric literal.</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For example, the following is not valid syntax.</a:t>
            </a:r>
            <a:endParaRPr dirty="0"/>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dirty="0">
              <a:solidFill>
                <a:srgbClr val="000000"/>
              </a:solidFill>
              <a:latin typeface="Open Sans"/>
              <a:ea typeface="Open Sans"/>
              <a:cs typeface="Open Sans"/>
              <a:sym typeface="Open Sans"/>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So </a:t>
            </a:r>
            <a:r>
              <a:rPr lang="en-US" sz="6400" b="0" i="0" u="none" strike="noStrike" cap="none">
                <a:solidFill>
                  <a:srgbClr val="000000"/>
                </a:solidFill>
                <a:latin typeface="Open Sans"/>
                <a:ea typeface="Open Sans"/>
                <a:cs typeface="Open Sans"/>
                <a:sym typeface="Open Sans"/>
              </a:rPr>
              <a:t>Java provides </a:t>
            </a:r>
            <a:r>
              <a:rPr lang="en-US" sz="6400" b="0" i="0" u="none" strike="noStrike" cap="none" dirty="0">
                <a:solidFill>
                  <a:srgbClr val="000000"/>
                </a:solidFill>
                <a:latin typeface="Open Sans"/>
                <a:ea typeface="Open Sans"/>
                <a:cs typeface="Open Sans"/>
                <a:sym typeface="Open Sans"/>
              </a:rPr>
              <a:t>an alternative way to improve readability, the underscore.</a:t>
            </a:r>
            <a:endParaRPr dirty="0"/>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dirty="0">
              <a:solidFill>
                <a:srgbClr val="000000"/>
              </a:solidFill>
              <a:latin typeface="Open Sans"/>
              <a:ea typeface="Open Sans"/>
              <a:cs typeface="Open Sans"/>
              <a:sym typeface="Open Sans"/>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You can put the underscore anywhere you might want a comma, but you can't use an underscore at the start or end of the numeric literal.</a:t>
            </a:r>
            <a:endParaRPr dirty="0"/>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dirty="0">
              <a:solidFill>
                <a:srgbClr val="000000"/>
              </a:solidFill>
              <a:latin typeface="Open Sans"/>
              <a:ea typeface="Open Sans"/>
              <a:cs typeface="Open Sans"/>
              <a:sym typeface="Open Sans"/>
            </a:endParaRPr>
          </a:p>
        </p:txBody>
      </p:sp>
      <p:pic>
        <p:nvPicPr>
          <p:cNvPr id="209" name="Google Shape;209;p15"/>
          <p:cNvPicPr preferRelativeResize="0"/>
          <p:nvPr/>
        </p:nvPicPr>
        <p:blipFill rotWithShape="1">
          <a:blip r:embed="rId4">
            <a:alphaModFix/>
          </a:blip>
          <a:srcRect/>
          <a:stretch/>
        </p:blipFill>
        <p:spPr>
          <a:xfrm>
            <a:off x="952497" y="7619703"/>
            <a:ext cx="17092907" cy="1060800"/>
          </a:xfrm>
          <a:prstGeom prst="rect">
            <a:avLst/>
          </a:prstGeom>
          <a:noFill/>
          <a:ln>
            <a:noFill/>
          </a:ln>
        </p:spPr>
      </p:pic>
      <p:pic>
        <p:nvPicPr>
          <p:cNvPr id="210" name="Google Shape;210;p15"/>
          <p:cNvPicPr preferRelativeResize="0"/>
          <p:nvPr/>
        </p:nvPicPr>
        <p:blipFill rotWithShape="1">
          <a:blip r:embed="rId5">
            <a:alphaModFix/>
          </a:blip>
          <a:srcRect/>
          <a:stretch/>
        </p:blipFill>
        <p:spPr>
          <a:xfrm>
            <a:off x="952497" y="10772651"/>
            <a:ext cx="17092907" cy="1120847"/>
          </a:xfrm>
          <a:prstGeom prst="rect">
            <a:avLst/>
          </a:prstGeom>
          <a:noFill/>
          <a:ln>
            <a:noFill/>
          </a:ln>
        </p:spPr>
      </p:pic>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
          <p:cNvSpPr/>
          <p:nvPr/>
        </p:nvSpPr>
        <p:spPr>
          <a:xfrm>
            <a:off x="952498" y="459786"/>
            <a:ext cx="8164094"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Introduction</a:t>
            </a:r>
            <a:endParaRPr/>
          </a:p>
        </p:txBody>
      </p:sp>
      <p:cxnSp>
        <p:nvCxnSpPr>
          <p:cNvPr id="56" name="Google Shape;56;p1"/>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57" name="Google Shape;57;p1"/>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58" name="Google Shape;58;p1"/>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59" name="Google Shape;59;p1"/>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byte, short, long and width</a:t>
            </a:r>
            <a:endParaRPr/>
          </a:p>
        </p:txBody>
      </p:sp>
      <p:sp>
        <p:nvSpPr>
          <p:cNvPr id="60" name="Google Shape;60;p1"/>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In the previous video, we saw that Java has eight primitive data types, and that the wrapper classes give us extra options. </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Of these primitive types, half are used to store whole numbers (numbers without a fractional or decimal component), one of which we've explored already, the integer, or the int data type.</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In this video, we'll take a look at the other three whole-number primitive data types.</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2"/>
          <p:cNvSpPr/>
          <p:nvPr/>
        </p:nvSpPr>
        <p:spPr>
          <a:xfrm>
            <a:off x="952498" y="459786"/>
            <a:ext cx="13308130"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byte, short, int, long </a:t>
            </a:r>
            <a:endParaRPr/>
          </a:p>
        </p:txBody>
      </p:sp>
      <p:cxnSp>
        <p:nvCxnSpPr>
          <p:cNvPr id="68" name="Google Shape;68;p2"/>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69" name="Google Shape;69;p2"/>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70" name="Google Shape;70;p2"/>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71" name="Google Shape;71;p2"/>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byte, short, long and width</a:t>
            </a:r>
            <a:endParaRPr/>
          </a:p>
        </p:txBody>
      </p:sp>
      <p:graphicFrame>
        <p:nvGraphicFramePr>
          <p:cNvPr id="9" name="Table 6">
            <a:extLst>
              <a:ext uri="{FF2B5EF4-FFF2-40B4-BE49-F238E27FC236}">
                <a16:creationId xmlns:a16="http://schemas.microsoft.com/office/drawing/2014/main" id="{51232333-C5E4-DEAC-439C-B9FC0F6F43D9}"/>
              </a:ext>
            </a:extLst>
          </p:cNvPr>
          <p:cNvGraphicFramePr>
            <a:graphicFrameLocks noGrp="1"/>
          </p:cNvGraphicFramePr>
          <p:nvPr/>
        </p:nvGraphicFramePr>
        <p:xfrm>
          <a:off x="6438123" y="5111546"/>
          <a:ext cx="23699754" cy="7220745"/>
        </p:xfrm>
        <a:graphic>
          <a:graphicData uri="http://schemas.openxmlformats.org/drawingml/2006/table">
            <a:tbl>
              <a:tblPr firstRow="1" bandRow="1">
                <a:tableStyleId>{5C22544A-7EE6-4342-B048-85BDC9FD1C3A}</a:tableStyleId>
              </a:tblPr>
              <a:tblGrid>
                <a:gridCol w="6139541">
                  <a:extLst>
                    <a:ext uri="{9D8B030D-6E8A-4147-A177-3AD203B41FA5}">
                      <a16:colId xmlns:a16="http://schemas.microsoft.com/office/drawing/2014/main" val="2398957492"/>
                    </a:ext>
                  </a:extLst>
                </a:gridCol>
                <a:gridCol w="7744409">
                  <a:extLst>
                    <a:ext uri="{9D8B030D-6E8A-4147-A177-3AD203B41FA5}">
                      <a16:colId xmlns:a16="http://schemas.microsoft.com/office/drawing/2014/main" val="1725977642"/>
                    </a:ext>
                  </a:extLst>
                </a:gridCol>
                <a:gridCol w="9815804">
                  <a:extLst>
                    <a:ext uri="{9D8B030D-6E8A-4147-A177-3AD203B41FA5}">
                      <a16:colId xmlns:a16="http://schemas.microsoft.com/office/drawing/2014/main" val="3507421177"/>
                    </a:ext>
                  </a:extLst>
                </a:gridCol>
              </a:tblGrid>
              <a:tr h="2129009">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Whole number</a:t>
                      </a:r>
                    </a:p>
                    <a:p>
                      <a:pPr algn="ctr"/>
                      <a:r>
                        <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Data Type</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Wrapper Class</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What’s noteworthy</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1119674">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byte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Byte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Has the smallest range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185887"/>
                  </a:ext>
                </a:extLst>
              </a:tr>
              <a:tr h="1119674">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short</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Short</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7978782"/>
                  </a:ext>
                </a:extLst>
              </a:tr>
              <a:tr h="1119674">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int</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Integer</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Java’s default data type for whole numbers</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5134402"/>
                  </a:ext>
                </a:extLst>
              </a:tr>
              <a:tr h="1119674">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long</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Long</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Has the largest range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9377547"/>
                  </a:ext>
                </a:extLst>
              </a:tr>
            </a:tbl>
          </a:graphicData>
        </a:graphic>
      </p:graphicFrame>
      <p:sp>
        <p:nvSpPr>
          <p:cNvPr id="10" name="Rectangle 9">
            <a:extLst>
              <a:ext uri="{FF2B5EF4-FFF2-40B4-BE49-F238E27FC236}">
                <a16:creationId xmlns:a16="http://schemas.microsoft.com/office/drawing/2014/main" id="{ECA42A4E-124B-5895-D87F-B2C80683109C}"/>
              </a:ext>
            </a:extLst>
          </p:cNvPr>
          <p:cNvSpPr/>
          <p:nvPr/>
        </p:nvSpPr>
        <p:spPr>
          <a:xfrm>
            <a:off x="952501" y="2739359"/>
            <a:ext cx="34782670" cy="2287901"/>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We've previously said that Java has four primitive data types used to store whole numbers, these are the byte, the short, the int, and the long.</a:t>
            </a:r>
          </a:p>
        </p:txBody>
      </p:sp>
      <p:sp>
        <p:nvSpPr>
          <p:cNvPr id="11" name="Rectangle 10">
            <a:extLst>
              <a:ext uri="{FF2B5EF4-FFF2-40B4-BE49-F238E27FC236}">
                <a16:creationId xmlns:a16="http://schemas.microsoft.com/office/drawing/2014/main" id="{4DFAADC9-D8B3-7876-ACEB-283DA0B2ADF7}"/>
              </a:ext>
            </a:extLst>
          </p:cNvPr>
          <p:cNvSpPr/>
          <p:nvPr/>
        </p:nvSpPr>
        <p:spPr>
          <a:xfrm>
            <a:off x="952499" y="12611500"/>
            <a:ext cx="34782670" cy="2287901"/>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They are listed here in this table, by the range of values the type will support, the byte supports the smallest range, and the long supports the largest range.</a:t>
            </a: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3"/>
          <p:cNvSpPr/>
          <p:nvPr/>
        </p:nvSpPr>
        <p:spPr>
          <a:xfrm>
            <a:off x="952498" y="459786"/>
            <a:ext cx="12126718"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The byte data type</a:t>
            </a:r>
            <a:endParaRPr/>
          </a:p>
        </p:txBody>
      </p:sp>
      <p:cxnSp>
        <p:nvCxnSpPr>
          <p:cNvPr id="77" name="Google Shape;77;p3"/>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78" name="Google Shape;78;p3"/>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79" name="Google Shape;79;p3"/>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80" name="Google Shape;80;p3"/>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byte, short, long and width</a:t>
            </a:r>
            <a:endParaRPr/>
          </a:p>
        </p:txBody>
      </p:sp>
      <p:sp>
        <p:nvSpPr>
          <p:cNvPr id="81" name="Google Shape;81;p3"/>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The minimum value of a byte is -128.</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The maximum value of a byte is 127.   </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Given its small range, you probably won't be using the byte data type </a:t>
            </a:r>
            <a:r>
              <a:rPr lang="en-US" sz="6400" b="0" i="0" u="none" strike="noStrike" cap="none">
                <a:solidFill>
                  <a:srgbClr val="000000"/>
                </a:solidFill>
                <a:latin typeface="Open Sans"/>
                <a:ea typeface="Open Sans"/>
                <a:cs typeface="Open Sans"/>
                <a:sym typeface="Open Sans"/>
              </a:rPr>
              <a:t>much.</a:t>
            </a: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The </a:t>
            </a:r>
            <a:r>
              <a:rPr lang="en-US" sz="6400" b="0" i="0" u="none" strike="noStrike" cap="none" dirty="0">
                <a:solidFill>
                  <a:srgbClr val="000000"/>
                </a:solidFill>
                <a:latin typeface="Open Sans"/>
                <a:ea typeface="Open Sans"/>
                <a:cs typeface="Open Sans"/>
                <a:sym typeface="Open Sans"/>
              </a:rPr>
              <a:t>byte wrapper class is the Byte with a capital B.</a:t>
            </a:r>
            <a:endParaRPr dirty="0"/>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4"/>
          <p:cNvSpPr/>
          <p:nvPr/>
        </p:nvSpPr>
        <p:spPr>
          <a:xfrm>
            <a:off x="952498" y="459786"/>
            <a:ext cx="12716623"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The short data type</a:t>
            </a:r>
            <a:endParaRPr/>
          </a:p>
        </p:txBody>
      </p:sp>
      <p:cxnSp>
        <p:nvCxnSpPr>
          <p:cNvPr id="87" name="Google Shape;87;p4"/>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88" name="Google Shape;88;p4"/>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89" name="Google Shape;89;p4"/>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90" name="Google Shape;90;p4"/>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byte, short, long and width</a:t>
            </a:r>
            <a:endParaRPr/>
          </a:p>
        </p:txBody>
      </p:sp>
      <p:sp>
        <p:nvSpPr>
          <p:cNvPr id="91" name="Google Shape;91;p4"/>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The minimum value of a short is -32768.</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The maximum value of a short is 32767.   </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The short wrapper class is the Short with a capital S.</a:t>
            </a:r>
            <a:endParaRPr dirty="0"/>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2655241"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byte and short overflow/underflow</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Kotlin Variables and Datatypes</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Both the byte and the short, have the same overflow and underflow issue as the int data type has, but obviously with their own range of numbers.</a:t>
            </a:r>
          </a:p>
        </p:txBody>
      </p:sp>
    </p:spTree>
    <p:extLst>
      <p:ext uri="{BB962C8B-B14F-4D97-AF65-F5344CB8AC3E}">
        <p14:creationId xmlns:p14="http://schemas.microsoft.com/office/powerpoint/2010/main" val="1827850089"/>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p:nvPr/>
        </p:nvSpPr>
        <p:spPr>
          <a:xfrm>
            <a:off x="952498" y="459786"/>
            <a:ext cx="21531535"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Size of Primitive Types and Width</a:t>
            </a:r>
            <a:endParaRPr/>
          </a:p>
        </p:txBody>
      </p:sp>
      <p:cxnSp>
        <p:nvCxnSpPr>
          <p:cNvPr id="97" name="Google Shape;97;p5"/>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98" name="Google Shape;98;p5"/>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99" name="Google Shape;99;p5"/>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00" name="Google Shape;100;p5"/>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byte, short, long and width</a:t>
            </a:r>
            <a:endParaRPr/>
          </a:p>
        </p:txBody>
      </p:sp>
      <p:sp>
        <p:nvSpPr>
          <p:cNvPr id="11" name="Rectangle 10">
            <a:extLst>
              <a:ext uri="{FF2B5EF4-FFF2-40B4-BE49-F238E27FC236}">
                <a16:creationId xmlns:a16="http://schemas.microsoft.com/office/drawing/2014/main" id="{5E9B1178-C613-EC16-6850-FBB2FE229A73}"/>
              </a:ext>
            </a:extLst>
          </p:cNvPr>
          <p:cNvSpPr/>
          <p:nvPr/>
        </p:nvSpPr>
        <p:spPr>
          <a:xfrm>
            <a:off x="952501" y="2718362"/>
            <a:ext cx="34782670" cy="2185482"/>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Size, or Width, is the amount of space that determines (or limits) the range of values we've been discussing:</a:t>
            </a:r>
          </a:p>
        </p:txBody>
      </p:sp>
      <p:graphicFrame>
        <p:nvGraphicFramePr>
          <p:cNvPr id="13" name="Table 6">
            <a:extLst>
              <a:ext uri="{FF2B5EF4-FFF2-40B4-BE49-F238E27FC236}">
                <a16:creationId xmlns:a16="http://schemas.microsoft.com/office/drawing/2014/main" id="{FBEEDFA6-AD4D-3417-6A32-9E89DCEB066C}"/>
              </a:ext>
            </a:extLst>
          </p:cNvPr>
          <p:cNvGraphicFramePr>
            <a:graphicFrameLocks noGrp="1"/>
          </p:cNvGraphicFramePr>
          <p:nvPr/>
        </p:nvGraphicFramePr>
        <p:xfrm>
          <a:off x="5990251" y="5192810"/>
          <a:ext cx="24464868" cy="5488031"/>
        </p:xfrm>
        <a:graphic>
          <a:graphicData uri="http://schemas.openxmlformats.org/drawingml/2006/table">
            <a:tbl>
              <a:tblPr firstRow="1" bandRow="1">
                <a:tableStyleId>{5C22544A-7EE6-4342-B048-85BDC9FD1C3A}</a:tableStyleId>
              </a:tblPr>
              <a:tblGrid>
                <a:gridCol w="6116217">
                  <a:extLst>
                    <a:ext uri="{9D8B030D-6E8A-4147-A177-3AD203B41FA5}">
                      <a16:colId xmlns:a16="http://schemas.microsoft.com/office/drawing/2014/main" val="1800079401"/>
                    </a:ext>
                  </a:extLst>
                </a:gridCol>
                <a:gridCol w="6116217">
                  <a:extLst>
                    <a:ext uri="{9D8B030D-6E8A-4147-A177-3AD203B41FA5}">
                      <a16:colId xmlns:a16="http://schemas.microsoft.com/office/drawing/2014/main" val="3091589707"/>
                    </a:ext>
                  </a:extLst>
                </a:gridCol>
                <a:gridCol w="6116217">
                  <a:extLst>
                    <a:ext uri="{9D8B030D-6E8A-4147-A177-3AD203B41FA5}">
                      <a16:colId xmlns:a16="http://schemas.microsoft.com/office/drawing/2014/main" val="3507421177"/>
                    </a:ext>
                  </a:extLst>
                </a:gridCol>
                <a:gridCol w="6116217">
                  <a:extLst>
                    <a:ext uri="{9D8B030D-6E8A-4147-A177-3AD203B41FA5}">
                      <a16:colId xmlns:a16="http://schemas.microsoft.com/office/drawing/2014/main" val="587008945"/>
                    </a:ext>
                  </a:extLst>
                </a:gridCol>
              </a:tblGrid>
              <a:tr h="2129009">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Data Type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Width (in bits)</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Min Value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Max Value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1119674">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byte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8</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-128</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127</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185887"/>
                  </a:ext>
                </a:extLst>
              </a:tr>
              <a:tr h="1119674">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short</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16</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-32768</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32767</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7978782"/>
                  </a:ext>
                </a:extLst>
              </a:tr>
              <a:tr h="1119674">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int</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32</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-2147483648</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2147483647</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5134402"/>
                  </a:ext>
                </a:extLst>
              </a:tr>
            </a:tbl>
          </a:graphicData>
        </a:graphic>
      </p:graphicFrame>
      <p:sp>
        <p:nvSpPr>
          <p:cNvPr id="14" name="Rectangle 13">
            <a:extLst>
              <a:ext uri="{FF2B5EF4-FFF2-40B4-BE49-F238E27FC236}">
                <a16:creationId xmlns:a16="http://schemas.microsoft.com/office/drawing/2014/main" id="{3B0C56E1-C416-84E0-8242-56D8D17A7A6A}"/>
              </a:ext>
            </a:extLst>
          </p:cNvPr>
          <p:cNvSpPr/>
          <p:nvPr/>
        </p:nvSpPr>
        <p:spPr>
          <a:xfrm>
            <a:off x="952499" y="10969806"/>
            <a:ext cx="34782670" cy="6961499"/>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byte, can store 256 numbers and occupies eight bits, and has a width of 8.</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short, can store a large range of numbers and occupies 16 bits, and has a width of 16.</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 int, has a much larger range as we know, and occupies 32 bits, and has a width of 32.</a:t>
            </a: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6"/>
          <p:cNvSpPr/>
          <p:nvPr/>
        </p:nvSpPr>
        <p:spPr>
          <a:xfrm>
            <a:off x="952498" y="459786"/>
            <a:ext cx="24979595"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Using a numeric literal character suffix</a:t>
            </a:r>
            <a:endParaRPr/>
          </a:p>
        </p:txBody>
      </p:sp>
      <p:cxnSp>
        <p:nvCxnSpPr>
          <p:cNvPr id="108" name="Google Shape;108;p6"/>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09" name="Google Shape;109;p6"/>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10" name="Google Shape;110;p6"/>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11" name="Google Shape;111;p6"/>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byte, short, long and width</a:t>
            </a:r>
            <a:endParaRPr/>
          </a:p>
        </p:txBody>
      </p:sp>
      <p:sp>
        <p:nvSpPr>
          <p:cNvPr id="112" name="Google Shape;112;p6"/>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The number 100, by default, is an int.</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Java allows certain numeric literals to have a suffix appended to the value, to force it to be a different data type from the default type.</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The long is one of these types and it's suffix is an 'L'. </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This is one of the few instances Java is not case sensitive, a lowercase 'l' or an uppercase 'L' at the end of a whole number mean the same thing – the number is a long.</a:t>
            </a:r>
            <a:endParaRP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7"/>
          <p:cNvSpPr/>
          <p:nvPr/>
        </p:nvSpPr>
        <p:spPr>
          <a:xfrm>
            <a:off x="952498" y="459786"/>
            <a:ext cx="33845804"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How big is the difference between an int and a long?</a:t>
            </a:r>
            <a:endParaRPr/>
          </a:p>
        </p:txBody>
      </p:sp>
      <p:cxnSp>
        <p:nvCxnSpPr>
          <p:cNvPr id="118" name="Google Shape;118;p7"/>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19" name="Google Shape;119;p7"/>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20" name="Google Shape;120;p7"/>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21" name="Google Shape;121;p7"/>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byte, short, long and width</a:t>
            </a:r>
            <a:endParaRPr/>
          </a:p>
        </p:txBody>
      </p:sp>
      <p:sp>
        <p:nvSpPr>
          <p:cNvPr id="9" name="Rectangle 8">
            <a:extLst>
              <a:ext uri="{FF2B5EF4-FFF2-40B4-BE49-F238E27FC236}">
                <a16:creationId xmlns:a16="http://schemas.microsoft.com/office/drawing/2014/main" id="{5F1505C5-476B-8185-0E14-F27E49F0DEC5}"/>
              </a:ext>
            </a:extLst>
          </p:cNvPr>
          <p:cNvSpPr/>
          <p:nvPr/>
        </p:nvSpPr>
        <p:spPr>
          <a:xfrm>
            <a:off x="952501" y="4285904"/>
            <a:ext cx="34782670" cy="2860533"/>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How big is the difference,  in the range of values that a long can store, compared to the int?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can see, from this table, that the difference is quite significant.</a:t>
            </a:r>
          </a:p>
        </p:txBody>
      </p:sp>
      <p:graphicFrame>
        <p:nvGraphicFramePr>
          <p:cNvPr id="11" name="Table 6">
            <a:extLst>
              <a:ext uri="{FF2B5EF4-FFF2-40B4-BE49-F238E27FC236}">
                <a16:creationId xmlns:a16="http://schemas.microsoft.com/office/drawing/2014/main" id="{2DB86B5F-E073-367D-2E90-B9B68C932C8B}"/>
              </a:ext>
            </a:extLst>
          </p:cNvPr>
          <p:cNvGraphicFramePr>
            <a:graphicFrameLocks noGrp="1"/>
          </p:cNvGraphicFramePr>
          <p:nvPr/>
        </p:nvGraphicFramePr>
        <p:xfrm>
          <a:off x="4534677" y="7425646"/>
          <a:ext cx="28495690" cy="4368357"/>
        </p:xfrm>
        <a:graphic>
          <a:graphicData uri="http://schemas.openxmlformats.org/drawingml/2006/table">
            <a:tbl>
              <a:tblPr firstRow="1" bandRow="1">
                <a:tableStyleId>{5C22544A-7EE6-4342-B048-85BDC9FD1C3A}</a:tableStyleId>
              </a:tblPr>
              <a:tblGrid>
                <a:gridCol w="4441372">
                  <a:extLst>
                    <a:ext uri="{9D8B030D-6E8A-4147-A177-3AD203B41FA5}">
                      <a16:colId xmlns:a16="http://schemas.microsoft.com/office/drawing/2014/main" val="1800079401"/>
                    </a:ext>
                  </a:extLst>
                </a:gridCol>
                <a:gridCol w="5169159">
                  <a:extLst>
                    <a:ext uri="{9D8B030D-6E8A-4147-A177-3AD203B41FA5}">
                      <a16:colId xmlns:a16="http://schemas.microsoft.com/office/drawing/2014/main" val="3091589707"/>
                    </a:ext>
                  </a:extLst>
                </a:gridCol>
                <a:gridCol w="9461241">
                  <a:extLst>
                    <a:ext uri="{9D8B030D-6E8A-4147-A177-3AD203B41FA5}">
                      <a16:colId xmlns:a16="http://schemas.microsoft.com/office/drawing/2014/main" val="3507421177"/>
                    </a:ext>
                  </a:extLst>
                </a:gridCol>
                <a:gridCol w="9423918">
                  <a:extLst>
                    <a:ext uri="{9D8B030D-6E8A-4147-A177-3AD203B41FA5}">
                      <a16:colId xmlns:a16="http://schemas.microsoft.com/office/drawing/2014/main" val="587008945"/>
                    </a:ext>
                  </a:extLst>
                </a:gridCol>
              </a:tblGrid>
              <a:tr h="2129009">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Data Type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Width (in bits)</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Min Value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Max Value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1119674">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int</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32</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-2147483648</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2147483647</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185887"/>
                  </a:ext>
                </a:extLst>
              </a:tr>
              <a:tr h="1119674">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long</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64</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-9223372036854775808</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9223372036854775807</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7978782"/>
                  </a:ext>
                </a:extLst>
              </a:tr>
            </a:tbl>
          </a:graphicData>
        </a:graphic>
      </p:graphicFrame>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8"/>
          <p:cNvSpPr/>
          <p:nvPr/>
        </p:nvSpPr>
        <p:spPr>
          <a:xfrm>
            <a:off x="952498" y="459786"/>
            <a:ext cx="12897762"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When is L required?</a:t>
            </a:r>
            <a:endParaRPr/>
          </a:p>
        </p:txBody>
      </p:sp>
      <p:cxnSp>
        <p:nvCxnSpPr>
          <p:cNvPr id="129" name="Google Shape;129;p8"/>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30" name="Google Shape;130;p8"/>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31" name="Google Shape;131;p8"/>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32" name="Google Shape;132;p8"/>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byte, short, long and width</a:t>
            </a:r>
            <a:endParaRPr/>
          </a:p>
        </p:txBody>
      </p:sp>
      <p:sp>
        <p:nvSpPr>
          <p:cNvPr id="133" name="Google Shape;133;p8"/>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A numeric literal that exceeds Integer.MAX_VALUE must use the 'L' suffix.</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We cannot create a numeric literal in Java, that exceeds Integer.MAX_VALUE, without using the 'L' suffix, we'll always get the error  'integer number too large'.</a:t>
            </a:r>
            <a:endParaRP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8164094"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Introduction</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Casting in Java</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the last video, I introduced you to three new data types. The byte, the short, and the long.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video, we'll be using these additional types in some basic arithmetic.</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We've already done some math, using integers, but now, we'll be using these other data types.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We'll finish the video with a discussion about casting, which is a way to get Java to treat a variable of one type like a different data type.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I'll talk about when and why casting is sometimes necessary in Java code.</a:t>
            </a:r>
          </a:p>
        </p:txBody>
      </p:sp>
    </p:spTree>
    <p:extLst>
      <p:ext uri="{BB962C8B-B14F-4D97-AF65-F5344CB8AC3E}">
        <p14:creationId xmlns:p14="http://schemas.microsoft.com/office/powerpoint/2010/main" val="3363929532"/>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35317361"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Rules for declaring multiple variables in one statement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Casting in Java</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You cannot declare variables with different data types in a single statement.</a:t>
            </a:r>
          </a:p>
          <a:p>
            <a:pPr marL="85725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If you declare multiple variables of the same data type in a single statement, you must specify the data type only once before any variable names.</a:t>
            </a:r>
          </a:p>
        </p:txBody>
      </p:sp>
    </p:spTree>
    <p:extLst>
      <p:ext uri="{BB962C8B-B14F-4D97-AF65-F5344CB8AC3E}">
        <p14:creationId xmlns:p14="http://schemas.microsoft.com/office/powerpoint/2010/main" val="4113667416"/>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764586"/>
            <a:ext cx="34224113" cy="1461939"/>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8500" dirty="0">
                <a:latin typeface="Open Sans" panose="020B0606030504020204" pitchFamily="34" charset="0"/>
                <a:ea typeface="Open Sans" panose="020B0606030504020204" pitchFamily="34" charset="0"/>
                <a:cs typeface="Open Sans" panose="020B0606030504020204" pitchFamily="34" charset="0"/>
              </a:rPr>
              <a:t>Assigning expressions to variables with data types that don't match</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Casting in Java</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Java compiler does not attempt to evaluate the value, in a variable, when it's used in a calculation, so it doesn't know if the value fits, and throws an error.</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your calculation uses literal values, Java can figure out the end result at compile time, and whether it fits into the variable, and won't throw an error if it does.</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both examples, an int result is being returned from the calculation, but in the second example, Java knows the returned value can fit into a byte.</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pic>
        <p:nvPicPr>
          <p:cNvPr id="3" name="Picture 2">
            <a:extLst>
              <a:ext uri="{FF2B5EF4-FFF2-40B4-BE49-F238E27FC236}">
                <a16:creationId xmlns:a16="http://schemas.microsoft.com/office/drawing/2014/main" id="{8F2EE09B-C9C4-7D31-ED4C-A5DDF7C6BD03}"/>
              </a:ext>
            </a:extLst>
          </p:cNvPr>
          <p:cNvPicPr>
            <a:picLocks noChangeAspect="1"/>
          </p:cNvPicPr>
          <p:nvPr/>
        </p:nvPicPr>
        <p:blipFill>
          <a:blip r:embed="rId4"/>
          <a:stretch>
            <a:fillRect/>
          </a:stretch>
        </p:blipFill>
        <p:spPr>
          <a:xfrm>
            <a:off x="952498" y="6781867"/>
            <a:ext cx="24345902" cy="1179218"/>
          </a:xfrm>
          <a:prstGeom prst="rect">
            <a:avLst/>
          </a:prstGeom>
        </p:spPr>
      </p:pic>
      <p:pic>
        <p:nvPicPr>
          <p:cNvPr id="5" name="Picture 4">
            <a:extLst>
              <a:ext uri="{FF2B5EF4-FFF2-40B4-BE49-F238E27FC236}">
                <a16:creationId xmlns:a16="http://schemas.microsoft.com/office/drawing/2014/main" id="{946BFE0D-8C10-DC2C-D54C-E5DA3D3E8CB6}"/>
              </a:ext>
            </a:extLst>
          </p:cNvPr>
          <p:cNvPicPr>
            <a:picLocks noChangeAspect="1"/>
          </p:cNvPicPr>
          <p:nvPr/>
        </p:nvPicPr>
        <p:blipFill>
          <a:blip r:embed="rId5"/>
          <a:stretch>
            <a:fillRect/>
          </a:stretch>
        </p:blipFill>
        <p:spPr>
          <a:xfrm>
            <a:off x="952498" y="10989030"/>
            <a:ext cx="18824206" cy="1228735"/>
          </a:xfrm>
          <a:prstGeom prst="rect">
            <a:avLst/>
          </a:prstGeom>
        </p:spPr>
      </p:pic>
    </p:spTree>
    <p:extLst>
      <p:ext uri="{BB962C8B-B14F-4D97-AF65-F5344CB8AC3E}">
        <p14:creationId xmlns:p14="http://schemas.microsoft.com/office/powerpoint/2010/main" val="4065461128"/>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9432069"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Casting in Java</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Casting in Java</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Casting means to treat or convert a number, from one type to another. We put the type we want the number to be, in parentheses like this:</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Other languages have casting too, this is common practice and not just a Java thing.</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pic>
        <p:nvPicPr>
          <p:cNvPr id="3" name="Picture 2">
            <a:extLst>
              <a:ext uri="{FF2B5EF4-FFF2-40B4-BE49-F238E27FC236}">
                <a16:creationId xmlns:a16="http://schemas.microsoft.com/office/drawing/2014/main" id="{E1877EB2-433D-8FCD-538D-7FDB06A5F35B}"/>
              </a:ext>
            </a:extLst>
          </p:cNvPr>
          <p:cNvPicPr>
            <a:picLocks noChangeAspect="1"/>
          </p:cNvPicPr>
          <p:nvPr/>
        </p:nvPicPr>
        <p:blipFill>
          <a:blip r:embed="rId4"/>
          <a:stretch>
            <a:fillRect/>
          </a:stretch>
        </p:blipFill>
        <p:spPr>
          <a:xfrm>
            <a:off x="952796" y="6748170"/>
            <a:ext cx="15359175" cy="1238260"/>
          </a:xfrm>
          <a:prstGeom prst="rect">
            <a:avLst/>
          </a:prstGeom>
        </p:spPr>
      </p:pic>
    </p:spTree>
    <p:extLst>
      <p:ext uri="{BB962C8B-B14F-4D97-AF65-F5344CB8AC3E}">
        <p14:creationId xmlns:p14="http://schemas.microsoft.com/office/powerpoint/2010/main" val="624315658"/>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683720"/>
            <a:ext cx="34334720" cy="1569660"/>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9200" dirty="0">
                <a:latin typeface="Open Sans" panose="020B0606030504020204" pitchFamily="34" charset="0"/>
                <a:ea typeface="Open Sans" panose="020B0606030504020204" pitchFamily="34" charset="0"/>
                <a:cs typeface="Open Sans" panose="020B0606030504020204" pitchFamily="34" charset="0"/>
              </a:rPr>
              <a:t> What does it mean when Java defaults the data type to an int?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Casting in Java</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So, what effect does int, being the default value, have on our code?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Looking at the scenarios we just looked at in summary, we know the following:</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statement works because the result is an int, and assigning it to an int variable is fine.</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statement doesn't work, because the expression (</a:t>
            </a:r>
            <a:r>
              <a:rPr lang="en-US" sz="6400" dirty="0" err="1">
                <a:latin typeface="Open Sans" panose="020B0606030504020204" pitchFamily="34" charset="0"/>
                <a:ea typeface="Open Sans" panose="020B0606030504020204" pitchFamily="34" charset="0"/>
                <a:cs typeface="Open Sans" panose="020B0606030504020204" pitchFamily="34" charset="0"/>
              </a:rPr>
              <a:t>myMinShortValue</a:t>
            </a:r>
            <a:r>
              <a:rPr lang="en-US" sz="6400" dirty="0">
                <a:latin typeface="Open Sans" panose="020B0606030504020204" pitchFamily="34" charset="0"/>
                <a:ea typeface="Open Sans" panose="020B0606030504020204" pitchFamily="34" charset="0"/>
                <a:cs typeface="Open Sans" panose="020B0606030504020204" pitchFamily="34" charset="0"/>
              </a:rPr>
              <a:t> / 2) is an int, and an int can't be assigned to a short, because the compiler won't guess the result.</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pic>
        <p:nvPicPr>
          <p:cNvPr id="4" name="Picture 3">
            <a:extLst>
              <a:ext uri="{FF2B5EF4-FFF2-40B4-BE49-F238E27FC236}">
                <a16:creationId xmlns:a16="http://schemas.microsoft.com/office/drawing/2014/main" id="{CAFBA21C-687E-F6B9-4A5B-A7E97FFB82D7}"/>
              </a:ext>
            </a:extLst>
          </p:cNvPr>
          <p:cNvPicPr>
            <a:picLocks noChangeAspect="1"/>
          </p:cNvPicPr>
          <p:nvPr/>
        </p:nvPicPr>
        <p:blipFill>
          <a:blip r:embed="rId4"/>
          <a:stretch>
            <a:fillRect/>
          </a:stretch>
        </p:blipFill>
        <p:spPr>
          <a:xfrm>
            <a:off x="952498" y="9130607"/>
            <a:ext cx="18716760" cy="1095385"/>
          </a:xfrm>
          <a:prstGeom prst="rect">
            <a:avLst/>
          </a:prstGeom>
        </p:spPr>
      </p:pic>
      <p:pic>
        <p:nvPicPr>
          <p:cNvPr id="6" name="Picture 5">
            <a:extLst>
              <a:ext uri="{FF2B5EF4-FFF2-40B4-BE49-F238E27FC236}">
                <a16:creationId xmlns:a16="http://schemas.microsoft.com/office/drawing/2014/main" id="{DE58528E-68DE-D89B-77F0-FFBD25843771}"/>
              </a:ext>
            </a:extLst>
          </p:cNvPr>
          <p:cNvPicPr>
            <a:picLocks noChangeAspect="1"/>
          </p:cNvPicPr>
          <p:nvPr/>
        </p:nvPicPr>
        <p:blipFill>
          <a:blip r:embed="rId5"/>
          <a:stretch>
            <a:fillRect/>
          </a:stretch>
        </p:blipFill>
        <p:spPr>
          <a:xfrm>
            <a:off x="952498" y="13611031"/>
            <a:ext cx="25193810" cy="1214445"/>
          </a:xfrm>
          <a:prstGeom prst="rect">
            <a:avLst/>
          </a:prstGeom>
        </p:spPr>
      </p:pic>
    </p:spTree>
    <p:extLst>
      <p:ext uri="{BB962C8B-B14F-4D97-AF65-F5344CB8AC3E}">
        <p14:creationId xmlns:p14="http://schemas.microsoft.com/office/powerpoint/2010/main" val="466552814"/>
      </p:ext>
    </p:extLst>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683720"/>
            <a:ext cx="34334720" cy="1569660"/>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9200" dirty="0">
                <a:latin typeface="Open Sans" panose="020B0606030504020204" pitchFamily="34" charset="0"/>
                <a:ea typeface="Open Sans" panose="020B0606030504020204" pitchFamily="34" charset="0"/>
                <a:cs typeface="Open Sans" panose="020B0606030504020204" pitchFamily="34" charset="0"/>
              </a:rPr>
              <a:t> What does it mean when Java defaults the data type to an int?</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Casting in Java</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statement works, because the result of (-128 / 2) is an int, but when calculations use only literal values, the compiler can determine the result immediately, and knows the value fits into a short.</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And finally, this code works because we tell the compiler we know what we're doing by using this cast, and the compiler doesn't give an error.</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pic>
        <p:nvPicPr>
          <p:cNvPr id="3" name="Picture 2">
            <a:extLst>
              <a:ext uri="{FF2B5EF4-FFF2-40B4-BE49-F238E27FC236}">
                <a16:creationId xmlns:a16="http://schemas.microsoft.com/office/drawing/2014/main" id="{6F874F0B-049B-0232-1AC2-DD6CC74AD17E}"/>
              </a:ext>
            </a:extLst>
          </p:cNvPr>
          <p:cNvPicPr>
            <a:picLocks noChangeAspect="1"/>
          </p:cNvPicPr>
          <p:nvPr/>
        </p:nvPicPr>
        <p:blipFill>
          <a:blip r:embed="rId4"/>
          <a:stretch>
            <a:fillRect/>
          </a:stretch>
        </p:blipFill>
        <p:spPr>
          <a:xfrm>
            <a:off x="952498" y="7634769"/>
            <a:ext cx="19264455" cy="1214445"/>
          </a:xfrm>
          <a:prstGeom prst="rect">
            <a:avLst/>
          </a:prstGeom>
        </p:spPr>
      </p:pic>
      <p:pic>
        <p:nvPicPr>
          <p:cNvPr id="7" name="Picture 6">
            <a:extLst>
              <a:ext uri="{FF2B5EF4-FFF2-40B4-BE49-F238E27FC236}">
                <a16:creationId xmlns:a16="http://schemas.microsoft.com/office/drawing/2014/main" id="{50C9873D-50AD-B457-C380-5E78706DF106}"/>
              </a:ext>
            </a:extLst>
          </p:cNvPr>
          <p:cNvPicPr>
            <a:picLocks noChangeAspect="1"/>
          </p:cNvPicPr>
          <p:nvPr/>
        </p:nvPicPr>
        <p:blipFill>
          <a:blip r:embed="rId5"/>
          <a:stretch>
            <a:fillRect/>
          </a:stretch>
        </p:blipFill>
        <p:spPr>
          <a:xfrm>
            <a:off x="952498" y="11888517"/>
            <a:ext cx="29646780" cy="1238260"/>
          </a:xfrm>
          <a:prstGeom prst="rect">
            <a:avLst/>
          </a:prstGeom>
        </p:spPr>
      </p:pic>
    </p:spTree>
    <p:extLst>
      <p:ext uri="{BB962C8B-B14F-4D97-AF65-F5344CB8AC3E}">
        <p14:creationId xmlns:p14="http://schemas.microsoft.com/office/powerpoint/2010/main" val="1312595492"/>
      </p:ext>
    </p:extLst>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6682452"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Primitive Types Challenge</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Primitive Types Challenge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Your challenge is to create four new variables:</a:t>
            </a:r>
          </a:p>
          <a:p>
            <a:pPr marL="193680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A </a:t>
            </a:r>
            <a:r>
              <a:rPr lang="en-US" sz="6400" b="1" dirty="0">
                <a:latin typeface="Open Sans" panose="020B0606030504020204" pitchFamily="34" charset="0"/>
                <a:ea typeface="Open Sans" panose="020B0606030504020204" pitchFamily="34" charset="0"/>
                <a:cs typeface="Open Sans" panose="020B0606030504020204" pitchFamily="34" charset="0"/>
              </a:rPr>
              <a:t>byte</a:t>
            </a:r>
            <a:r>
              <a:rPr lang="en-US" sz="6400" dirty="0">
                <a:latin typeface="Open Sans" panose="020B0606030504020204" pitchFamily="34" charset="0"/>
                <a:ea typeface="Open Sans" panose="020B0606030504020204" pitchFamily="34" charset="0"/>
                <a:cs typeface="Open Sans" panose="020B0606030504020204" pitchFamily="34" charset="0"/>
              </a:rPr>
              <a:t> variable, set it to any valid </a:t>
            </a:r>
            <a:r>
              <a:rPr lang="en-US" sz="6400" b="1" dirty="0">
                <a:latin typeface="Open Sans" panose="020B0606030504020204" pitchFamily="34" charset="0"/>
                <a:ea typeface="Open Sans" panose="020B0606030504020204" pitchFamily="34" charset="0"/>
                <a:cs typeface="Open Sans" panose="020B0606030504020204" pitchFamily="34" charset="0"/>
              </a:rPr>
              <a:t>byte</a:t>
            </a:r>
            <a:r>
              <a:rPr lang="en-US" sz="6400" dirty="0">
                <a:latin typeface="Open Sans" panose="020B0606030504020204" pitchFamily="34" charset="0"/>
                <a:ea typeface="Open Sans" panose="020B0606030504020204" pitchFamily="34" charset="0"/>
                <a:cs typeface="Open Sans" panose="020B0606030504020204" pitchFamily="34" charset="0"/>
              </a:rPr>
              <a:t> number, it doesn't matter. </a:t>
            </a:r>
          </a:p>
          <a:p>
            <a:pPr marL="193680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A </a:t>
            </a:r>
            <a:r>
              <a:rPr lang="en-US" sz="6400" b="1" dirty="0">
                <a:latin typeface="Open Sans" panose="020B0606030504020204" pitchFamily="34" charset="0"/>
                <a:ea typeface="Open Sans" panose="020B0606030504020204" pitchFamily="34" charset="0"/>
                <a:cs typeface="Open Sans" panose="020B0606030504020204" pitchFamily="34" charset="0"/>
              </a:rPr>
              <a:t>short</a:t>
            </a:r>
            <a:r>
              <a:rPr lang="en-US" sz="6400" dirty="0">
                <a:latin typeface="Open Sans" panose="020B0606030504020204" pitchFamily="34" charset="0"/>
                <a:ea typeface="Open Sans" panose="020B0606030504020204" pitchFamily="34" charset="0"/>
                <a:cs typeface="Open Sans" panose="020B0606030504020204" pitchFamily="34" charset="0"/>
              </a:rPr>
              <a:t> variable, set it to any valid </a:t>
            </a:r>
            <a:r>
              <a:rPr lang="en-US" sz="6400" b="1" dirty="0">
                <a:latin typeface="Open Sans" panose="020B0606030504020204" pitchFamily="34" charset="0"/>
                <a:ea typeface="Open Sans" panose="020B0606030504020204" pitchFamily="34" charset="0"/>
                <a:cs typeface="Open Sans" panose="020B0606030504020204" pitchFamily="34" charset="0"/>
              </a:rPr>
              <a:t>short</a:t>
            </a:r>
            <a:r>
              <a:rPr lang="en-US" sz="6400" dirty="0">
                <a:latin typeface="Open Sans" panose="020B0606030504020204" pitchFamily="34" charset="0"/>
                <a:ea typeface="Open Sans" panose="020B0606030504020204" pitchFamily="34" charset="0"/>
                <a:cs typeface="Open Sans" panose="020B0606030504020204" pitchFamily="34" charset="0"/>
              </a:rPr>
              <a:t> number.</a:t>
            </a:r>
          </a:p>
          <a:p>
            <a:pPr marL="193680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An </a:t>
            </a:r>
            <a:r>
              <a:rPr lang="en-US" sz="6400" b="1" dirty="0">
                <a:latin typeface="Open Sans" panose="020B0606030504020204" pitchFamily="34" charset="0"/>
                <a:ea typeface="Open Sans" panose="020B0606030504020204" pitchFamily="34" charset="0"/>
                <a:cs typeface="Open Sans" panose="020B0606030504020204" pitchFamily="34" charset="0"/>
              </a:rPr>
              <a:t>int</a:t>
            </a:r>
            <a:r>
              <a:rPr lang="en-US" sz="6400" dirty="0">
                <a:latin typeface="Open Sans" panose="020B0606030504020204" pitchFamily="34" charset="0"/>
                <a:ea typeface="Open Sans" panose="020B0606030504020204" pitchFamily="34" charset="0"/>
                <a:cs typeface="Open Sans" panose="020B0606030504020204" pitchFamily="34" charset="0"/>
              </a:rPr>
              <a:t> variable,  set it to any valid </a:t>
            </a:r>
            <a:r>
              <a:rPr lang="en-US" sz="6400" b="1" dirty="0">
                <a:latin typeface="Open Sans" panose="020B0606030504020204" pitchFamily="34" charset="0"/>
                <a:ea typeface="Open Sans" panose="020B0606030504020204" pitchFamily="34" charset="0"/>
                <a:cs typeface="Open Sans" panose="020B0606030504020204" pitchFamily="34" charset="0"/>
              </a:rPr>
              <a:t>integer</a:t>
            </a:r>
            <a:r>
              <a:rPr lang="en-US" sz="6400" dirty="0">
                <a:latin typeface="Open Sans" panose="020B0606030504020204" pitchFamily="34" charset="0"/>
                <a:ea typeface="Open Sans" panose="020B0606030504020204" pitchFamily="34" charset="0"/>
                <a:cs typeface="Open Sans" panose="020B0606030504020204" pitchFamily="34" charset="0"/>
              </a:rPr>
              <a:t> number.</a:t>
            </a:r>
          </a:p>
          <a:p>
            <a:pPr marL="1936800" indent="-857250" algn="l">
              <a:spcAft>
                <a:spcPts val="5022"/>
              </a:spcAft>
              <a:buFont typeface="Arial" panose="020B0604020202020204" pitchFamily="34" charset="0"/>
              <a:buChar char="•"/>
            </a:pPr>
            <a:r>
              <a:rPr lang="en-US" sz="6400" dirty="0">
                <a:latin typeface="Open Sans" panose="020B0606030504020204" pitchFamily="34" charset="0"/>
                <a:ea typeface="Open Sans" panose="020B0606030504020204" pitchFamily="34" charset="0"/>
                <a:cs typeface="Open Sans" panose="020B0606030504020204" pitchFamily="34" charset="0"/>
              </a:rPr>
              <a:t>Lastly, create a variable of type </a:t>
            </a:r>
            <a:r>
              <a:rPr lang="en-US" sz="6400" b="1" dirty="0">
                <a:latin typeface="Open Sans" panose="020B0606030504020204" pitchFamily="34" charset="0"/>
                <a:ea typeface="Open Sans" panose="020B0606030504020204" pitchFamily="34" charset="0"/>
                <a:cs typeface="Open Sans" panose="020B0606030504020204" pitchFamily="34" charset="0"/>
              </a:rPr>
              <a:t>long</a:t>
            </a:r>
            <a:r>
              <a:rPr lang="en-US" sz="6400" dirty="0">
                <a:latin typeface="Open Sans" panose="020B0606030504020204" pitchFamily="34" charset="0"/>
                <a:ea typeface="Open Sans" panose="020B0606030504020204" pitchFamily="34" charset="0"/>
                <a:cs typeface="Open Sans" panose="020B0606030504020204" pitchFamily="34" charset="0"/>
              </a:rPr>
              <a:t>. Make it equal to 50,000 plus 10 times the sum of the </a:t>
            </a:r>
            <a:r>
              <a:rPr lang="en-US" sz="6400" b="1" dirty="0">
                <a:latin typeface="Open Sans" panose="020B0606030504020204" pitchFamily="34" charset="0"/>
                <a:ea typeface="Open Sans" panose="020B0606030504020204" pitchFamily="34" charset="0"/>
                <a:cs typeface="Open Sans" panose="020B0606030504020204" pitchFamily="34" charset="0"/>
              </a:rPr>
              <a:t>values of the first 3 variables (your byte, your short and your int values).  In other words, use the variable names in your expression to calculate the sum</a:t>
            </a:r>
            <a:r>
              <a:rPr lang="en-US" sz="6400" dirty="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880263878"/>
      </p:ext>
    </p:extLst>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2152366"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Using Parentheses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Primitive Types Challenge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Parentheses are another way to make your code more readable.</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They also make it clear which calculation should be done first.</a:t>
            </a:r>
          </a:p>
        </p:txBody>
      </p:sp>
      <p:pic>
        <p:nvPicPr>
          <p:cNvPr id="3" name="Picture 2">
            <a:extLst>
              <a:ext uri="{FF2B5EF4-FFF2-40B4-BE49-F238E27FC236}">
                <a16:creationId xmlns:a16="http://schemas.microsoft.com/office/drawing/2014/main" id="{27C1EEEE-039C-E166-438E-43581BE8F7A9}"/>
              </a:ext>
            </a:extLst>
          </p:cNvPr>
          <p:cNvPicPr>
            <a:picLocks noChangeAspect="1"/>
          </p:cNvPicPr>
          <p:nvPr/>
        </p:nvPicPr>
        <p:blipFill>
          <a:blip r:embed="rId4"/>
          <a:stretch>
            <a:fillRect/>
          </a:stretch>
        </p:blipFill>
        <p:spPr>
          <a:xfrm>
            <a:off x="952498" y="5759125"/>
            <a:ext cx="21431405" cy="1238260"/>
          </a:xfrm>
          <a:prstGeom prst="rect">
            <a:avLst/>
          </a:prstGeom>
        </p:spPr>
      </p:pic>
    </p:spTree>
    <p:extLst>
      <p:ext uri="{BB962C8B-B14F-4D97-AF65-F5344CB8AC3E}">
        <p14:creationId xmlns:p14="http://schemas.microsoft.com/office/powerpoint/2010/main" val="3403099496"/>
      </p:ext>
    </p:extLst>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4065215"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Recap</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Primitive Types Challenge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So that's it, for bytes, shorts, integers and longs, which are the first four primitive types in Java's list of available types.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still have four left to go.</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the next video, we are going to start talking about decimal numbers, because, of course, we've only been dealing with whole numbers up until now. </a:t>
            </a:r>
          </a:p>
        </p:txBody>
      </p:sp>
    </p:spTree>
    <p:extLst>
      <p:ext uri="{BB962C8B-B14F-4D97-AF65-F5344CB8AC3E}">
        <p14:creationId xmlns:p14="http://schemas.microsoft.com/office/powerpoint/2010/main" val="1267195029"/>
      </p:ext>
    </p:extLst>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
          <p:cNvSpPr/>
          <p:nvPr/>
        </p:nvSpPr>
        <p:spPr>
          <a:xfrm>
            <a:off x="952498" y="459786"/>
            <a:ext cx="15488214"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Floating-point Numbers</a:t>
            </a:r>
            <a:endParaRPr/>
          </a:p>
        </p:txBody>
      </p:sp>
      <p:cxnSp>
        <p:nvCxnSpPr>
          <p:cNvPr id="56" name="Google Shape;56;p1"/>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57" name="Google Shape;57;p1"/>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58" name="Google Shape;58;p1"/>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59" name="Google Shape;59;p1"/>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Float and Double Primitives</a:t>
            </a:r>
            <a:endParaRPr/>
          </a:p>
        </p:txBody>
      </p:sp>
      <p:graphicFrame>
        <p:nvGraphicFramePr>
          <p:cNvPr id="9" name="Table 6">
            <a:extLst>
              <a:ext uri="{FF2B5EF4-FFF2-40B4-BE49-F238E27FC236}">
                <a16:creationId xmlns:a16="http://schemas.microsoft.com/office/drawing/2014/main" id="{5AAA8B92-D1F1-3851-D6F8-06B2C79EE729}"/>
              </a:ext>
            </a:extLst>
          </p:cNvPr>
          <p:cNvGraphicFramePr>
            <a:graphicFrameLocks noGrp="1"/>
          </p:cNvGraphicFramePr>
          <p:nvPr/>
        </p:nvGraphicFramePr>
        <p:xfrm>
          <a:off x="7557797" y="9259086"/>
          <a:ext cx="21460407" cy="5488031"/>
        </p:xfrm>
        <a:graphic>
          <a:graphicData uri="http://schemas.openxmlformats.org/drawingml/2006/table">
            <a:tbl>
              <a:tblPr firstRow="1" bandRow="1">
                <a:tableStyleId>{5C22544A-7EE6-4342-B048-85BDC9FD1C3A}</a:tableStyleId>
              </a:tblPr>
              <a:tblGrid>
                <a:gridCol w="9489882">
                  <a:extLst>
                    <a:ext uri="{9D8B030D-6E8A-4147-A177-3AD203B41FA5}">
                      <a16:colId xmlns:a16="http://schemas.microsoft.com/office/drawing/2014/main" val="2398957492"/>
                    </a:ext>
                  </a:extLst>
                </a:gridCol>
                <a:gridCol w="11970525">
                  <a:extLst>
                    <a:ext uri="{9D8B030D-6E8A-4147-A177-3AD203B41FA5}">
                      <a16:colId xmlns:a16="http://schemas.microsoft.com/office/drawing/2014/main" val="1725977642"/>
                    </a:ext>
                  </a:extLst>
                </a:gridCol>
              </a:tblGrid>
              <a:tr h="2129009">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Whole number</a:t>
                      </a:r>
                    </a:p>
                    <a:p>
                      <a:pPr algn="ctr"/>
                      <a:r>
                        <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Examples</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Floating Point Examples</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1119674">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3</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3.14159</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185887"/>
                  </a:ext>
                </a:extLst>
              </a:tr>
              <a:tr h="1119674">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100000</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10.0</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7978782"/>
                  </a:ext>
                </a:extLst>
              </a:tr>
              <a:tr h="1119674">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-2147483649L</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-0.666666666666666667</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5134402"/>
                  </a:ext>
                </a:extLst>
              </a:tr>
            </a:tbl>
          </a:graphicData>
        </a:graphic>
      </p:graphicFrame>
      <p:sp>
        <p:nvSpPr>
          <p:cNvPr id="10" name="Rectangle 9">
            <a:extLst>
              <a:ext uri="{FF2B5EF4-FFF2-40B4-BE49-F238E27FC236}">
                <a16:creationId xmlns:a16="http://schemas.microsoft.com/office/drawing/2014/main" id="{273B8356-8358-AA96-4194-CD043A0DBBD5}"/>
              </a:ext>
            </a:extLst>
          </p:cNvPr>
          <p:cNvSpPr/>
          <p:nvPr/>
        </p:nvSpPr>
        <p:spPr>
          <a:xfrm>
            <a:off x="952501" y="4285904"/>
            <a:ext cx="34782670" cy="4693973"/>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Unlike whole numbers, floating-point numbers have fractional parts that we express with a decimal point.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table, you can see some examples of both whole numbers and floating point numbers, in comparison.</a:t>
            </a:r>
          </a:p>
        </p:txBody>
      </p:sp>
      <p:sp>
        <p:nvSpPr>
          <p:cNvPr id="12" name="Rectangle 11">
            <a:extLst>
              <a:ext uri="{FF2B5EF4-FFF2-40B4-BE49-F238E27FC236}">
                <a16:creationId xmlns:a16="http://schemas.microsoft.com/office/drawing/2014/main" id="{342864C7-4316-652B-350F-0946411E6386}"/>
              </a:ext>
            </a:extLst>
          </p:cNvPr>
          <p:cNvSpPr/>
          <p:nvPr/>
        </p:nvSpPr>
        <p:spPr>
          <a:xfrm>
            <a:off x="952499" y="15044549"/>
            <a:ext cx="34782670" cy="1308047"/>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Floating-point numbers are also known as real numbers.</a:t>
            </a:r>
          </a:p>
        </p:txBody>
      </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8" name="Google Shape;68;p2"/>
          <p:cNvSpPr/>
          <p:nvPr/>
        </p:nvSpPr>
        <p:spPr>
          <a:xfrm>
            <a:off x="952498" y="459786"/>
            <a:ext cx="22336243"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Floating-point Number Data Types</a:t>
            </a:r>
            <a:endParaRPr/>
          </a:p>
        </p:txBody>
      </p:sp>
      <p:cxnSp>
        <p:nvCxnSpPr>
          <p:cNvPr id="69" name="Google Shape;69;p2"/>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70" name="Google Shape;70;p2"/>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71" name="Google Shape;71;p2"/>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72" name="Google Shape;72;p2"/>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Float and Double Primitives</a:t>
            </a:r>
            <a:endParaRPr/>
          </a:p>
        </p:txBody>
      </p:sp>
      <p:sp>
        <p:nvSpPr>
          <p:cNvPr id="9" name="Rectangle 8">
            <a:extLst>
              <a:ext uri="{FF2B5EF4-FFF2-40B4-BE49-F238E27FC236}">
                <a16:creationId xmlns:a16="http://schemas.microsoft.com/office/drawing/2014/main" id="{476DE89D-6083-D706-8BF3-33B794E81393}"/>
              </a:ext>
            </a:extLst>
          </p:cNvPr>
          <p:cNvSpPr/>
          <p:nvPr/>
        </p:nvSpPr>
        <p:spPr>
          <a:xfrm>
            <a:off x="952501" y="4285904"/>
            <a:ext cx="34782670" cy="3718139"/>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We use a floating-point number when we need more precision in calculations.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There are two primitive types in Java for expressing floating-point numbers, the float and the double.</a:t>
            </a:r>
          </a:p>
        </p:txBody>
      </p:sp>
      <p:graphicFrame>
        <p:nvGraphicFramePr>
          <p:cNvPr id="10" name="Table 6">
            <a:extLst>
              <a:ext uri="{FF2B5EF4-FFF2-40B4-BE49-F238E27FC236}">
                <a16:creationId xmlns:a16="http://schemas.microsoft.com/office/drawing/2014/main" id="{886B5329-ADDE-4D15-829E-11283F9685AA}"/>
              </a:ext>
            </a:extLst>
          </p:cNvPr>
          <p:cNvGraphicFramePr>
            <a:graphicFrameLocks noGrp="1"/>
          </p:cNvGraphicFramePr>
          <p:nvPr/>
        </p:nvGraphicFramePr>
        <p:xfrm>
          <a:off x="12670972" y="8188324"/>
          <a:ext cx="11234056" cy="7741575"/>
        </p:xfrm>
        <a:graphic>
          <a:graphicData uri="http://schemas.openxmlformats.org/drawingml/2006/table">
            <a:tbl>
              <a:tblPr firstRow="1" bandRow="1">
                <a:tableStyleId>{5C22544A-7EE6-4342-B048-85BDC9FD1C3A}</a:tableStyleId>
              </a:tblPr>
              <a:tblGrid>
                <a:gridCol w="11234056">
                  <a:extLst>
                    <a:ext uri="{9D8B030D-6E8A-4147-A177-3AD203B41FA5}">
                      <a16:colId xmlns:a16="http://schemas.microsoft.com/office/drawing/2014/main" val="2398957492"/>
                    </a:ext>
                  </a:extLst>
                </a:gridCol>
              </a:tblGrid>
              <a:tr h="2866862">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Java’s Data Types</a:t>
                      </a:r>
                    </a:p>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For Floating Point Numbers</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4874713">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float</a:t>
                      </a:r>
                    </a:p>
                    <a:p>
                      <a:pPr algn="ctr"/>
                      <a:r>
                        <a:rPr lang="en-PH"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double</a:t>
                      </a:r>
                    </a:p>
                    <a:p>
                      <a:pPr algn="ct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algn="ctr"/>
                      <a:r>
                        <a:rPr lang="en-PH" sz="4800" i="1" dirty="0">
                          <a:solidFill>
                            <a:schemeClr val="tx1"/>
                          </a:solidFill>
                          <a:latin typeface="Open Sans" panose="020B0606030504020204" pitchFamily="34" charset="0"/>
                          <a:ea typeface="Open Sans" panose="020B0606030504020204" pitchFamily="34" charset="0"/>
                          <a:cs typeface="Open Sans" panose="020B0606030504020204" pitchFamily="34" charset="0"/>
                        </a:rPr>
                        <a:t>The double is Java’s default type for any decimal or real number</a:t>
                      </a:r>
                    </a:p>
                  </a:txBody>
                  <a:tcPr marL="86794" marR="86794" marT="43397" marB="43397" anchor="b">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185887"/>
                  </a:ext>
                </a:extLst>
              </a:tr>
            </a:tbl>
          </a:graphicData>
        </a:graphic>
      </p:graphicFrame>
      <p:sp>
        <p:nvSpPr>
          <p:cNvPr id="12" name="Rectangle 11">
            <a:extLst>
              <a:ext uri="{FF2B5EF4-FFF2-40B4-BE49-F238E27FC236}">
                <a16:creationId xmlns:a16="http://schemas.microsoft.com/office/drawing/2014/main" id="{9835AB20-C6B1-D2B3-1DFB-C2732A11A99F}"/>
              </a:ext>
            </a:extLst>
          </p:cNvPr>
          <p:cNvSpPr/>
          <p:nvPr/>
        </p:nvSpPr>
        <p:spPr>
          <a:xfrm>
            <a:off x="952499" y="16388048"/>
            <a:ext cx="34782670" cy="1308049"/>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double is Java's default type for any decimal or real number.</a:t>
            </a: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3"/>
          <p:cNvSpPr/>
          <p:nvPr/>
        </p:nvSpPr>
        <p:spPr>
          <a:xfrm>
            <a:off x="952498" y="459786"/>
            <a:ext cx="18104315"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Single and Double Precision</a:t>
            </a:r>
            <a:endParaRPr/>
          </a:p>
        </p:txBody>
      </p:sp>
      <p:cxnSp>
        <p:nvCxnSpPr>
          <p:cNvPr id="78" name="Google Shape;78;p3"/>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79" name="Google Shape;79;p3"/>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80" name="Google Shape;80;p3"/>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81" name="Google Shape;81;p3"/>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Float and Double Primitives</a:t>
            </a:r>
            <a:endParaRPr/>
          </a:p>
        </p:txBody>
      </p:sp>
      <p:sp>
        <p:nvSpPr>
          <p:cNvPr id="9" name="Rectangle 8">
            <a:extLst>
              <a:ext uri="{FF2B5EF4-FFF2-40B4-BE49-F238E27FC236}">
                <a16:creationId xmlns:a16="http://schemas.microsoft.com/office/drawing/2014/main" id="{07FF2B64-19B2-BA60-0C43-AF04F486D010}"/>
              </a:ext>
            </a:extLst>
          </p:cNvPr>
          <p:cNvSpPr/>
          <p:nvPr/>
        </p:nvSpPr>
        <p:spPr>
          <a:xfrm>
            <a:off x="952501" y="2817849"/>
            <a:ext cx="34782670" cy="4310739"/>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Precision refers to the format and amount of space occupied by the relevant type.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table shows the width of each of the floating point types and their ranges.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ranges are shown in Java's scientific notation, which we show below in blue color.</a:t>
            </a:r>
          </a:p>
        </p:txBody>
      </p:sp>
      <p:graphicFrame>
        <p:nvGraphicFramePr>
          <p:cNvPr id="11" name="Table 6">
            <a:extLst>
              <a:ext uri="{FF2B5EF4-FFF2-40B4-BE49-F238E27FC236}">
                <a16:creationId xmlns:a16="http://schemas.microsoft.com/office/drawing/2014/main" id="{F6A9C737-0844-375C-5A44-85C9433873BF}"/>
              </a:ext>
            </a:extLst>
          </p:cNvPr>
          <p:cNvGraphicFramePr>
            <a:graphicFrameLocks noGrp="1"/>
          </p:cNvGraphicFramePr>
          <p:nvPr/>
        </p:nvGraphicFramePr>
        <p:xfrm>
          <a:off x="3405674" y="7704964"/>
          <a:ext cx="29764652" cy="5166543"/>
        </p:xfrm>
        <a:graphic>
          <a:graphicData uri="http://schemas.openxmlformats.org/drawingml/2006/table">
            <a:tbl>
              <a:tblPr firstRow="1" bandRow="1">
                <a:tableStyleId>{5C22544A-7EE6-4342-B048-85BDC9FD1C3A}</a:tableStyleId>
              </a:tblPr>
              <a:tblGrid>
                <a:gridCol w="4702629">
                  <a:extLst>
                    <a:ext uri="{9D8B030D-6E8A-4147-A177-3AD203B41FA5}">
                      <a16:colId xmlns:a16="http://schemas.microsoft.com/office/drawing/2014/main" val="2398957492"/>
                    </a:ext>
                  </a:extLst>
                </a:gridCol>
                <a:gridCol w="5318449">
                  <a:extLst>
                    <a:ext uri="{9D8B030D-6E8A-4147-A177-3AD203B41FA5}">
                      <a16:colId xmlns:a16="http://schemas.microsoft.com/office/drawing/2014/main" val="1725977642"/>
                    </a:ext>
                  </a:extLst>
                </a:gridCol>
                <a:gridCol w="6941975">
                  <a:extLst>
                    <a:ext uri="{9D8B030D-6E8A-4147-A177-3AD203B41FA5}">
                      <a16:colId xmlns:a16="http://schemas.microsoft.com/office/drawing/2014/main" val="675956227"/>
                    </a:ext>
                  </a:extLst>
                </a:gridCol>
                <a:gridCol w="12801599">
                  <a:extLst>
                    <a:ext uri="{9D8B030D-6E8A-4147-A177-3AD203B41FA5}">
                      <a16:colId xmlns:a16="http://schemas.microsoft.com/office/drawing/2014/main" val="702070219"/>
                    </a:ext>
                  </a:extLst>
                </a:gridCol>
              </a:tblGrid>
              <a:tr h="1886905">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Data Type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Width (in bits)</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Min Value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Max Value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1639819">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float</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32</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1.4</a:t>
                      </a:r>
                      <a:r>
                        <a:rPr lang="en-US" sz="5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E-45</a:t>
                      </a:r>
                      <a:endParaRPr lang="en-PH" sz="5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3.4028235</a:t>
                      </a:r>
                      <a:r>
                        <a:rPr lang="en-US" sz="5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E38</a:t>
                      </a:r>
                      <a:endParaRPr lang="en-PH" sz="5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185887"/>
                  </a:ext>
                </a:extLst>
              </a:tr>
              <a:tr h="1639819">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double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64</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4.9</a:t>
                      </a:r>
                      <a:r>
                        <a:rPr lang="en-US" sz="5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E-324</a:t>
                      </a:r>
                      <a:endParaRPr lang="en-PH" sz="5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1.7976931348623157</a:t>
                      </a:r>
                      <a:r>
                        <a:rPr lang="en-US" sz="5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E308</a:t>
                      </a:r>
                      <a:endParaRPr lang="en-PH" sz="5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7978782"/>
                  </a:ext>
                </a:extLst>
              </a:tr>
            </a:tbl>
          </a:graphicData>
        </a:graphic>
      </p:graphicFrame>
      <p:sp>
        <p:nvSpPr>
          <p:cNvPr id="12" name="Rectangle 11">
            <a:extLst>
              <a:ext uri="{FF2B5EF4-FFF2-40B4-BE49-F238E27FC236}">
                <a16:creationId xmlns:a16="http://schemas.microsoft.com/office/drawing/2014/main" id="{3FB2FAEE-D3BA-2597-4D77-8BB833557CB7}"/>
              </a:ext>
            </a:extLst>
          </p:cNvPr>
          <p:cNvSpPr/>
          <p:nvPr/>
        </p:nvSpPr>
        <p:spPr>
          <a:xfrm>
            <a:off x="952497" y="13445413"/>
            <a:ext cx="34782670" cy="1233607"/>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can see the e-notation followed by either a positive or negative number.</a:t>
            </a:r>
          </a:p>
        </p:txBody>
      </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9" name="Google Shape;89;p4"/>
          <p:cNvSpPr/>
          <p:nvPr/>
        </p:nvSpPr>
        <p:spPr>
          <a:xfrm>
            <a:off x="952498" y="459786"/>
            <a:ext cx="15828051"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Java's Scientific Notation</a:t>
            </a:r>
            <a:endParaRPr/>
          </a:p>
        </p:txBody>
      </p:sp>
      <p:cxnSp>
        <p:nvCxnSpPr>
          <p:cNvPr id="90" name="Google Shape;90;p4"/>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91" name="Google Shape;91;p4"/>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92" name="Google Shape;92;p4"/>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93" name="Google Shape;93;p4"/>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Float and Double Primitives</a:t>
            </a:r>
            <a:endParaRPr/>
          </a:p>
        </p:txBody>
      </p:sp>
      <p:sp>
        <p:nvSpPr>
          <p:cNvPr id="10" name="Rectangle 9">
            <a:extLst>
              <a:ext uri="{FF2B5EF4-FFF2-40B4-BE49-F238E27FC236}">
                <a16:creationId xmlns:a16="http://schemas.microsoft.com/office/drawing/2014/main" id="{BE9C1639-8C6F-9E84-F740-6E82D2D8E87D}"/>
              </a:ext>
            </a:extLst>
          </p:cNvPr>
          <p:cNvSpPr/>
          <p:nvPr/>
        </p:nvSpPr>
        <p:spPr>
          <a:xfrm>
            <a:off x="952501" y="4285904"/>
            <a:ext cx="34782670" cy="3757084"/>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Scientific notation can be translated into more familiar terms, by replacing the 'E' in the number, with the phrase 'times 10 to the power of’.</a:t>
            </a:r>
          </a:p>
          <a:p>
            <a:pPr algn="l">
              <a:spcAft>
                <a:spcPts val="5022"/>
              </a:spcAft>
            </a:pPr>
            <a:r>
              <a:rPr kumimoji="0" lang="en-US" sz="6400" b="0" i="0" u="none" strike="noStrike" kern="0" cap="none" spc="0" normalizeH="0" baseline="0" noProof="0" dirty="0">
                <a:ln>
                  <a:noFill/>
                </a:ln>
                <a:solidFill>
                  <a:srgbClr val="000000"/>
                </a:solidFill>
                <a:effectLst/>
                <a:uLnTx/>
                <a:uFillTx/>
                <a:latin typeface="Open Sans"/>
                <a:ea typeface="Open Sans"/>
                <a:cs typeface="Open Sans"/>
                <a:sym typeface="Open Sans"/>
              </a:rPr>
              <a:t>1.4</a:t>
            </a:r>
            <a:r>
              <a:rPr kumimoji="0" lang="en-US" sz="6400" b="0" i="0" u="none" strike="noStrike" kern="0" cap="none" spc="0" normalizeH="0" baseline="0" noProof="0" dirty="0">
                <a:ln>
                  <a:noFill/>
                </a:ln>
                <a:solidFill>
                  <a:srgbClr val="0365C0"/>
                </a:solidFill>
                <a:effectLst/>
                <a:uLnTx/>
                <a:uFillTx/>
                <a:latin typeface="Open Sans"/>
                <a:ea typeface="Open Sans"/>
                <a:cs typeface="Open Sans"/>
                <a:sym typeface="Open Sans"/>
              </a:rPr>
              <a:t>E-45</a:t>
            </a:r>
            <a:r>
              <a:rPr kumimoji="0" lang="en-US" sz="6400" b="0" i="0" u="none" strike="noStrike" kern="0" cap="none" spc="0" normalizeH="0" baseline="0" noProof="0" dirty="0">
                <a:ln>
                  <a:noFill/>
                </a:ln>
                <a:solidFill>
                  <a:srgbClr val="000000"/>
                </a:solidFill>
                <a:effectLst/>
                <a:uLnTx/>
                <a:uFillTx/>
                <a:latin typeface="Open Sans"/>
                <a:ea typeface="Open Sans"/>
                <a:cs typeface="Open Sans"/>
                <a:sym typeface="Open Sans"/>
              </a:rPr>
              <a:t> is the same as </a:t>
            </a:r>
            <a:r>
              <a:rPr kumimoji="0" lang="en-US" sz="6400" b="0" i="0" u="none" strike="noStrike" kern="0" cap="none" spc="0" normalizeH="0" baseline="0" noProof="0" dirty="0">
                <a:ln>
                  <a:noFill/>
                </a:ln>
                <a:solidFill>
                  <a:srgbClr val="FF0000"/>
                </a:solidFill>
                <a:effectLst/>
                <a:uLnTx/>
                <a:uFillTx/>
                <a:latin typeface="Open Sans"/>
                <a:ea typeface="Open Sans"/>
                <a:cs typeface="Open Sans"/>
                <a:sym typeface="Open Sans"/>
              </a:rPr>
              <a:t>1.4 x 10</a:t>
            </a:r>
            <a:r>
              <a:rPr kumimoji="0" lang="en-US" sz="4800" b="0" i="0" u="none" strike="noStrike" kern="0" cap="none" spc="0" normalizeH="0" baseline="30000" noProof="0" dirty="0">
                <a:ln>
                  <a:noFill/>
                </a:ln>
                <a:solidFill>
                  <a:srgbClr val="FF0000"/>
                </a:solidFill>
                <a:effectLst/>
                <a:uLnTx/>
                <a:uFillTx/>
                <a:latin typeface="Open Sans"/>
                <a:ea typeface="Open Sans"/>
                <a:cs typeface="Open Sans"/>
                <a:sym typeface="Open Sans"/>
              </a:rPr>
              <a:t>-45</a:t>
            </a:r>
            <a:r>
              <a:rPr kumimoji="0" lang="en-US" sz="6400" b="0" i="0" u="none" strike="noStrike" kern="0" cap="none" spc="0" normalizeH="0" baseline="0" noProof="0" dirty="0">
                <a:ln>
                  <a:noFill/>
                </a:ln>
                <a:solidFill>
                  <a:srgbClr val="000000"/>
                </a:solidFill>
                <a:effectLst/>
                <a:uLnTx/>
                <a:uFillTx/>
                <a:latin typeface="Open Sans"/>
                <a:ea typeface="Open Sans"/>
                <a:cs typeface="Open Sans"/>
                <a:sym typeface="Open Sans"/>
              </a:rPr>
              <a:t> and 3.4</a:t>
            </a:r>
            <a:r>
              <a:rPr kumimoji="0" lang="en-US" sz="6400" b="0" i="0" u="none" strike="noStrike" kern="0" cap="none" spc="0" normalizeH="0" baseline="0" noProof="0" dirty="0">
                <a:ln>
                  <a:noFill/>
                </a:ln>
                <a:solidFill>
                  <a:srgbClr val="0365C0"/>
                </a:solidFill>
                <a:effectLst/>
                <a:uLnTx/>
                <a:uFillTx/>
                <a:latin typeface="Open Sans"/>
                <a:ea typeface="Open Sans"/>
                <a:cs typeface="Open Sans"/>
                <a:sym typeface="Open Sans"/>
              </a:rPr>
              <a:t>E38</a:t>
            </a:r>
            <a:r>
              <a:rPr kumimoji="0" lang="en-US" sz="6400" b="0" i="0" u="none" strike="noStrike" kern="0" cap="none" spc="0" normalizeH="0" baseline="0" noProof="0" dirty="0">
                <a:ln>
                  <a:noFill/>
                </a:ln>
                <a:solidFill>
                  <a:srgbClr val="000000"/>
                </a:solidFill>
                <a:effectLst/>
                <a:uLnTx/>
                <a:uFillTx/>
                <a:latin typeface="Open Sans"/>
                <a:ea typeface="Open Sans"/>
                <a:cs typeface="Open Sans"/>
                <a:sym typeface="Open Sans"/>
              </a:rPr>
              <a:t> is the same as </a:t>
            </a:r>
            <a:r>
              <a:rPr kumimoji="0" lang="en-US" sz="6400" b="0" i="0" u="none" strike="noStrike" kern="0" cap="none" spc="0" normalizeH="0" baseline="0" noProof="0" dirty="0">
                <a:ln>
                  <a:noFill/>
                </a:ln>
                <a:solidFill>
                  <a:srgbClr val="FF0000"/>
                </a:solidFill>
                <a:effectLst/>
                <a:uLnTx/>
                <a:uFillTx/>
                <a:latin typeface="Open Sans"/>
                <a:ea typeface="Open Sans"/>
                <a:cs typeface="Open Sans"/>
                <a:sym typeface="Open Sans"/>
              </a:rPr>
              <a:t>3.4 x 10</a:t>
            </a:r>
            <a:r>
              <a:rPr kumimoji="0" lang="en-US" sz="4800" b="0" i="0" u="none" strike="noStrike" kern="0" cap="none" spc="0" normalizeH="0" baseline="30000" noProof="0" dirty="0">
                <a:ln>
                  <a:noFill/>
                </a:ln>
                <a:solidFill>
                  <a:srgbClr val="FF0000"/>
                </a:solidFill>
                <a:effectLst/>
                <a:uLnTx/>
                <a:uFillTx/>
                <a:latin typeface="Open Sans"/>
                <a:ea typeface="Open Sans"/>
                <a:cs typeface="Open Sans"/>
                <a:sym typeface="Open Sans"/>
              </a:rPr>
              <a:t>38</a:t>
            </a:r>
            <a:endParaRPr lang="en-US" sz="6400" dirty="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11" name="Table 6">
            <a:extLst>
              <a:ext uri="{FF2B5EF4-FFF2-40B4-BE49-F238E27FC236}">
                <a16:creationId xmlns:a16="http://schemas.microsoft.com/office/drawing/2014/main" id="{68CA759F-77AF-E069-ADBE-4A17AD1C23A3}"/>
              </a:ext>
            </a:extLst>
          </p:cNvPr>
          <p:cNvGraphicFramePr>
            <a:graphicFrameLocks noGrp="1"/>
          </p:cNvGraphicFramePr>
          <p:nvPr/>
        </p:nvGraphicFramePr>
        <p:xfrm>
          <a:off x="6064899" y="8322197"/>
          <a:ext cx="24446203" cy="3232379"/>
        </p:xfrm>
        <a:graphic>
          <a:graphicData uri="http://schemas.openxmlformats.org/drawingml/2006/table">
            <a:tbl>
              <a:tblPr firstRow="1" bandRow="1">
                <a:tableStyleId>{5C22544A-7EE6-4342-B048-85BDC9FD1C3A}</a:tableStyleId>
              </a:tblPr>
              <a:tblGrid>
                <a:gridCol w="4702629">
                  <a:extLst>
                    <a:ext uri="{9D8B030D-6E8A-4147-A177-3AD203B41FA5}">
                      <a16:colId xmlns:a16="http://schemas.microsoft.com/office/drawing/2014/main" val="2398957492"/>
                    </a:ext>
                  </a:extLst>
                </a:gridCol>
                <a:gridCol w="6941975">
                  <a:extLst>
                    <a:ext uri="{9D8B030D-6E8A-4147-A177-3AD203B41FA5}">
                      <a16:colId xmlns:a16="http://schemas.microsoft.com/office/drawing/2014/main" val="675956227"/>
                    </a:ext>
                  </a:extLst>
                </a:gridCol>
                <a:gridCol w="12801599">
                  <a:extLst>
                    <a:ext uri="{9D8B030D-6E8A-4147-A177-3AD203B41FA5}">
                      <a16:colId xmlns:a16="http://schemas.microsoft.com/office/drawing/2014/main" val="702070219"/>
                    </a:ext>
                  </a:extLst>
                </a:gridCol>
              </a:tblGrid>
              <a:tr h="1592560">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Data Type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Min Value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Max Value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1639819">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float</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1.4</a:t>
                      </a:r>
                      <a:r>
                        <a:rPr lang="en-US" sz="5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E-45</a:t>
                      </a:r>
                      <a:endParaRPr lang="en-PH" sz="5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3.4028235</a:t>
                      </a:r>
                      <a:r>
                        <a:rPr lang="en-US" sz="5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E38</a:t>
                      </a:r>
                      <a:endParaRPr lang="en-PH" sz="5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185887"/>
                  </a:ext>
                </a:extLst>
              </a:tr>
            </a:tbl>
          </a:graphicData>
        </a:graphic>
      </p:graphicFrame>
      <p:sp>
        <p:nvSpPr>
          <p:cNvPr id="13" name="Rectangle 12">
            <a:extLst>
              <a:ext uri="{FF2B5EF4-FFF2-40B4-BE49-F238E27FC236}">
                <a16:creationId xmlns:a16="http://schemas.microsoft.com/office/drawing/2014/main" id="{38953FA5-086C-4040-1E6F-5BCD9B22A9FD}"/>
              </a:ext>
            </a:extLst>
          </p:cNvPr>
          <p:cNvSpPr/>
          <p:nvPr/>
        </p:nvSpPr>
        <p:spPr>
          <a:xfrm>
            <a:off x="952499" y="11833785"/>
            <a:ext cx="34782670" cy="2218113"/>
          </a:xfrm>
          <a:prstGeom prst="rect">
            <a:avLst/>
          </a:prstGeom>
        </p:spPr>
        <p:txBody>
          <a:bodyPr wrap="square">
            <a:normAutofit/>
          </a:bodyPr>
          <a:lstStyle/>
          <a:p>
            <a:pPr marL="0" marR="0" lvl="0" indent="0" algn="l" defTabSz="914400" rtl="0" eaLnBrk="1" fontAlgn="auto" latinLnBrk="0" hangingPunct="1">
              <a:lnSpc>
                <a:spcPct val="100000"/>
              </a:lnSpc>
              <a:spcBef>
                <a:spcPts val="5022"/>
              </a:spcBef>
              <a:spcAft>
                <a:spcPts val="0"/>
              </a:spcAft>
              <a:buClr>
                <a:srgbClr val="000000"/>
              </a:buClr>
              <a:buSzPts val="6400"/>
              <a:buFont typeface="Open Sans"/>
              <a:buNone/>
              <a:tabLst/>
              <a:defRPr/>
            </a:pPr>
            <a:r>
              <a:rPr kumimoji="0" lang="en-US" sz="6400" b="0" i="0" u="none" strike="noStrike" kern="0" cap="none" spc="0" normalizeH="0" baseline="0" noProof="0" dirty="0">
                <a:ln>
                  <a:noFill/>
                </a:ln>
                <a:solidFill>
                  <a:srgbClr val="000000"/>
                </a:solidFill>
                <a:effectLst/>
                <a:uLnTx/>
                <a:uFillTx/>
                <a:latin typeface="Open Sans"/>
                <a:ea typeface="Open Sans"/>
                <a:cs typeface="Open Sans"/>
                <a:sym typeface="Open Sans"/>
              </a:rPr>
              <a:t>So we can say, the minimum value of a float is 1.4 * 10</a:t>
            </a:r>
            <a:r>
              <a:rPr kumimoji="0" lang="en-US" sz="4800" b="0" i="0" u="none" strike="noStrike" kern="0" cap="none" spc="0" normalizeH="0" baseline="30000" noProof="0" dirty="0">
                <a:ln>
                  <a:noFill/>
                </a:ln>
                <a:solidFill>
                  <a:srgbClr val="000000"/>
                </a:solidFill>
                <a:effectLst/>
                <a:uLnTx/>
                <a:uFillTx/>
                <a:latin typeface="Open Sans"/>
                <a:ea typeface="Open Sans"/>
                <a:cs typeface="Open Sans"/>
                <a:sym typeface="Open Sans"/>
              </a:rPr>
              <a:t>-45</a:t>
            </a:r>
            <a:r>
              <a:rPr kumimoji="0" lang="en-US" sz="6400" b="0" i="0" u="none" strike="noStrike" kern="0" cap="none" spc="0" normalizeH="0" baseline="0" noProof="0" dirty="0">
                <a:ln>
                  <a:noFill/>
                </a:ln>
                <a:solidFill>
                  <a:srgbClr val="000000"/>
                </a:solidFill>
                <a:effectLst/>
                <a:uLnTx/>
                <a:uFillTx/>
                <a:latin typeface="Open Sans"/>
                <a:ea typeface="Open Sans"/>
                <a:cs typeface="Open Sans"/>
                <a:sym typeface="Open Sans"/>
              </a:rPr>
              <a:t> and its maximum value is approximately 3.4 * 10</a:t>
            </a:r>
            <a:r>
              <a:rPr kumimoji="0" lang="en-US" sz="4800" b="0" i="0" u="none" strike="noStrike" kern="0" cap="none" spc="0" normalizeH="0" baseline="30000" noProof="0" dirty="0">
                <a:ln>
                  <a:noFill/>
                </a:ln>
                <a:solidFill>
                  <a:srgbClr val="000000"/>
                </a:solidFill>
                <a:effectLst/>
                <a:uLnTx/>
                <a:uFillTx/>
                <a:latin typeface="Open Sans"/>
                <a:ea typeface="Open Sans"/>
                <a:cs typeface="Open Sans"/>
                <a:sym typeface="Open Sans"/>
              </a:rPr>
              <a:t>38</a:t>
            </a:r>
            <a:r>
              <a:rPr kumimoji="0" lang="en-US" sz="4800" b="0" i="0" u="none" strike="noStrike" kern="0" cap="none" spc="0" normalizeH="0" baseline="0" noProof="0" dirty="0">
                <a:ln>
                  <a:noFill/>
                </a:ln>
                <a:solidFill>
                  <a:srgbClr val="000000"/>
                </a:solidFill>
                <a:effectLst/>
                <a:uLnTx/>
                <a:uFillTx/>
                <a:latin typeface="Open Sans"/>
                <a:ea typeface="Open Sans"/>
                <a:cs typeface="Open Sans"/>
                <a:sym typeface="Open Sans"/>
              </a:rPr>
              <a:t>.</a:t>
            </a:r>
            <a:endParaRPr kumimoji="0" lang="en-US" sz="6400" b="0" i="0" u="none" strike="noStrike" kern="0" cap="none" spc="0" normalizeH="0" baseline="0" noProof="0" dirty="0">
              <a:ln>
                <a:noFill/>
              </a:ln>
              <a:solidFill>
                <a:srgbClr val="000000"/>
              </a:solidFill>
              <a:effectLst/>
              <a:uLnTx/>
              <a:uFillTx/>
              <a:latin typeface="Open Sans"/>
              <a:ea typeface="Open Sans"/>
              <a:cs typeface="Open Sans"/>
              <a:sym typeface="Open Sans"/>
            </a:endParaRPr>
          </a:p>
        </p:txBody>
      </p:sp>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100" name="Google Shape;100;p5"/>
          <p:cNvSpPr/>
          <p:nvPr/>
        </p:nvSpPr>
        <p:spPr>
          <a:xfrm>
            <a:off x="952498" y="459786"/>
            <a:ext cx="15828051"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Java's Scientific Notation</a:t>
            </a:r>
            <a:endParaRPr/>
          </a:p>
        </p:txBody>
      </p:sp>
      <p:cxnSp>
        <p:nvCxnSpPr>
          <p:cNvPr id="101" name="Google Shape;101;p5"/>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02" name="Google Shape;102;p5"/>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03" name="Google Shape;103;p5"/>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04" name="Google Shape;104;p5"/>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Float and Double Primitives</a:t>
            </a:r>
            <a:endParaRPr/>
          </a:p>
        </p:txBody>
      </p:sp>
      <p:sp>
        <p:nvSpPr>
          <p:cNvPr id="9" name="Rectangle 8">
            <a:extLst>
              <a:ext uri="{FF2B5EF4-FFF2-40B4-BE49-F238E27FC236}">
                <a16:creationId xmlns:a16="http://schemas.microsoft.com/office/drawing/2014/main" id="{7497105B-8ACE-6D75-BB34-CF4260ED7516}"/>
              </a:ext>
            </a:extLst>
          </p:cNvPr>
          <p:cNvSpPr/>
          <p:nvPr/>
        </p:nvSpPr>
        <p:spPr>
          <a:xfrm>
            <a:off x="952501" y="4285904"/>
            <a:ext cx="34782670" cy="4690145"/>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Think about that for a moment, using the double's minimum value shown below, remembering that 10-1 = 0.1 and 10-5 = 0.00001 for example.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Imagine writing out the double data type's minimum value in decimal format! That would be a lot of zeros after the decimal.</a:t>
            </a:r>
          </a:p>
        </p:txBody>
      </p:sp>
      <p:graphicFrame>
        <p:nvGraphicFramePr>
          <p:cNvPr id="12" name="Table 6">
            <a:extLst>
              <a:ext uri="{FF2B5EF4-FFF2-40B4-BE49-F238E27FC236}">
                <a16:creationId xmlns:a16="http://schemas.microsoft.com/office/drawing/2014/main" id="{3312E6D4-42C1-3EBF-AB3D-8A3173741F77}"/>
              </a:ext>
            </a:extLst>
          </p:cNvPr>
          <p:cNvGraphicFramePr>
            <a:graphicFrameLocks noGrp="1"/>
          </p:cNvGraphicFramePr>
          <p:nvPr/>
        </p:nvGraphicFramePr>
        <p:xfrm>
          <a:off x="6064899" y="9255258"/>
          <a:ext cx="24446203" cy="3232379"/>
        </p:xfrm>
        <a:graphic>
          <a:graphicData uri="http://schemas.openxmlformats.org/drawingml/2006/table">
            <a:tbl>
              <a:tblPr firstRow="1" bandRow="1">
                <a:tableStyleId>{5C22544A-7EE6-4342-B048-85BDC9FD1C3A}</a:tableStyleId>
              </a:tblPr>
              <a:tblGrid>
                <a:gridCol w="4702629">
                  <a:extLst>
                    <a:ext uri="{9D8B030D-6E8A-4147-A177-3AD203B41FA5}">
                      <a16:colId xmlns:a16="http://schemas.microsoft.com/office/drawing/2014/main" val="2398957492"/>
                    </a:ext>
                  </a:extLst>
                </a:gridCol>
                <a:gridCol w="6941975">
                  <a:extLst>
                    <a:ext uri="{9D8B030D-6E8A-4147-A177-3AD203B41FA5}">
                      <a16:colId xmlns:a16="http://schemas.microsoft.com/office/drawing/2014/main" val="675956227"/>
                    </a:ext>
                  </a:extLst>
                </a:gridCol>
                <a:gridCol w="12801599">
                  <a:extLst>
                    <a:ext uri="{9D8B030D-6E8A-4147-A177-3AD203B41FA5}">
                      <a16:colId xmlns:a16="http://schemas.microsoft.com/office/drawing/2014/main" val="702070219"/>
                    </a:ext>
                  </a:extLst>
                </a:gridCol>
              </a:tblGrid>
              <a:tr h="1592560">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Data Type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Min Value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Max Value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163981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double</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4.9</a:t>
                      </a:r>
                      <a:r>
                        <a:rPr lang="en-US" sz="5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E-324</a:t>
                      </a:r>
                      <a:endParaRPr lang="en-PH" sz="5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1.7976931348623157</a:t>
                      </a:r>
                      <a:r>
                        <a:rPr lang="en-US" sz="54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E308</a:t>
                      </a:r>
                      <a:endParaRPr lang="en-PH" sz="5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185887"/>
                  </a:ext>
                </a:extLst>
              </a:tr>
            </a:tbl>
          </a:graphicData>
        </a:graphic>
      </p:graphicFrame>
      <p:sp>
        <p:nvSpPr>
          <p:cNvPr id="13" name="Rectangle 12">
            <a:extLst>
              <a:ext uri="{FF2B5EF4-FFF2-40B4-BE49-F238E27FC236}">
                <a16:creationId xmlns:a16="http://schemas.microsoft.com/office/drawing/2014/main" id="{CCAF2F7F-8EEF-36A5-4394-FEDF2D3C031E}"/>
              </a:ext>
            </a:extLst>
          </p:cNvPr>
          <p:cNvSpPr/>
          <p:nvPr/>
        </p:nvSpPr>
        <p:spPr>
          <a:xfrm>
            <a:off x="952499" y="12766846"/>
            <a:ext cx="34782670" cy="4690145"/>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 hope you can see that a double, when compared to a float,  can represent both a much smaller decimal value, and a much larger decimal value. This is why its called more precise.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Because it's more precise, the double is the default type for floating point numbers.</a:t>
            </a:r>
          </a:p>
        </p:txBody>
      </p:sp>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6"/>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Important: The double data type is Java's default type for real numbers.</a:t>
            </a:r>
            <a:endParaRPr dirty="0"/>
          </a:p>
          <a:p>
            <a:pPr marL="1936800" marR="0" lvl="5" indent="-857250" algn="l" rtl="0">
              <a:lnSpc>
                <a:spcPct val="100000"/>
              </a:lnSpc>
              <a:spcBef>
                <a:spcPts val="5022"/>
              </a:spcBef>
              <a:spcAft>
                <a:spcPts val="0"/>
              </a:spcAft>
              <a:buClr>
                <a:srgbClr val="000000"/>
              </a:buClr>
              <a:buSzPts val="6400"/>
              <a:buFont typeface="Arial"/>
              <a:buChar char="•"/>
            </a:pPr>
            <a:r>
              <a:rPr lang="en-US" sz="6400" b="0" i="0" u="none" strike="noStrike" cap="none" dirty="0">
                <a:solidFill>
                  <a:srgbClr val="000000"/>
                </a:solidFill>
                <a:latin typeface="Open Sans"/>
                <a:ea typeface="Open Sans"/>
                <a:cs typeface="Open Sans"/>
                <a:sym typeface="Open Sans"/>
              </a:rPr>
              <a:t>For example, any number with a decimal is a double.  </a:t>
            </a:r>
            <a:endParaRPr dirty="0"/>
          </a:p>
          <a:p>
            <a:pPr marL="1936800" marR="0" lvl="5" indent="-857250" algn="l" rtl="0">
              <a:lnSpc>
                <a:spcPct val="100000"/>
              </a:lnSpc>
              <a:spcBef>
                <a:spcPts val="5022"/>
              </a:spcBef>
              <a:spcAft>
                <a:spcPts val="0"/>
              </a:spcAft>
              <a:buClr>
                <a:srgbClr val="000000"/>
              </a:buClr>
              <a:buSzPts val="6400"/>
              <a:buFont typeface="Arial"/>
              <a:buChar char="•"/>
            </a:pPr>
            <a:r>
              <a:rPr lang="en-US" sz="6400" b="0" i="0" u="none" strike="noStrike" cap="none" dirty="0">
                <a:solidFill>
                  <a:srgbClr val="000000"/>
                </a:solidFill>
                <a:latin typeface="Open Sans"/>
                <a:ea typeface="Open Sans"/>
                <a:cs typeface="Open Sans"/>
                <a:sym typeface="Open Sans"/>
              </a:rPr>
              <a:t>So, 10.5 is a double by default in Java.</a:t>
            </a:r>
            <a:endParaRPr dirty="0"/>
          </a:p>
          <a:p>
            <a:pPr marL="857250" marR="0" lvl="0" indent="-857250" algn="l" rtl="0">
              <a:lnSpc>
                <a:spcPct val="100000"/>
              </a:lnSpc>
              <a:spcBef>
                <a:spcPts val="5022"/>
              </a:spcBef>
              <a:spcAft>
                <a:spcPts val="0"/>
              </a:spcAft>
              <a:buClr>
                <a:srgbClr val="000000"/>
              </a:buClr>
              <a:buSzPts val="6400"/>
              <a:buFont typeface="Arial" panose="020B0604020202020204" pitchFamily="34" charset="0"/>
              <a:buChar char="•"/>
            </a:pPr>
            <a:r>
              <a:rPr lang="en-US" sz="6400" b="0" i="0" u="none" strike="noStrike" cap="none" dirty="0">
                <a:solidFill>
                  <a:srgbClr val="000000"/>
                </a:solidFill>
                <a:latin typeface="Open Sans"/>
                <a:ea typeface="Open Sans"/>
                <a:cs typeface="Open Sans"/>
                <a:sym typeface="Open Sans"/>
              </a:rPr>
              <a:t>The double data type can be specified as a numeric literal with a suffix of either lowercase 'd', or uppercase 'D', but because doubles are the default in Java, the suffix is optional to use.</a:t>
            </a:r>
            <a:endParaRPr dirty="0"/>
          </a:p>
          <a:p>
            <a:pPr marL="857250" marR="0" lvl="0" indent="-857250" algn="l" rtl="0">
              <a:lnSpc>
                <a:spcPct val="100000"/>
              </a:lnSpc>
              <a:spcBef>
                <a:spcPts val="5022"/>
              </a:spcBef>
              <a:spcAft>
                <a:spcPts val="0"/>
              </a:spcAft>
              <a:buClr>
                <a:srgbClr val="000000"/>
              </a:buClr>
              <a:buSzPts val="6400"/>
              <a:buFont typeface="Arial" panose="020B0604020202020204" pitchFamily="34" charset="0"/>
              <a:buChar char="•"/>
            </a:pPr>
            <a:r>
              <a:rPr lang="en-US" sz="6400" b="0" i="0" u="none" strike="noStrike" cap="none" dirty="0">
                <a:solidFill>
                  <a:srgbClr val="000000"/>
                </a:solidFill>
                <a:latin typeface="Open Sans"/>
                <a:ea typeface="Open Sans"/>
                <a:cs typeface="Open Sans"/>
                <a:sym typeface="Open Sans"/>
              </a:rPr>
              <a:t>On the other hand, the float data type can be specified as a numeric literal with a suffix of lowercase 'f', or uppercase 'F'.  This suffix is required if you are assigning a real number to a variable that was declared with a float type.</a:t>
            </a:r>
            <a:endParaRPr dirty="0"/>
          </a:p>
        </p:txBody>
      </p:sp>
      <p:sp>
        <p:nvSpPr>
          <p:cNvPr id="111" name="Google Shape;111;p6"/>
          <p:cNvSpPr/>
          <p:nvPr/>
        </p:nvSpPr>
        <p:spPr>
          <a:xfrm>
            <a:off x="952498" y="459786"/>
            <a:ext cx="28636044"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float and double and numeric literal suffixes</a:t>
            </a:r>
            <a:endParaRPr/>
          </a:p>
        </p:txBody>
      </p:sp>
      <p:cxnSp>
        <p:nvCxnSpPr>
          <p:cNvPr id="112" name="Google Shape;112;p6"/>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13" name="Google Shape;113;p6"/>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14" name="Google Shape;114;p6"/>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15" name="Google Shape;115;p6"/>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Float and Double Primitives</a:t>
            </a:r>
            <a:endParaRPr/>
          </a:p>
        </p:txBody>
      </p:sp>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1" name="Google Shape;121;p7"/>
          <p:cNvSpPr/>
          <p:nvPr/>
        </p:nvSpPr>
        <p:spPr>
          <a:xfrm>
            <a:off x="952498" y="459786"/>
            <a:ext cx="6513001"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Challenge</a:t>
            </a:r>
            <a:endParaRPr/>
          </a:p>
        </p:txBody>
      </p:sp>
      <p:cxnSp>
        <p:nvCxnSpPr>
          <p:cNvPr id="122" name="Google Shape;122;p7"/>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23" name="Google Shape;123;p7"/>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24" name="Google Shape;124;p7"/>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25" name="Google Shape;125;p7"/>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Float and Double Primitives</a:t>
            </a:r>
            <a:endParaRPr/>
          </a:p>
        </p:txBody>
      </p:sp>
      <p:pic>
        <p:nvPicPr>
          <p:cNvPr id="126" name="Google Shape;126;p7"/>
          <p:cNvPicPr preferRelativeResize="0"/>
          <p:nvPr/>
        </p:nvPicPr>
        <p:blipFill rotWithShape="1">
          <a:blip r:embed="rId4">
            <a:alphaModFix/>
          </a:blip>
          <a:srcRect/>
          <a:stretch/>
        </p:blipFill>
        <p:spPr>
          <a:xfrm>
            <a:off x="4527090" y="9162031"/>
            <a:ext cx="27521820" cy="4292712"/>
          </a:xfrm>
          <a:prstGeom prst="rect">
            <a:avLst/>
          </a:prstGeom>
          <a:noFill/>
          <a:ln>
            <a:noFill/>
          </a:ln>
        </p:spPr>
      </p:pic>
      <p:sp>
        <p:nvSpPr>
          <p:cNvPr id="3" name="Rectangle 2">
            <a:extLst>
              <a:ext uri="{FF2B5EF4-FFF2-40B4-BE49-F238E27FC236}">
                <a16:creationId xmlns:a16="http://schemas.microsoft.com/office/drawing/2014/main" id="{058075EB-A872-0585-3C17-9F8B66DA6D9D}"/>
              </a:ext>
            </a:extLst>
          </p:cNvPr>
          <p:cNvSpPr/>
          <p:nvPr/>
        </p:nvSpPr>
        <p:spPr>
          <a:xfrm>
            <a:off x="1104901" y="44383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Thinking back to our discussion on casting, how do you think you'd do the same for the float to remove this error? I am talking about using casting here, specifically, because, as you have learned, we could just use the suffix f to tell Java this is a float. Here I want you to use casting.</a:t>
            </a:r>
          </a:p>
        </p:txBody>
      </p:sp>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Not everyone realizes that Java's default data type for a decimal literal is a double, which is larger and more precise than a float. </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Java likes to put a similar line of code in its code segments on exam questions,  to what we saw earlier, omitting that 'f' suffix.  Without a computer to check, this statement can look </a:t>
            </a:r>
            <a:r>
              <a:rPr lang="en-US" sz="6400" b="0" i="0" u="none" strike="noStrike" cap="none">
                <a:solidFill>
                  <a:srgbClr val="000000"/>
                </a:solidFill>
                <a:latin typeface="Open Sans"/>
                <a:ea typeface="Open Sans"/>
                <a:cs typeface="Open Sans"/>
                <a:sym typeface="Open Sans"/>
              </a:rPr>
              <a:t>fairly innocuous.</a:t>
            </a:r>
            <a:endParaRPr dirty="0"/>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dirty="0">
              <a:solidFill>
                <a:srgbClr val="000000"/>
              </a:solidFill>
              <a:latin typeface="Open Sans"/>
              <a:ea typeface="Open Sans"/>
              <a:cs typeface="Open Sans"/>
              <a:sym typeface="Open Sans"/>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The number 5.25 is a double, so assigning it to a float will raise an error.  </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This is a gift question to an exam taker, if you can easily spot this compiler error.</a:t>
            </a:r>
            <a:endParaRPr dirty="0"/>
          </a:p>
        </p:txBody>
      </p:sp>
      <p:sp>
        <p:nvSpPr>
          <p:cNvPr id="132" name="Google Shape;132;p8"/>
          <p:cNvSpPr/>
          <p:nvPr/>
        </p:nvSpPr>
        <p:spPr>
          <a:xfrm>
            <a:off x="952498" y="459786"/>
            <a:ext cx="16966183"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Certification Exam Pointer</a:t>
            </a:r>
            <a:endParaRPr/>
          </a:p>
        </p:txBody>
      </p:sp>
      <p:cxnSp>
        <p:nvCxnSpPr>
          <p:cNvPr id="133" name="Google Shape;133;p8"/>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34" name="Google Shape;134;p8"/>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35" name="Google Shape;135;p8"/>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36" name="Google Shape;136;p8"/>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Float and Double Primitives</a:t>
            </a:r>
            <a:endParaRPr/>
          </a:p>
        </p:txBody>
      </p:sp>
      <p:pic>
        <p:nvPicPr>
          <p:cNvPr id="137" name="Google Shape;137;p8"/>
          <p:cNvPicPr preferRelativeResize="0"/>
          <p:nvPr/>
        </p:nvPicPr>
        <p:blipFill rotWithShape="1">
          <a:blip r:embed="rId4">
            <a:alphaModFix/>
          </a:blip>
          <a:srcRect/>
          <a:stretch/>
        </p:blipFill>
        <p:spPr>
          <a:xfrm>
            <a:off x="10399423" y="10287000"/>
            <a:ext cx="15777154" cy="1125363"/>
          </a:xfrm>
          <a:prstGeom prst="rect">
            <a:avLst/>
          </a:prstGeom>
          <a:noFill/>
          <a:ln>
            <a:noFill/>
          </a:ln>
        </p:spPr>
      </p:pic>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16502916"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Floating Point Data Types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Floating Point Precision and a Challenge</a:t>
            </a:r>
          </a:p>
        </p:txBody>
      </p:sp>
      <p:graphicFrame>
        <p:nvGraphicFramePr>
          <p:cNvPr id="12" name="Table 6">
            <a:extLst>
              <a:ext uri="{FF2B5EF4-FFF2-40B4-BE49-F238E27FC236}">
                <a16:creationId xmlns:a16="http://schemas.microsoft.com/office/drawing/2014/main" id="{24BBE7E1-9D41-B9F2-FBE5-DA80FD6AB876}"/>
              </a:ext>
            </a:extLst>
          </p:cNvPr>
          <p:cNvGraphicFramePr>
            <a:graphicFrameLocks noGrp="1"/>
          </p:cNvGraphicFramePr>
          <p:nvPr/>
        </p:nvGraphicFramePr>
        <p:xfrm>
          <a:off x="12670972" y="6416213"/>
          <a:ext cx="11234056" cy="7741575"/>
        </p:xfrm>
        <a:graphic>
          <a:graphicData uri="http://schemas.openxmlformats.org/drawingml/2006/table">
            <a:tbl>
              <a:tblPr firstRow="1" bandRow="1">
                <a:tableStyleId>{5C22544A-7EE6-4342-B048-85BDC9FD1C3A}</a:tableStyleId>
              </a:tblPr>
              <a:tblGrid>
                <a:gridCol w="11234056">
                  <a:extLst>
                    <a:ext uri="{9D8B030D-6E8A-4147-A177-3AD203B41FA5}">
                      <a16:colId xmlns:a16="http://schemas.microsoft.com/office/drawing/2014/main" val="2398957492"/>
                    </a:ext>
                  </a:extLst>
                </a:gridCol>
              </a:tblGrid>
              <a:tr h="2866862">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Java’s Data Types</a:t>
                      </a:r>
                    </a:p>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For Floating Point Numbers</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4874713">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float</a:t>
                      </a:r>
                    </a:p>
                    <a:p>
                      <a:pPr algn="ctr"/>
                      <a:r>
                        <a:rPr lang="en-PH" sz="5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double</a:t>
                      </a:r>
                    </a:p>
                    <a:p>
                      <a:pPr algn="ct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algn="ctr"/>
                      <a:r>
                        <a:rPr lang="en-PH" sz="4800" i="1" dirty="0">
                          <a:solidFill>
                            <a:schemeClr val="tx1"/>
                          </a:solidFill>
                          <a:latin typeface="Open Sans" panose="020B0606030504020204" pitchFamily="34" charset="0"/>
                          <a:ea typeface="Open Sans" panose="020B0606030504020204" pitchFamily="34" charset="0"/>
                          <a:cs typeface="Open Sans" panose="020B0606030504020204" pitchFamily="34" charset="0"/>
                        </a:rPr>
                        <a:t>The double is Java’s default type for any decimal or real number</a:t>
                      </a:r>
                    </a:p>
                  </a:txBody>
                  <a:tcPr marL="86794" marR="86794" marT="43397" marB="43397" anchor="b">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185887"/>
                  </a:ext>
                </a:extLst>
              </a:tr>
            </a:tbl>
          </a:graphicData>
        </a:graphic>
      </p:graphicFrame>
    </p:spTree>
    <p:extLst>
      <p:ext uri="{BB962C8B-B14F-4D97-AF65-F5344CB8AC3E}">
        <p14:creationId xmlns:p14="http://schemas.microsoft.com/office/powerpoint/2010/main" val="1128906200"/>
      </p:ext>
    </p:extLst>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4593271"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Default output for numeric data types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Floating Point Precision and a Challenge</a:t>
            </a:r>
          </a:p>
        </p:txBody>
      </p:sp>
      <p:sp>
        <p:nvSpPr>
          <p:cNvPr id="11" name="Rectangle 10">
            <a:extLst>
              <a:ext uri="{FF2B5EF4-FFF2-40B4-BE49-F238E27FC236}">
                <a16:creationId xmlns:a16="http://schemas.microsoft.com/office/drawing/2014/main" id="{510B3C1E-CF83-CBA9-EBD6-EF4A4FD1C1A6}"/>
              </a:ext>
            </a:extLst>
          </p:cNvPr>
          <p:cNvSpPr/>
          <p:nvPr/>
        </p:nvSpPr>
        <p:spPr>
          <a:xfrm>
            <a:off x="952501" y="2669272"/>
            <a:ext cx="34782670" cy="2176977"/>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this slide, we show default output, as it would be in </a:t>
            </a:r>
            <a:r>
              <a:rPr lang="en-US" sz="6400" dirty="0" err="1">
                <a:latin typeface="Open Sans" panose="020B0606030504020204" pitchFamily="34" charset="0"/>
                <a:ea typeface="Open Sans" panose="020B0606030504020204" pitchFamily="34" charset="0"/>
                <a:cs typeface="Open Sans" panose="020B0606030504020204" pitchFamily="34" charset="0"/>
              </a:rPr>
              <a:t>JShell</a:t>
            </a:r>
            <a:r>
              <a:rPr lang="en-US" sz="6400" dirty="0">
                <a:latin typeface="Open Sans" panose="020B0606030504020204" pitchFamily="34" charset="0"/>
                <a:ea typeface="Open Sans" panose="020B0606030504020204" pitchFamily="34" charset="0"/>
                <a:cs typeface="Open Sans" panose="020B0606030504020204" pitchFamily="34" charset="0"/>
              </a:rPr>
              <a:t> or by using </a:t>
            </a:r>
            <a:r>
              <a:rPr lang="en-US" sz="6400" dirty="0" err="1">
                <a:latin typeface="Open Sans" panose="020B0606030504020204" pitchFamily="34" charset="0"/>
                <a:ea typeface="Open Sans" panose="020B0606030504020204" pitchFamily="34" charset="0"/>
                <a:cs typeface="Open Sans" panose="020B0606030504020204" pitchFamily="34" charset="0"/>
              </a:rPr>
              <a:t>System.out.print</a:t>
            </a:r>
            <a:r>
              <a:rPr lang="en-US" sz="6400" dirty="0">
                <a:latin typeface="Open Sans" panose="020B0606030504020204" pitchFamily="34" charset="0"/>
                <a:ea typeface="Open Sans" panose="020B0606030504020204" pitchFamily="34" charset="0"/>
                <a:cs typeface="Open Sans" panose="020B0606030504020204" pitchFamily="34" charset="0"/>
              </a:rPr>
              <a:t>, for both whole and real numbers.</a:t>
            </a:r>
          </a:p>
        </p:txBody>
      </p:sp>
      <p:graphicFrame>
        <p:nvGraphicFramePr>
          <p:cNvPr id="13" name="Table 6">
            <a:extLst>
              <a:ext uri="{FF2B5EF4-FFF2-40B4-BE49-F238E27FC236}">
                <a16:creationId xmlns:a16="http://schemas.microsoft.com/office/drawing/2014/main" id="{2705C4B7-5859-60EC-3D36-1E3AF5A02913}"/>
              </a:ext>
            </a:extLst>
          </p:cNvPr>
          <p:cNvGraphicFramePr>
            <a:graphicFrameLocks noGrp="1"/>
          </p:cNvGraphicFramePr>
          <p:nvPr/>
        </p:nvGraphicFramePr>
        <p:xfrm>
          <a:off x="7082659" y="4971553"/>
          <a:ext cx="22410682" cy="9566847"/>
        </p:xfrm>
        <a:graphic>
          <a:graphicData uri="http://schemas.openxmlformats.org/drawingml/2006/table">
            <a:tbl>
              <a:tblPr firstRow="1" bandRow="1">
                <a:tableStyleId>{5C22544A-7EE6-4342-B048-85BDC9FD1C3A}</a:tableStyleId>
              </a:tblPr>
              <a:tblGrid>
                <a:gridCol w="11205341">
                  <a:extLst>
                    <a:ext uri="{9D8B030D-6E8A-4147-A177-3AD203B41FA5}">
                      <a16:colId xmlns:a16="http://schemas.microsoft.com/office/drawing/2014/main" val="2398957492"/>
                    </a:ext>
                  </a:extLst>
                </a:gridCol>
                <a:gridCol w="11205341">
                  <a:extLst>
                    <a:ext uri="{9D8B030D-6E8A-4147-A177-3AD203B41FA5}">
                      <a16:colId xmlns:a16="http://schemas.microsoft.com/office/drawing/2014/main" val="2351305902"/>
                    </a:ext>
                  </a:extLst>
                </a:gridCol>
              </a:tblGrid>
              <a:tr h="1323802">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Whole Number Examples</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Floating Point Examples</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8243045">
                <a:tc>
                  <a:txBody>
                    <a:bodyPr/>
                    <a:lstStyle/>
                    <a:p>
                      <a:pPr algn="ctr"/>
                      <a:endParaRPr lang="en-PH" sz="48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PH" sz="48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185887"/>
                  </a:ext>
                </a:extLst>
              </a:tr>
            </a:tbl>
          </a:graphicData>
        </a:graphic>
      </p:graphicFrame>
      <p:sp>
        <p:nvSpPr>
          <p:cNvPr id="14" name="Rectangle 13">
            <a:extLst>
              <a:ext uri="{FF2B5EF4-FFF2-40B4-BE49-F238E27FC236}">
                <a16:creationId xmlns:a16="http://schemas.microsoft.com/office/drawing/2014/main" id="{698C2C5E-E0F7-878A-D25E-89EF8C20330E}"/>
              </a:ext>
            </a:extLst>
          </p:cNvPr>
          <p:cNvSpPr/>
          <p:nvPr/>
        </p:nvSpPr>
        <p:spPr>
          <a:xfrm>
            <a:off x="952499" y="14928980"/>
            <a:ext cx="34782670" cy="3113239"/>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 can see from this table, that there are more ways to express a decimal real number literal, than a whole number, with the use of the 'F' or 'D' suffix, as well as using Java's scientific notation in the literal value.</a:t>
            </a:r>
          </a:p>
        </p:txBody>
      </p:sp>
      <p:graphicFrame>
        <p:nvGraphicFramePr>
          <p:cNvPr id="15" name="Table 6">
            <a:extLst>
              <a:ext uri="{FF2B5EF4-FFF2-40B4-BE49-F238E27FC236}">
                <a16:creationId xmlns:a16="http://schemas.microsoft.com/office/drawing/2014/main" id="{A8056F5C-7E17-61DB-B07C-453AEE43ACE3}"/>
              </a:ext>
            </a:extLst>
          </p:cNvPr>
          <p:cNvGraphicFramePr>
            <a:graphicFrameLocks noGrp="1"/>
          </p:cNvGraphicFramePr>
          <p:nvPr/>
        </p:nvGraphicFramePr>
        <p:xfrm>
          <a:off x="7520810" y="6699838"/>
          <a:ext cx="10354780" cy="3017655"/>
        </p:xfrm>
        <a:graphic>
          <a:graphicData uri="http://schemas.openxmlformats.org/drawingml/2006/table">
            <a:tbl>
              <a:tblPr firstRow="1" bandRow="1">
                <a:tableStyleId>{5C22544A-7EE6-4342-B048-85BDC9FD1C3A}</a:tableStyleId>
              </a:tblPr>
              <a:tblGrid>
                <a:gridCol w="5177390">
                  <a:extLst>
                    <a:ext uri="{9D8B030D-6E8A-4147-A177-3AD203B41FA5}">
                      <a16:colId xmlns:a16="http://schemas.microsoft.com/office/drawing/2014/main" val="2398957492"/>
                    </a:ext>
                  </a:extLst>
                </a:gridCol>
                <a:gridCol w="5177390">
                  <a:extLst>
                    <a:ext uri="{9D8B030D-6E8A-4147-A177-3AD203B41FA5}">
                      <a16:colId xmlns:a16="http://schemas.microsoft.com/office/drawing/2014/main" val="2351305902"/>
                    </a:ext>
                  </a:extLst>
                </a:gridCol>
              </a:tblGrid>
              <a:tr h="127070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Literal Value</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Default Output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873476">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185887"/>
                  </a:ext>
                </a:extLst>
              </a:tr>
              <a:tr h="873476">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500_000_000_000L</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500000000000</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2053996"/>
                  </a:ext>
                </a:extLst>
              </a:tr>
            </a:tbl>
          </a:graphicData>
        </a:graphic>
      </p:graphicFrame>
      <p:graphicFrame>
        <p:nvGraphicFramePr>
          <p:cNvPr id="12" name="Table 6">
            <a:extLst>
              <a:ext uri="{FF2B5EF4-FFF2-40B4-BE49-F238E27FC236}">
                <a16:creationId xmlns:a16="http://schemas.microsoft.com/office/drawing/2014/main" id="{546FE647-52C7-DE6C-BEE6-B43217579CB7}"/>
              </a:ext>
            </a:extLst>
          </p:cNvPr>
          <p:cNvGraphicFramePr>
            <a:graphicFrameLocks noGrp="1"/>
          </p:cNvGraphicFramePr>
          <p:nvPr/>
        </p:nvGraphicFramePr>
        <p:xfrm>
          <a:off x="18810515" y="6699838"/>
          <a:ext cx="10354780" cy="7365717"/>
        </p:xfrm>
        <a:graphic>
          <a:graphicData uri="http://schemas.openxmlformats.org/drawingml/2006/table">
            <a:tbl>
              <a:tblPr firstRow="1" bandRow="1">
                <a:tableStyleId>{5C22544A-7EE6-4342-B048-85BDC9FD1C3A}</a:tableStyleId>
              </a:tblPr>
              <a:tblGrid>
                <a:gridCol w="5177390">
                  <a:extLst>
                    <a:ext uri="{9D8B030D-6E8A-4147-A177-3AD203B41FA5}">
                      <a16:colId xmlns:a16="http://schemas.microsoft.com/office/drawing/2014/main" val="2398957492"/>
                    </a:ext>
                  </a:extLst>
                </a:gridCol>
                <a:gridCol w="5177390">
                  <a:extLst>
                    <a:ext uri="{9D8B030D-6E8A-4147-A177-3AD203B41FA5}">
                      <a16:colId xmlns:a16="http://schemas.microsoft.com/office/drawing/2014/main" val="2351305902"/>
                    </a:ext>
                  </a:extLst>
                </a:gridCol>
              </a:tblGrid>
              <a:tr h="1267380">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Literal Value</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Default Output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871191">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5.0</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185887"/>
                  </a:ext>
                </a:extLst>
              </a:tr>
              <a:tr h="871191">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5.000000</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238182" rtl="0" eaLnBrk="1" fontAlgn="auto" latinLnBrk="0" hangingPunct="1">
                        <a:lnSpc>
                          <a:spcPct val="100000"/>
                        </a:lnSpc>
                        <a:spcBef>
                          <a:spcPts val="0"/>
                        </a:spcBef>
                        <a:spcAft>
                          <a:spcPts val="0"/>
                        </a:spcAft>
                        <a:buClrTx/>
                        <a:buSzTx/>
                        <a:buFontTx/>
                        <a:buNone/>
                        <a:tabLst/>
                        <a:defRPr/>
                      </a:pPr>
                      <a:r>
                        <a:rPr kumimoji="0" lang="en-US" sz="4400" b="0" i="0" u="none" strike="noStrike" kern="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Helvetica Light"/>
                        </a:rPr>
                        <a:t>5.0</a:t>
                      </a:r>
                      <a:endParaRPr kumimoji="0" lang="en-PH" sz="44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Helvetica Light"/>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2053996"/>
                  </a:ext>
                </a:extLst>
              </a:tr>
              <a:tr h="871191">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5f</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238182" rtl="0" eaLnBrk="1" fontAlgn="auto" latinLnBrk="0" hangingPunct="1">
                        <a:lnSpc>
                          <a:spcPct val="100000"/>
                        </a:lnSpc>
                        <a:spcBef>
                          <a:spcPts val="0"/>
                        </a:spcBef>
                        <a:spcAft>
                          <a:spcPts val="0"/>
                        </a:spcAft>
                        <a:buClrTx/>
                        <a:buSzTx/>
                        <a:buFontTx/>
                        <a:buNone/>
                        <a:tabLst/>
                        <a:defRPr/>
                      </a:pPr>
                      <a:r>
                        <a:rPr kumimoji="0" lang="en-US" sz="4400" b="0" i="0" u="none" strike="noStrike" kern="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Helvetica Light"/>
                        </a:rPr>
                        <a:t>5.0</a:t>
                      </a:r>
                      <a:endParaRPr kumimoji="0" lang="en-PH" sz="44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Helvetica Light"/>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7698731"/>
                  </a:ext>
                </a:extLst>
              </a:tr>
              <a:tr h="871191">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5d</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238182" rtl="0" eaLnBrk="1" fontAlgn="auto" latinLnBrk="0" hangingPunct="1">
                        <a:lnSpc>
                          <a:spcPct val="100000"/>
                        </a:lnSpc>
                        <a:spcBef>
                          <a:spcPts val="0"/>
                        </a:spcBef>
                        <a:spcAft>
                          <a:spcPts val="0"/>
                        </a:spcAft>
                        <a:buClrTx/>
                        <a:buSzTx/>
                        <a:buFontTx/>
                        <a:buNone/>
                        <a:tabLst/>
                        <a:defRPr/>
                      </a:pPr>
                      <a:r>
                        <a:rPr kumimoji="0" lang="en-US" sz="44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Helvetica Light"/>
                        </a:rPr>
                        <a:t>5.0</a:t>
                      </a:r>
                      <a:endParaRPr kumimoji="0" lang="en-PH" sz="44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Helvetica Light"/>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0524877"/>
                  </a:ext>
                </a:extLst>
              </a:tr>
              <a:tr h="871191">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5e1</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238182" rtl="0" eaLnBrk="1" fontAlgn="auto" latinLnBrk="0" hangingPunct="1">
                        <a:lnSpc>
                          <a:spcPct val="100000"/>
                        </a:lnSpc>
                        <a:spcBef>
                          <a:spcPts val="0"/>
                        </a:spcBef>
                        <a:spcAft>
                          <a:spcPts val="0"/>
                        </a:spcAft>
                        <a:buClrTx/>
                        <a:buSzTx/>
                        <a:buFontTx/>
                        <a:buNone/>
                        <a:tabLst/>
                        <a:defRPr/>
                      </a:pP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50.0</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0646274"/>
                  </a:ext>
                </a:extLst>
              </a:tr>
              <a:tr h="871191">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5_000_000.0</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238182" rtl="0" eaLnBrk="1" fontAlgn="auto" latinLnBrk="0" hangingPunct="1">
                        <a:lnSpc>
                          <a:spcPct val="100000"/>
                        </a:lnSpc>
                        <a:spcBef>
                          <a:spcPts val="0"/>
                        </a:spcBef>
                        <a:spcAft>
                          <a:spcPts val="0"/>
                        </a:spcAft>
                        <a:buClrTx/>
                        <a:buSzTx/>
                        <a:buFontTx/>
                        <a:buNone/>
                        <a:tabLst/>
                        <a:defRPr/>
                      </a:pP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5000000.0</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8639106"/>
                  </a:ext>
                </a:extLst>
              </a:tr>
              <a:tr h="871191">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50_000_000.0</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5.0E7</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8549197"/>
                  </a:ext>
                </a:extLst>
              </a:tr>
            </a:tbl>
          </a:graphicData>
        </a:graphic>
      </p:graphicFrame>
    </p:spTree>
    <p:extLst>
      <p:ext uri="{BB962C8B-B14F-4D97-AF65-F5344CB8AC3E}">
        <p14:creationId xmlns:p14="http://schemas.microsoft.com/office/powerpoint/2010/main" val="3557192145"/>
      </p:ext>
    </p:extLst>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459786"/>
            <a:ext cx="24593271"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Default output for numeric data types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Floating Point Precision and a Challenge</a:t>
            </a:r>
          </a:p>
        </p:txBody>
      </p:sp>
      <p:graphicFrame>
        <p:nvGraphicFramePr>
          <p:cNvPr id="13" name="Table 6">
            <a:extLst>
              <a:ext uri="{FF2B5EF4-FFF2-40B4-BE49-F238E27FC236}">
                <a16:creationId xmlns:a16="http://schemas.microsoft.com/office/drawing/2014/main" id="{2705C4B7-5859-60EC-3D36-1E3AF5A02913}"/>
              </a:ext>
            </a:extLst>
          </p:cNvPr>
          <p:cNvGraphicFramePr>
            <a:graphicFrameLocks noGrp="1"/>
          </p:cNvGraphicFramePr>
          <p:nvPr/>
        </p:nvGraphicFramePr>
        <p:xfrm>
          <a:off x="7082659" y="4971553"/>
          <a:ext cx="22410682" cy="9566847"/>
        </p:xfrm>
        <a:graphic>
          <a:graphicData uri="http://schemas.openxmlformats.org/drawingml/2006/table">
            <a:tbl>
              <a:tblPr firstRow="1" bandRow="1">
                <a:tableStyleId>{5C22544A-7EE6-4342-B048-85BDC9FD1C3A}</a:tableStyleId>
              </a:tblPr>
              <a:tblGrid>
                <a:gridCol w="11205341">
                  <a:extLst>
                    <a:ext uri="{9D8B030D-6E8A-4147-A177-3AD203B41FA5}">
                      <a16:colId xmlns:a16="http://schemas.microsoft.com/office/drawing/2014/main" val="2398957492"/>
                    </a:ext>
                  </a:extLst>
                </a:gridCol>
                <a:gridCol w="11205341">
                  <a:extLst>
                    <a:ext uri="{9D8B030D-6E8A-4147-A177-3AD203B41FA5}">
                      <a16:colId xmlns:a16="http://schemas.microsoft.com/office/drawing/2014/main" val="2351305902"/>
                    </a:ext>
                  </a:extLst>
                </a:gridCol>
              </a:tblGrid>
              <a:tr h="1323802">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Whole Number Examples</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5400" dirty="0">
                          <a:solidFill>
                            <a:schemeClr val="tx1"/>
                          </a:solidFill>
                          <a:latin typeface="Open Sans" panose="020B0606030504020204" pitchFamily="34" charset="0"/>
                          <a:ea typeface="Open Sans" panose="020B0606030504020204" pitchFamily="34" charset="0"/>
                          <a:cs typeface="Open Sans" panose="020B0606030504020204" pitchFamily="34" charset="0"/>
                        </a:rPr>
                        <a:t>Floating Point Examples</a:t>
                      </a:r>
                      <a:endParaRPr lang="en-PH" sz="5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8243045">
                <a:tc>
                  <a:txBody>
                    <a:bodyPr/>
                    <a:lstStyle/>
                    <a:p>
                      <a:pPr algn="ctr"/>
                      <a:endParaRPr lang="en-PH" sz="48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PH" sz="48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185887"/>
                  </a:ext>
                </a:extLst>
              </a:tr>
            </a:tbl>
          </a:graphicData>
        </a:graphic>
      </p:graphicFrame>
      <p:graphicFrame>
        <p:nvGraphicFramePr>
          <p:cNvPr id="15" name="Table 6">
            <a:extLst>
              <a:ext uri="{FF2B5EF4-FFF2-40B4-BE49-F238E27FC236}">
                <a16:creationId xmlns:a16="http://schemas.microsoft.com/office/drawing/2014/main" id="{A8056F5C-7E17-61DB-B07C-453AEE43ACE3}"/>
              </a:ext>
            </a:extLst>
          </p:cNvPr>
          <p:cNvGraphicFramePr>
            <a:graphicFrameLocks noGrp="1"/>
          </p:cNvGraphicFramePr>
          <p:nvPr/>
        </p:nvGraphicFramePr>
        <p:xfrm>
          <a:off x="7520810" y="6699838"/>
          <a:ext cx="10354780" cy="3017655"/>
        </p:xfrm>
        <a:graphic>
          <a:graphicData uri="http://schemas.openxmlformats.org/drawingml/2006/table">
            <a:tbl>
              <a:tblPr firstRow="1" bandRow="1">
                <a:tableStyleId>{5C22544A-7EE6-4342-B048-85BDC9FD1C3A}</a:tableStyleId>
              </a:tblPr>
              <a:tblGrid>
                <a:gridCol w="5177390">
                  <a:extLst>
                    <a:ext uri="{9D8B030D-6E8A-4147-A177-3AD203B41FA5}">
                      <a16:colId xmlns:a16="http://schemas.microsoft.com/office/drawing/2014/main" val="2398957492"/>
                    </a:ext>
                  </a:extLst>
                </a:gridCol>
                <a:gridCol w="5177390">
                  <a:extLst>
                    <a:ext uri="{9D8B030D-6E8A-4147-A177-3AD203B41FA5}">
                      <a16:colId xmlns:a16="http://schemas.microsoft.com/office/drawing/2014/main" val="2351305902"/>
                    </a:ext>
                  </a:extLst>
                </a:gridCol>
              </a:tblGrid>
              <a:tr h="127070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Literal Value</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Default Output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873476">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185887"/>
                  </a:ext>
                </a:extLst>
              </a:tr>
              <a:tr h="873476">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500_000_000_000L</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500000000000</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2053996"/>
                  </a:ext>
                </a:extLst>
              </a:tr>
            </a:tbl>
          </a:graphicData>
        </a:graphic>
      </p:graphicFrame>
      <p:graphicFrame>
        <p:nvGraphicFramePr>
          <p:cNvPr id="16" name="Table 6">
            <a:extLst>
              <a:ext uri="{FF2B5EF4-FFF2-40B4-BE49-F238E27FC236}">
                <a16:creationId xmlns:a16="http://schemas.microsoft.com/office/drawing/2014/main" id="{52F39609-82D8-0E7A-37F0-974AFD0FFE81}"/>
              </a:ext>
            </a:extLst>
          </p:cNvPr>
          <p:cNvGraphicFramePr>
            <a:graphicFrameLocks noGrp="1"/>
          </p:cNvGraphicFramePr>
          <p:nvPr/>
        </p:nvGraphicFramePr>
        <p:xfrm>
          <a:off x="18810515" y="6699838"/>
          <a:ext cx="10354780" cy="7365717"/>
        </p:xfrm>
        <a:graphic>
          <a:graphicData uri="http://schemas.openxmlformats.org/drawingml/2006/table">
            <a:tbl>
              <a:tblPr firstRow="1" bandRow="1">
                <a:tableStyleId>{5C22544A-7EE6-4342-B048-85BDC9FD1C3A}</a:tableStyleId>
              </a:tblPr>
              <a:tblGrid>
                <a:gridCol w="5177390">
                  <a:extLst>
                    <a:ext uri="{9D8B030D-6E8A-4147-A177-3AD203B41FA5}">
                      <a16:colId xmlns:a16="http://schemas.microsoft.com/office/drawing/2014/main" val="2398957492"/>
                    </a:ext>
                  </a:extLst>
                </a:gridCol>
                <a:gridCol w="5177390">
                  <a:extLst>
                    <a:ext uri="{9D8B030D-6E8A-4147-A177-3AD203B41FA5}">
                      <a16:colId xmlns:a16="http://schemas.microsoft.com/office/drawing/2014/main" val="2351305902"/>
                    </a:ext>
                  </a:extLst>
                </a:gridCol>
              </a:tblGrid>
              <a:tr h="1267380">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Literal Value</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Default Output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871191">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5.0</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185887"/>
                  </a:ext>
                </a:extLst>
              </a:tr>
              <a:tr h="871191">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5.000000</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238182" rtl="0" eaLnBrk="1" fontAlgn="auto" latinLnBrk="0" hangingPunct="1">
                        <a:lnSpc>
                          <a:spcPct val="100000"/>
                        </a:lnSpc>
                        <a:spcBef>
                          <a:spcPts val="0"/>
                        </a:spcBef>
                        <a:spcAft>
                          <a:spcPts val="0"/>
                        </a:spcAft>
                        <a:buClrTx/>
                        <a:buSzTx/>
                        <a:buFontTx/>
                        <a:buNone/>
                        <a:tabLst/>
                        <a:defRPr/>
                      </a:pPr>
                      <a:r>
                        <a:rPr kumimoji="0" lang="en-US" sz="4400" b="0" i="0" u="none" strike="noStrike" kern="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Helvetica Light"/>
                        </a:rPr>
                        <a:t>5.0</a:t>
                      </a:r>
                      <a:endParaRPr kumimoji="0" lang="en-PH" sz="44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Helvetica Light"/>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2053996"/>
                  </a:ext>
                </a:extLst>
              </a:tr>
              <a:tr h="871191">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5f</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238182" rtl="0" eaLnBrk="1" fontAlgn="auto" latinLnBrk="0" hangingPunct="1">
                        <a:lnSpc>
                          <a:spcPct val="100000"/>
                        </a:lnSpc>
                        <a:spcBef>
                          <a:spcPts val="0"/>
                        </a:spcBef>
                        <a:spcAft>
                          <a:spcPts val="0"/>
                        </a:spcAft>
                        <a:buClrTx/>
                        <a:buSzTx/>
                        <a:buFontTx/>
                        <a:buNone/>
                        <a:tabLst/>
                        <a:defRPr/>
                      </a:pPr>
                      <a:r>
                        <a:rPr kumimoji="0" lang="en-US" sz="4400" b="0" i="0" u="none" strike="noStrike" kern="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Helvetica Light"/>
                        </a:rPr>
                        <a:t>5.0</a:t>
                      </a:r>
                      <a:endParaRPr kumimoji="0" lang="en-PH" sz="44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Helvetica Light"/>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7698731"/>
                  </a:ext>
                </a:extLst>
              </a:tr>
              <a:tr h="871191">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5d</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238182" rtl="0" eaLnBrk="1" fontAlgn="auto" latinLnBrk="0" hangingPunct="1">
                        <a:lnSpc>
                          <a:spcPct val="100000"/>
                        </a:lnSpc>
                        <a:spcBef>
                          <a:spcPts val="0"/>
                        </a:spcBef>
                        <a:spcAft>
                          <a:spcPts val="0"/>
                        </a:spcAft>
                        <a:buClrTx/>
                        <a:buSzTx/>
                        <a:buFontTx/>
                        <a:buNone/>
                        <a:tabLst/>
                        <a:defRPr/>
                      </a:pPr>
                      <a:r>
                        <a:rPr kumimoji="0" lang="en-US" sz="44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Helvetica Light"/>
                        </a:rPr>
                        <a:t>5.0</a:t>
                      </a:r>
                      <a:endParaRPr kumimoji="0" lang="en-PH" sz="44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Helvetica Light"/>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0524877"/>
                  </a:ext>
                </a:extLst>
              </a:tr>
              <a:tr h="871191">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5e1</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238182" rtl="0" eaLnBrk="1" fontAlgn="auto" latinLnBrk="0" hangingPunct="1">
                        <a:lnSpc>
                          <a:spcPct val="100000"/>
                        </a:lnSpc>
                        <a:spcBef>
                          <a:spcPts val="0"/>
                        </a:spcBef>
                        <a:spcAft>
                          <a:spcPts val="0"/>
                        </a:spcAft>
                        <a:buClrTx/>
                        <a:buSzTx/>
                        <a:buFontTx/>
                        <a:buNone/>
                        <a:tabLst/>
                        <a:defRPr/>
                      </a:pP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50.0</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0646274"/>
                  </a:ext>
                </a:extLst>
              </a:tr>
              <a:tr h="871191">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5_000_000.0</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238182" rtl="0" eaLnBrk="1" fontAlgn="auto" latinLnBrk="0" hangingPunct="1">
                        <a:lnSpc>
                          <a:spcPct val="100000"/>
                        </a:lnSpc>
                        <a:spcBef>
                          <a:spcPts val="0"/>
                        </a:spcBef>
                        <a:spcAft>
                          <a:spcPts val="0"/>
                        </a:spcAft>
                        <a:buClrTx/>
                        <a:buSzTx/>
                        <a:buFontTx/>
                        <a:buNone/>
                        <a:tabLst/>
                        <a:defRPr/>
                      </a:pP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5000000.0</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8639106"/>
                  </a:ext>
                </a:extLst>
              </a:tr>
              <a:tr h="871191">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50_000_000.0</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400" i="0" dirty="0">
                          <a:solidFill>
                            <a:schemeClr val="tx1"/>
                          </a:solidFill>
                          <a:latin typeface="Open Sans" panose="020B0606030504020204" pitchFamily="34" charset="0"/>
                          <a:ea typeface="Open Sans" panose="020B0606030504020204" pitchFamily="34" charset="0"/>
                          <a:cs typeface="Open Sans" panose="020B0606030504020204" pitchFamily="34" charset="0"/>
                        </a:rPr>
                        <a:t>5.0E7</a:t>
                      </a:r>
                      <a:endParaRPr lang="en-PH" sz="4400" i="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8549197"/>
                  </a:ext>
                </a:extLst>
              </a:tr>
            </a:tbl>
          </a:graphicData>
        </a:graphic>
      </p:graphicFrame>
      <p:sp>
        <p:nvSpPr>
          <p:cNvPr id="12" name="Rectangle 11">
            <a:extLst>
              <a:ext uri="{FF2B5EF4-FFF2-40B4-BE49-F238E27FC236}">
                <a16:creationId xmlns:a16="http://schemas.microsoft.com/office/drawing/2014/main" id="{8C8973C6-A220-5B96-F8F9-14FF9F02249F}"/>
              </a:ext>
            </a:extLst>
          </p:cNvPr>
          <p:cNvSpPr/>
          <p:nvPr/>
        </p:nvSpPr>
        <p:spPr>
          <a:xfrm>
            <a:off x="952501" y="2669272"/>
            <a:ext cx="34782670" cy="2176977"/>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Another interesting difference is that, for whole numbers, the output is never in scientific notation, but for real numbers, it could be, as you can see.</a:t>
            </a:r>
          </a:p>
        </p:txBody>
      </p:sp>
    </p:spTree>
    <p:extLst>
      <p:ext uri="{BB962C8B-B14F-4D97-AF65-F5344CB8AC3E}">
        <p14:creationId xmlns:p14="http://schemas.microsoft.com/office/powerpoint/2010/main" val="2075135741"/>
      </p:ext>
    </p:extLst>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p:nvPr/>
        </p:nvSpPr>
        <p:spPr>
          <a:xfrm>
            <a:off x="952498" y="553091"/>
            <a:ext cx="34288233" cy="1692771"/>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000" dirty="0">
                <a:latin typeface="Open Sans" panose="020B0606030504020204" pitchFamily="34" charset="0"/>
                <a:ea typeface="Open Sans" panose="020B0606030504020204" pitchFamily="34" charset="0"/>
                <a:cs typeface="Open Sans" panose="020B0606030504020204" pitchFamily="34" charset="0"/>
              </a:rPr>
              <a:t>Why is the double a better choice in most circumstances?</a:t>
            </a:r>
          </a:p>
        </p:txBody>
      </p:sp>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Floating Point Precision and a Challenge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Why should we choose double?</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First, it's actually faster to process on many modern computers.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That's because computers have, at the chip level, the functionality to actually deal with these double numbers faster than the equivalent float.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Second, the Java libraries that we'll get into later in the course, particularly math functions, are often written to process doubles and not floats, and to return the result as a double.</a:t>
            </a:r>
          </a:p>
          <a:p>
            <a:pPr algn="l">
              <a:spcAft>
                <a:spcPts val="5022"/>
              </a:spcAft>
            </a:pPr>
            <a:r>
              <a:rPr lang="en-US" sz="6400">
                <a:latin typeface="Open Sans" panose="020B0606030504020204" pitchFamily="34" charset="0"/>
                <a:ea typeface="Open Sans" panose="020B0606030504020204" pitchFamily="34" charset="0"/>
                <a:cs typeface="Open Sans" panose="020B0606030504020204" pitchFamily="34" charset="0"/>
              </a:rPr>
              <a:t>The creators of Java selected the double because it's more precise, and it can handle a larger range of numbers.</a:t>
            </a:r>
          </a:p>
        </p:txBody>
      </p:sp>
    </p:spTree>
    <p:extLst>
      <p:ext uri="{BB962C8B-B14F-4D97-AF65-F5344CB8AC3E}">
        <p14:creationId xmlns:p14="http://schemas.microsoft.com/office/powerpoint/2010/main" val="942128814"/>
      </p:ext>
    </p:extLst>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Floating Point Precision and a Challenge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3645402"/>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objective of this challenge, is to convert a given number of pounds to kilograms.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STEPS:</a:t>
            </a:r>
          </a:p>
          <a:p>
            <a:pPr marL="1864800" indent="-1143000" algn="l">
              <a:spcAft>
                <a:spcPts val="5022"/>
              </a:spcAft>
              <a:buFont typeface="+mj-lt"/>
              <a:buAutoNum type="arabicPeriod"/>
            </a:pPr>
            <a:r>
              <a:rPr lang="en-US" sz="6400" dirty="0">
                <a:latin typeface="Open Sans" panose="020B0606030504020204" pitchFamily="34" charset="0"/>
                <a:ea typeface="Open Sans" panose="020B0606030504020204" pitchFamily="34" charset="0"/>
                <a:cs typeface="Open Sans" panose="020B0606030504020204" pitchFamily="34" charset="0"/>
              </a:rPr>
              <a:t>Create a variable with the appropriate type, to store the number of pounds that we want to convert into kilograms.</a:t>
            </a:r>
          </a:p>
          <a:p>
            <a:pPr marL="1864800" indent="-1143000" algn="l">
              <a:spcAft>
                <a:spcPts val="5022"/>
              </a:spcAft>
              <a:buFont typeface="+mj-lt"/>
              <a:buAutoNum type="arabicPeriod"/>
            </a:pPr>
            <a:r>
              <a:rPr lang="en-US" sz="6400" dirty="0">
                <a:latin typeface="Open Sans" panose="020B0606030504020204" pitchFamily="34" charset="0"/>
                <a:ea typeface="Open Sans" panose="020B0606030504020204" pitchFamily="34" charset="0"/>
                <a:cs typeface="Open Sans" panose="020B0606030504020204" pitchFamily="34" charset="0"/>
              </a:rPr>
              <a:t>Calculate kilograms, using the variable above, and store the result in a 2nd appropriately typed variable.</a:t>
            </a:r>
          </a:p>
          <a:p>
            <a:pPr marL="1864800" indent="-1143000" algn="l">
              <a:spcAft>
                <a:spcPts val="5022"/>
              </a:spcAft>
              <a:buFont typeface="+mj-lt"/>
              <a:buAutoNum type="arabicPeriod"/>
            </a:pPr>
            <a:r>
              <a:rPr lang="en-US" sz="6400" dirty="0">
                <a:latin typeface="Open Sans" panose="020B0606030504020204" pitchFamily="34" charset="0"/>
                <a:ea typeface="Open Sans" panose="020B0606030504020204" pitchFamily="34" charset="0"/>
                <a:cs typeface="Open Sans" panose="020B0606030504020204" pitchFamily="34" charset="0"/>
              </a:rPr>
              <a:t>Print the result.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Don't forget to use the conversion formula shown here:</a:t>
            </a:r>
          </a:p>
          <a:p>
            <a:pPr algn="l">
              <a:spcAft>
                <a:spcPts val="5022"/>
              </a:spcAft>
            </a:pPr>
            <a:r>
              <a:rPr lang="en-US" sz="6400" b="1" dirty="0">
                <a:latin typeface="Open Sans" panose="020B0606030504020204" pitchFamily="34" charset="0"/>
                <a:ea typeface="Open Sans" panose="020B0606030504020204" pitchFamily="34" charset="0"/>
                <a:cs typeface="Open Sans" panose="020B0606030504020204" pitchFamily="34" charset="0"/>
              </a:rPr>
              <a:t>1 pound is equal to 0.45359237 of a kilogram.</a:t>
            </a:r>
          </a:p>
        </p:txBody>
      </p:sp>
      <p:sp>
        <p:nvSpPr>
          <p:cNvPr id="11" name="Shape 126">
            <a:extLst>
              <a:ext uri="{FF2B5EF4-FFF2-40B4-BE49-F238E27FC236}">
                <a16:creationId xmlns:a16="http://schemas.microsoft.com/office/drawing/2014/main" id="{068F3409-63A9-293A-E8F1-A70A43C473E3}"/>
              </a:ext>
            </a:extLst>
          </p:cNvPr>
          <p:cNvSpPr/>
          <p:nvPr/>
        </p:nvSpPr>
        <p:spPr>
          <a:xfrm>
            <a:off x="952498" y="459786"/>
            <a:ext cx="6513001"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Challenge</a:t>
            </a:r>
          </a:p>
        </p:txBody>
      </p:sp>
    </p:spTree>
    <p:extLst>
      <p:ext uri="{BB962C8B-B14F-4D97-AF65-F5344CB8AC3E}">
        <p14:creationId xmlns:p14="http://schemas.microsoft.com/office/powerpoint/2010/main" val="2515654493"/>
      </p:ext>
    </p:extLst>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10" name="Shape 131"/>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Floating Point Precision and a Challenge</a:t>
            </a:r>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 general, float and double are great for general floating point operations. </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But neither should be used when precise calculations are required – this is due to a limitation with how floating point numbers are stored, and not a Java problem as such.</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Java has a class called </a:t>
            </a:r>
            <a:r>
              <a:rPr lang="en-US" sz="6400" dirty="0" err="1">
                <a:latin typeface="Open Sans" panose="020B0606030504020204" pitchFamily="34" charset="0"/>
                <a:ea typeface="Open Sans" panose="020B0606030504020204" pitchFamily="34" charset="0"/>
                <a:cs typeface="Open Sans" panose="020B0606030504020204" pitchFamily="34" charset="0"/>
              </a:rPr>
              <a:t>BigDecimal</a:t>
            </a:r>
            <a:r>
              <a:rPr lang="en-US" sz="6400" dirty="0">
                <a:latin typeface="Open Sans" panose="020B0606030504020204" pitchFamily="34" charset="0"/>
                <a:ea typeface="Open Sans" panose="020B0606030504020204" pitchFamily="34" charset="0"/>
                <a:cs typeface="Open Sans" panose="020B0606030504020204" pitchFamily="34" charset="0"/>
              </a:rPr>
              <a:t> that overcomes this. </a:t>
            </a:r>
          </a:p>
        </p:txBody>
      </p:sp>
      <p:sp>
        <p:nvSpPr>
          <p:cNvPr id="11" name="Shape 126">
            <a:extLst>
              <a:ext uri="{FF2B5EF4-FFF2-40B4-BE49-F238E27FC236}">
                <a16:creationId xmlns:a16="http://schemas.microsoft.com/office/drawing/2014/main" id="{424BC744-5376-F3BA-C113-89CA610E1CB9}"/>
              </a:ext>
            </a:extLst>
          </p:cNvPr>
          <p:cNvSpPr/>
          <p:nvPr/>
        </p:nvSpPr>
        <p:spPr>
          <a:xfrm>
            <a:off x="952498" y="459786"/>
            <a:ext cx="23955276"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Floating Point Number Precision Tips</a:t>
            </a:r>
          </a:p>
        </p:txBody>
      </p:sp>
    </p:spTree>
    <p:extLst>
      <p:ext uri="{BB962C8B-B14F-4D97-AF65-F5344CB8AC3E}">
        <p14:creationId xmlns:p14="http://schemas.microsoft.com/office/powerpoint/2010/main" val="4010066310"/>
      </p:ext>
    </p:extLst>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
          <p:cNvSpPr/>
          <p:nvPr/>
        </p:nvSpPr>
        <p:spPr>
          <a:xfrm>
            <a:off x="952498" y="459786"/>
            <a:ext cx="14202606"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String Literal Example</a:t>
            </a:r>
            <a:endParaRPr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56" name="Google Shape;56;p1"/>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57" name="Google Shape;57;p1"/>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58" name="Google Shape;58;p1"/>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59" name="Google Shape;59;p1"/>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COMPLETE JAVA MASTERCLASS</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The char and </a:t>
            </a:r>
            <a:r>
              <a:rPr lang="en-US" sz="45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boolean</a:t>
            </a: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Primitive Data Types</a:t>
            </a: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60" name="Google Shape;60;p1"/>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If you recall, we've used literal strings before, and that's where we've typed some text in double quotes.</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We haven't really used a String variable yet, but we'll be doing that in upcoming videos.</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pic>
        <p:nvPicPr>
          <p:cNvPr id="61" name="Google Shape;61;p1"/>
          <p:cNvPicPr preferRelativeResize="0"/>
          <p:nvPr/>
        </p:nvPicPr>
        <p:blipFill rotWithShape="1">
          <a:blip r:embed="rId4">
            <a:alphaModFix/>
          </a:blip>
          <a:srcRect/>
          <a:stretch/>
        </p:blipFill>
        <p:spPr>
          <a:xfrm>
            <a:off x="8157258" y="6778348"/>
            <a:ext cx="20261484" cy="1208655"/>
          </a:xfrm>
          <a:prstGeom prst="rect">
            <a:avLst/>
          </a:prstGeom>
          <a:noFill/>
          <a:ln>
            <a:noFill/>
          </a:ln>
        </p:spPr>
      </p:pic>
    </p:spTree>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2"/>
          <p:cNvSpPr/>
          <p:nvPr/>
        </p:nvSpPr>
        <p:spPr>
          <a:xfrm>
            <a:off x="952498" y="459786"/>
            <a:ext cx="21268643"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dirty="0">
                <a:solidFill>
                  <a:srgbClr val="000000"/>
                </a:solidFill>
                <a:latin typeface="Open Sans"/>
                <a:ea typeface="Open Sans"/>
                <a:cs typeface="Open Sans"/>
                <a:sym typeface="Open Sans"/>
              </a:rPr>
              <a:t>Comparing the char to the String</a:t>
            </a:r>
            <a:endParaRPr dirty="0"/>
          </a:p>
        </p:txBody>
      </p:sp>
      <p:cxnSp>
        <p:nvCxnSpPr>
          <p:cNvPr id="67" name="Google Shape;67;p2"/>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68" name="Google Shape;68;p2"/>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69" name="Google Shape;69;p2"/>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70" name="Google Shape;70;p2"/>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COMPLETE JAVA MASTERCLASS</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The char and </a:t>
            </a:r>
            <a:r>
              <a:rPr lang="en-US" sz="45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boolean</a:t>
            </a: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Primitive Data Types</a:t>
            </a: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Rectangle 8">
            <a:extLst>
              <a:ext uri="{FF2B5EF4-FFF2-40B4-BE49-F238E27FC236}">
                <a16:creationId xmlns:a16="http://schemas.microsoft.com/office/drawing/2014/main" id="{A05F2380-18A5-86DB-9BDB-C7E203607347}"/>
              </a:ext>
            </a:extLst>
          </p:cNvPr>
          <p:cNvSpPr/>
          <p:nvPr/>
        </p:nvSpPr>
        <p:spPr>
          <a:xfrm>
            <a:off x="952501" y="4285904"/>
            <a:ext cx="34782670" cy="1216723"/>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table is a quick summary of the differences between the char and the String.</a:t>
            </a:r>
          </a:p>
        </p:txBody>
      </p:sp>
      <p:graphicFrame>
        <p:nvGraphicFramePr>
          <p:cNvPr id="12" name="Table 6">
            <a:extLst>
              <a:ext uri="{FF2B5EF4-FFF2-40B4-BE49-F238E27FC236}">
                <a16:creationId xmlns:a16="http://schemas.microsoft.com/office/drawing/2014/main" id="{62C79ECB-580C-20E8-4313-F8FC5A03C42C}"/>
              </a:ext>
            </a:extLst>
          </p:cNvPr>
          <p:cNvGraphicFramePr>
            <a:graphicFrameLocks noGrp="1"/>
          </p:cNvGraphicFramePr>
          <p:nvPr/>
        </p:nvGraphicFramePr>
        <p:xfrm>
          <a:off x="2365300" y="6662037"/>
          <a:ext cx="31845400" cy="7249926"/>
        </p:xfrm>
        <a:graphic>
          <a:graphicData uri="http://schemas.openxmlformats.org/drawingml/2006/table">
            <a:tbl>
              <a:tblPr firstRow="1" bandRow="1">
                <a:tableStyleId>{5C22544A-7EE6-4342-B048-85BDC9FD1C3A}</a:tableStyleId>
              </a:tblPr>
              <a:tblGrid>
                <a:gridCol w="15922700">
                  <a:extLst>
                    <a:ext uri="{9D8B030D-6E8A-4147-A177-3AD203B41FA5}">
                      <a16:colId xmlns:a16="http://schemas.microsoft.com/office/drawing/2014/main" val="2398957492"/>
                    </a:ext>
                  </a:extLst>
                </a:gridCol>
                <a:gridCol w="15922700">
                  <a:extLst>
                    <a:ext uri="{9D8B030D-6E8A-4147-A177-3AD203B41FA5}">
                      <a16:colId xmlns:a16="http://schemas.microsoft.com/office/drawing/2014/main" val="1725977642"/>
                    </a:ext>
                  </a:extLst>
                </a:gridCol>
              </a:tblGrid>
              <a:tr h="3374697">
                <a:tc>
                  <a:txBody>
                    <a:bodyPr/>
                    <a:lstStyle/>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char</a:t>
                      </a:r>
                      <a:endParaRPr lang="en-PH" sz="6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String</a:t>
                      </a:r>
                      <a:endParaRPr lang="en-PH" sz="6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3875229">
                <a:tc>
                  <a:txBody>
                    <a:bodyPr/>
                    <a:lstStyle/>
                    <a:p>
                      <a:pPr marL="2127600" marR="0" lvl="0" indent="-68580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Char char="•"/>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Holds one, and only one, character</a:t>
                      </a:r>
                    </a:p>
                    <a:p>
                      <a:pPr marL="2127600" marR="0" lvl="0" indent="-68580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Char char="•"/>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Literal enclosed in Single Quotes</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127600" marR="0" lvl="0" indent="-68580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Char char="•"/>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Can hold multiple characters</a:t>
                      </a:r>
                    </a:p>
                    <a:p>
                      <a:pPr marL="2127600" marR="0" lvl="0" indent="-68580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Char char="•"/>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Literal enclosed in Double Quotes</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7302300"/>
                  </a:ext>
                </a:extLst>
              </a:tr>
            </a:tbl>
          </a:graphicData>
        </a:graphic>
      </p:graphicFrame>
    </p:spTree>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3"/>
          <p:cNvSpPr/>
          <p:nvPr/>
        </p:nvSpPr>
        <p:spPr>
          <a:xfrm>
            <a:off x="952498" y="795687"/>
            <a:ext cx="33531615" cy="1384995"/>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8000"/>
              <a:buFont typeface="Open Sans"/>
              <a:buNone/>
            </a:pPr>
            <a:r>
              <a:rPr lang="en-US" sz="8000" b="0" i="0" u="none" strike="noStrike" cap="none" dirty="0">
                <a:solidFill>
                  <a:srgbClr val="000000"/>
                </a:solidFill>
                <a:latin typeface="Open Sans"/>
                <a:ea typeface="Open Sans"/>
                <a:cs typeface="Open Sans"/>
                <a:sym typeface="Open Sans"/>
              </a:rPr>
              <a:t>Is there a good use for the char data type in today's computing world?</a:t>
            </a:r>
            <a:endParaRPr dirty="0"/>
          </a:p>
        </p:txBody>
      </p:sp>
      <p:cxnSp>
        <p:nvCxnSpPr>
          <p:cNvPr id="78" name="Google Shape;78;p3"/>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79" name="Google Shape;79;p3"/>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80" name="Google Shape;80;p3"/>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81" name="Google Shape;81;p3"/>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COMPLETE JAVA MASTERCLASS</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The char and </a:t>
            </a:r>
            <a:r>
              <a:rPr lang="en-US" sz="45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boolean</a:t>
            </a: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Primitive Data Types</a:t>
            </a: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82" name="Google Shape;82;p3"/>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Why would you want to use a variable that only allows you to store one character?</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One example might be to store the last key pressed by a user in a game.</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Another example might be to loop programmatically through the letters in an alphabet.   </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5022"/>
              </a:spcBef>
              <a:spcAft>
                <a:spcPts val="0"/>
              </a:spcAft>
              <a:buClr>
                <a:srgbClr val="000000"/>
              </a:buClr>
              <a:buSzPts val="6400"/>
              <a:buFont typeface="Open Sans"/>
              <a:buNone/>
            </a:pPr>
            <a:endParaRPr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4"/>
          <p:cNvSpPr/>
          <p:nvPr/>
        </p:nvSpPr>
        <p:spPr>
          <a:xfrm>
            <a:off x="952498" y="459786"/>
            <a:ext cx="10206320"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char Data Type</a:t>
            </a:r>
            <a:endParaRPr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88" name="Google Shape;88;p4"/>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89" name="Google Shape;89;p4"/>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90" name="Google Shape;90;p4"/>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91" name="Google Shape;91;p4"/>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COMPLETE JAVA MASTERCLASS</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The char and </a:t>
            </a:r>
            <a:r>
              <a:rPr lang="en-US" sz="45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boolean</a:t>
            </a: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Primitive Data Types</a:t>
            </a: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92" name="Google Shape;92;p4"/>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A char occupies two bytes of memory, or 16 bits, and thus has a width of 16.</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The reason it's not just a single byte, is that a char is stored as a 2 byte number, similar to the short.  </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This number gets mapped to a single character by Java.</a:t>
            </a:r>
            <a:endParaRPr dirty="0">
              <a:latin typeface="Open Sans" panose="020B0606030504020204" pitchFamily="34" charset="0"/>
              <a:ea typeface="Open Sans" panose="020B0606030504020204" pitchFamily="34" charset="0"/>
              <a:cs typeface="Open Sans" panose="020B0606030504020204" pitchFamily="34" charset="0"/>
            </a:endParaRPr>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So, when you print a char, you will see the mapped character, and not the representative number.</a:t>
            </a:r>
            <a:endParaRPr dirty="0">
              <a:latin typeface="Open Sans" panose="020B0606030504020204" pitchFamily="34" charset="0"/>
              <a:ea typeface="Open Sans" panose="020B0606030504020204" pitchFamily="34" charset="0"/>
              <a:cs typeface="Open Sans" panose="020B0606030504020204" pitchFamily="34" charset="0"/>
            </a:endParaRPr>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And you can use single quotes and a character literal to assign a value to a char, which is much simpler than looking up the representative number.</a:t>
            </a:r>
            <a:endParaRPr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5"/>
          <p:cNvSpPr/>
          <p:nvPr/>
        </p:nvSpPr>
        <p:spPr>
          <a:xfrm>
            <a:off x="952498" y="459786"/>
            <a:ext cx="5483874"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Unicode</a:t>
            </a:r>
            <a:endParaRPr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98" name="Google Shape;98;p5"/>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99" name="Google Shape;99;p5"/>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00" name="Google Shape;100;p5"/>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01" name="Google Shape;101;p5"/>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COMPLETE JAVA MASTERCLASS</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The char and </a:t>
            </a:r>
            <a:r>
              <a:rPr lang="en-US" sz="45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boolean</a:t>
            </a: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Primitive Data Types</a:t>
            </a: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102" name="Google Shape;102;p5"/>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Unicode is an international encoding standard for use with different languages and scripts by which each letter, digit, or symbol is assigned a unique numeric value that applies across different platforms and programs.</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In the English alphabet, we've got the letters A through Z, meaning only 26 characters are needed in total to represent the entire English alphabet.</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But other languages need more characters, and often a lot more.</a:t>
            </a:r>
            <a:endParaRPr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6"/>
          <p:cNvSpPr/>
          <p:nvPr/>
        </p:nvSpPr>
        <p:spPr>
          <a:xfrm>
            <a:off x="952498" y="459786"/>
            <a:ext cx="22240063"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dirty="0">
                <a:solidFill>
                  <a:srgbClr val="000000"/>
                </a:solidFill>
                <a:latin typeface="Open Sans"/>
                <a:ea typeface="Open Sans"/>
                <a:cs typeface="Open Sans"/>
                <a:sym typeface="Open Sans"/>
              </a:rPr>
              <a:t>Assigning values to a char variable</a:t>
            </a:r>
            <a:endParaRPr dirty="0"/>
          </a:p>
        </p:txBody>
      </p:sp>
      <p:cxnSp>
        <p:nvCxnSpPr>
          <p:cNvPr id="108" name="Google Shape;108;p6"/>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09" name="Google Shape;109;p6"/>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10" name="Google Shape;110;p6"/>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11" name="Google Shape;111;p6"/>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COMPLETE JAVA MASTERCLASS</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The char and </a:t>
            </a:r>
            <a:r>
              <a:rPr lang="en-US" sz="45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boolean</a:t>
            </a: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Primitive Data Types</a:t>
            </a: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Rectangle 8">
            <a:extLst>
              <a:ext uri="{FF2B5EF4-FFF2-40B4-BE49-F238E27FC236}">
                <a16:creationId xmlns:a16="http://schemas.microsoft.com/office/drawing/2014/main" id="{3605F744-4C6A-7B93-010D-DEE07620AC36}"/>
              </a:ext>
            </a:extLst>
          </p:cNvPr>
          <p:cNvSpPr/>
          <p:nvPr/>
        </p:nvSpPr>
        <p:spPr>
          <a:xfrm>
            <a:off x="952501" y="4285904"/>
            <a:ext cx="34782670" cy="226418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There are three ways to assign a value to a char: Each of these methods, represents storing the letter, capital D, in memory.</a:t>
            </a:r>
          </a:p>
        </p:txBody>
      </p:sp>
      <p:graphicFrame>
        <p:nvGraphicFramePr>
          <p:cNvPr id="10" name="Table 6">
            <a:extLst>
              <a:ext uri="{FF2B5EF4-FFF2-40B4-BE49-F238E27FC236}">
                <a16:creationId xmlns:a16="http://schemas.microsoft.com/office/drawing/2014/main" id="{8AC069A9-AE3D-E63A-900F-B9E294A71BDF}"/>
              </a:ext>
            </a:extLst>
          </p:cNvPr>
          <p:cNvGraphicFramePr>
            <a:graphicFrameLocks noGrp="1"/>
          </p:cNvGraphicFramePr>
          <p:nvPr/>
        </p:nvGraphicFramePr>
        <p:xfrm>
          <a:off x="4149784" y="6662037"/>
          <a:ext cx="28276432" cy="6195547"/>
        </p:xfrm>
        <a:graphic>
          <a:graphicData uri="http://schemas.openxmlformats.org/drawingml/2006/table">
            <a:tbl>
              <a:tblPr firstRow="1" bandRow="1">
                <a:tableStyleId>{5C22544A-7EE6-4342-B048-85BDC9FD1C3A}</a:tableStyleId>
              </a:tblPr>
              <a:tblGrid>
                <a:gridCol w="14138216">
                  <a:extLst>
                    <a:ext uri="{9D8B030D-6E8A-4147-A177-3AD203B41FA5}">
                      <a16:colId xmlns:a16="http://schemas.microsoft.com/office/drawing/2014/main" val="2398957492"/>
                    </a:ext>
                  </a:extLst>
                </a:gridCol>
                <a:gridCol w="14138216">
                  <a:extLst>
                    <a:ext uri="{9D8B030D-6E8A-4147-A177-3AD203B41FA5}">
                      <a16:colId xmlns:a16="http://schemas.microsoft.com/office/drawing/2014/main" val="1725977642"/>
                    </a:ext>
                  </a:extLst>
                </a:gridCol>
              </a:tblGrid>
              <a:tr h="1800073">
                <a:tc>
                  <a:txBody>
                    <a:bodyPr/>
                    <a:lstStyle/>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Assignment Type</a:t>
                      </a:r>
                      <a:endParaRPr lang="en-PH" sz="6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Example Code</a:t>
                      </a:r>
                      <a:endParaRPr lang="en-PH" sz="6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1465158">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 literal character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rgbClr val="0824A1"/>
                          </a:solidFill>
                          <a:latin typeface="Roboto Mono" panose="00000009000000000000" pitchFamily="49" charset="0"/>
                          <a:ea typeface="Roboto Mono" panose="00000009000000000000" pitchFamily="49" charset="0"/>
                          <a:cs typeface="Open Sans" panose="020B0606030504020204" pitchFamily="34" charset="0"/>
                        </a:rPr>
                        <a:t>char</a:t>
                      </a: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 </a:t>
                      </a:r>
                      <a:r>
                        <a:rPr lang="en-US" sz="6400" b="0" dirty="0" err="1">
                          <a:solidFill>
                            <a:srgbClr val="A59EA1"/>
                          </a:solidFill>
                          <a:latin typeface="Roboto Mono" panose="00000009000000000000" pitchFamily="49" charset="0"/>
                          <a:ea typeface="Roboto Mono" panose="00000009000000000000" pitchFamily="49" charset="0"/>
                          <a:cs typeface="Open Sans" panose="020B0606030504020204" pitchFamily="34" charset="0"/>
                        </a:rPr>
                        <a:t>myChar</a:t>
                      </a: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 = </a:t>
                      </a:r>
                      <a:r>
                        <a:rPr lang="en-US" sz="6400" b="0" dirty="0">
                          <a:solidFill>
                            <a:srgbClr val="157B11"/>
                          </a:solidFill>
                          <a:latin typeface="Roboto Mono" panose="00000009000000000000" pitchFamily="49" charset="0"/>
                          <a:ea typeface="Roboto Mono" panose="00000009000000000000" pitchFamily="49" charset="0"/>
                          <a:cs typeface="Open Sans" panose="020B0606030504020204" pitchFamily="34" charset="0"/>
                        </a:rPr>
                        <a:t>‘D’</a:t>
                      </a: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7302300"/>
                  </a:ext>
                </a:extLst>
              </a:tr>
              <a:tr h="1465158">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 Unicode value</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rgbClr val="0824A1"/>
                          </a:solidFill>
                          <a:latin typeface="Roboto Mono" panose="00000009000000000000" pitchFamily="49" charset="0"/>
                          <a:ea typeface="Roboto Mono" panose="00000009000000000000" pitchFamily="49" charset="0"/>
                          <a:cs typeface="Open Sans" panose="020B0606030504020204" pitchFamily="34" charset="0"/>
                        </a:rPr>
                        <a:t>char</a:t>
                      </a: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 </a:t>
                      </a:r>
                      <a:r>
                        <a:rPr lang="en-US" sz="6400" b="0" dirty="0" err="1">
                          <a:solidFill>
                            <a:srgbClr val="A59EA1"/>
                          </a:solidFill>
                          <a:latin typeface="Roboto Mono" panose="00000009000000000000" pitchFamily="49" charset="0"/>
                          <a:ea typeface="Roboto Mono" panose="00000009000000000000" pitchFamily="49" charset="0"/>
                          <a:cs typeface="Open Sans" panose="020B0606030504020204" pitchFamily="34" charset="0"/>
                        </a:rPr>
                        <a:t>myChar</a:t>
                      </a: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 = </a:t>
                      </a:r>
                      <a:r>
                        <a:rPr lang="en-US" sz="6400" b="0" dirty="0">
                          <a:solidFill>
                            <a:srgbClr val="157B11"/>
                          </a:solidFill>
                          <a:latin typeface="Roboto Mono" panose="00000009000000000000" pitchFamily="49" charset="0"/>
                          <a:ea typeface="Roboto Mono" panose="00000009000000000000" pitchFamily="49" charset="0"/>
                          <a:cs typeface="Open Sans" panose="020B0606030504020204" pitchFamily="34" charset="0"/>
                        </a:rPr>
                        <a:t>‘</a:t>
                      </a:r>
                      <a:r>
                        <a:rPr lang="en-US" sz="6400" b="0" dirty="0">
                          <a:solidFill>
                            <a:srgbClr val="0824A1"/>
                          </a:solidFill>
                          <a:latin typeface="Roboto Mono" panose="00000009000000000000" pitchFamily="49" charset="0"/>
                          <a:ea typeface="Roboto Mono" panose="00000009000000000000" pitchFamily="49" charset="0"/>
                          <a:cs typeface="Open Sans" panose="020B0606030504020204" pitchFamily="34" charset="0"/>
                        </a:rPr>
                        <a:t>\u0044</a:t>
                      </a:r>
                      <a:r>
                        <a:rPr lang="en-US" sz="6400" b="0" dirty="0">
                          <a:solidFill>
                            <a:srgbClr val="157B11"/>
                          </a:solidFill>
                          <a:latin typeface="Roboto Mono" panose="00000009000000000000" pitchFamily="49" charset="0"/>
                          <a:ea typeface="Roboto Mono" panose="00000009000000000000" pitchFamily="49" charset="0"/>
                          <a:cs typeface="Open Sans" panose="020B0606030504020204" pitchFamily="34" charset="0"/>
                        </a:rPr>
                        <a:t>’</a:t>
                      </a: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3675513"/>
                  </a:ext>
                </a:extLst>
              </a:tr>
              <a:tr h="1465158">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an integer value</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rgbClr val="0824A1"/>
                          </a:solidFill>
                          <a:latin typeface="Roboto Mono" panose="00000009000000000000" pitchFamily="49" charset="0"/>
                          <a:ea typeface="Roboto Mono" panose="00000009000000000000" pitchFamily="49" charset="0"/>
                          <a:cs typeface="Open Sans" panose="020B0606030504020204" pitchFamily="34" charset="0"/>
                        </a:rPr>
                        <a:t>char</a:t>
                      </a: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 </a:t>
                      </a:r>
                      <a:r>
                        <a:rPr lang="en-US" sz="6400" b="0" dirty="0" err="1">
                          <a:solidFill>
                            <a:srgbClr val="171721"/>
                          </a:solidFill>
                          <a:latin typeface="Roboto Mono" panose="00000009000000000000" pitchFamily="49" charset="0"/>
                          <a:ea typeface="Roboto Mono" panose="00000009000000000000" pitchFamily="49" charset="0"/>
                          <a:cs typeface="Open Sans" panose="020B0606030504020204" pitchFamily="34" charset="0"/>
                        </a:rPr>
                        <a:t>myChar</a:t>
                      </a: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 = </a:t>
                      </a:r>
                      <a:r>
                        <a:rPr lang="en-US" sz="6400" b="0" dirty="0">
                          <a:solidFill>
                            <a:srgbClr val="172DFF"/>
                          </a:solidFill>
                          <a:latin typeface="Roboto Mono" panose="00000009000000000000" pitchFamily="49" charset="0"/>
                          <a:ea typeface="Roboto Mono" panose="00000009000000000000" pitchFamily="49" charset="0"/>
                          <a:cs typeface="Open Sans" panose="020B0606030504020204" pitchFamily="34" charset="0"/>
                        </a:rPr>
                        <a:t>68</a:t>
                      </a:r>
                      <a:r>
                        <a:rPr lang="en-US" sz="6400" b="0" dirty="0">
                          <a:solidFill>
                            <a:schemeClr val="tx1"/>
                          </a:solidFill>
                          <a:latin typeface="Roboto Mono" panose="00000009000000000000" pitchFamily="49" charset="0"/>
                          <a:ea typeface="Roboto Mono" panose="00000009000000000000" pitchFamily="49" charset="0"/>
                          <a:cs typeface="Open Sans" panose="020B0606030504020204" pitchFamily="34" charset="0"/>
                        </a:rPr>
                        <a: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1384029"/>
                  </a:ext>
                </a:extLst>
              </a:tr>
            </a:tbl>
          </a:graphicData>
        </a:graphic>
      </p:graphicFrame>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7"/>
          <p:cNvSpPr/>
          <p:nvPr/>
        </p:nvSpPr>
        <p:spPr>
          <a:xfrm>
            <a:off x="952498" y="459786"/>
            <a:ext cx="12469760"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The char Challenge</a:t>
            </a:r>
            <a:endParaRPr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119" name="Google Shape;119;p7"/>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20" name="Google Shape;120;p7"/>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21" name="Google Shape;121;p7"/>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22" name="Google Shape;122;p7"/>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COMPLETE JAVA MASTERCLASS</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The char and </a:t>
            </a:r>
            <a:r>
              <a:rPr lang="en-US" sz="45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boolean</a:t>
            </a: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Primitive Data Types</a:t>
            </a: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123" name="Google Shape;123;p7"/>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Create three char variables to store the character for the </a:t>
            </a:r>
            <a:r>
              <a:rPr lang="en-US" sz="6400" b="0" i="0" u="none" strike="noStrike" cap="none">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question-mark symbol.</a:t>
            </a:r>
            <a:endParaRPr dirty="0">
              <a:latin typeface="Open Sans" panose="020B0606030504020204" pitchFamily="34" charset="0"/>
              <a:ea typeface="Open Sans" panose="020B0606030504020204" pitchFamily="34" charset="0"/>
              <a:cs typeface="Open Sans" panose="020B0606030504020204" pitchFamily="34" charset="0"/>
            </a:endParaRPr>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dirty="0" err="1">
                <a:solidFill>
                  <a:srgbClr val="000000"/>
                </a:solidFill>
                <a:latin typeface="Roboto Mono" panose="00000009000000000000" pitchFamily="49" charset="0"/>
                <a:ea typeface="Roboto Mono" panose="00000009000000000000" pitchFamily="49" charset="0"/>
                <a:cs typeface="Open Sans" panose="020B0606030504020204" pitchFamily="34" charset="0"/>
                <a:sym typeface="Droid Sans Mono"/>
              </a:rPr>
              <a:t>mySimpleChar</a:t>
            </a: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should be assigned the literal question-mark character ?.</a:t>
            </a:r>
            <a:endParaRPr dirty="0">
              <a:latin typeface="Open Sans" panose="020B0606030504020204" pitchFamily="34" charset="0"/>
              <a:ea typeface="Open Sans" panose="020B0606030504020204" pitchFamily="34" charset="0"/>
              <a:cs typeface="Open Sans" panose="020B0606030504020204" pitchFamily="34" charset="0"/>
            </a:endParaRPr>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dirty="0" err="1">
                <a:solidFill>
                  <a:srgbClr val="000000"/>
                </a:solidFill>
                <a:latin typeface="Roboto Mono" panose="00000009000000000000" pitchFamily="49" charset="0"/>
                <a:ea typeface="Roboto Mono" panose="00000009000000000000" pitchFamily="49" charset="0"/>
                <a:cs typeface="Open Sans" panose="020B0606030504020204" pitchFamily="34" charset="0"/>
                <a:sym typeface="Droid Sans Mono"/>
              </a:rPr>
              <a:t>myUnicodeChar</a:t>
            </a: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should be assigned the </a:t>
            </a:r>
            <a:r>
              <a:rPr lang="en-US" sz="64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unicode</a:t>
            </a: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value for the question-mark ?.</a:t>
            </a:r>
            <a:endParaRPr dirty="0">
              <a:latin typeface="Open Sans" panose="020B0606030504020204" pitchFamily="34" charset="0"/>
              <a:ea typeface="Open Sans" panose="020B0606030504020204" pitchFamily="34" charset="0"/>
              <a:cs typeface="Open Sans" panose="020B0606030504020204" pitchFamily="34" charset="0"/>
            </a:endParaRPr>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dirty="0" err="1">
                <a:solidFill>
                  <a:srgbClr val="000000"/>
                </a:solidFill>
                <a:latin typeface="Roboto Mono" panose="00000009000000000000" pitchFamily="49" charset="0"/>
                <a:ea typeface="Roboto Mono" panose="00000009000000000000" pitchFamily="49" charset="0"/>
                <a:cs typeface="Open Sans" panose="020B0606030504020204" pitchFamily="34" charset="0"/>
                <a:sym typeface="Droid Sans Mono"/>
              </a:rPr>
              <a:t>myDecimalChar</a:t>
            </a: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should be assigned the decimal value for the question-mark ?.</a:t>
            </a:r>
            <a:endParaRPr dirty="0">
              <a:latin typeface="Open Sans" panose="020B0606030504020204" pitchFamily="34" charset="0"/>
              <a:ea typeface="Open Sans" panose="020B0606030504020204" pitchFamily="34" charset="0"/>
              <a:cs typeface="Open Sans" panose="020B0606030504020204" pitchFamily="34" charset="0"/>
            </a:endParaRPr>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Print all three variables in one statement, that starts with the label “My values are”.</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Hint: Use the </a:t>
            </a:r>
            <a:r>
              <a:rPr lang="en-US" sz="6400" b="0" i="0" u="none" strike="noStrike" cap="none" dirty="0">
                <a:solidFill>
                  <a:schemeClr val="accent1"/>
                </a:solidFill>
                <a:latin typeface="Open Sans" panose="020B0606030504020204" pitchFamily="34" charset="0"/>
                <a:ea typeface="Open Sans" panose="020B0606030504020204" pitchFamily="34" charset="0"/>
                <a:cs typeface="Open Sans" panose="020B0606030504020204" pitchFamily="34" charset="0"/>
                <a:sym typeface="Open Sans"/>
                <a:hlinkClick r:id="rId4">
                  <a:extLst>
                    <a:ext uri="{A12FA001-AC4F-418D-AE19-62706E023703}">
                      <ahyp:hlinkClr xmlns:ahyp="http://schemas.microsoft.com/office/drawing/2018/hyperlinkcolor" val="tx"/>
                    </a:ext>
                  </a:extLst>
                </a:hlinkClick>
              </a:rPr>
              <a:t>symbl.cc</a:t>
            </a: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website</a:t>
            </a:r>
            <a:endParaRPr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Shape 127"/>
        <p:cNvGrpSpPr/>
        <p:nvPr/>
      </p:nvGrpSpPr>
      <p:grpSpPr>
        <a:xfrm>
          <a:off x="0" y="0"/>
          <a:ext cx="0" cy="0"/>
          <a:chOff x="0" y="0"/>
          <a:chExt cx="0" cy="0"/>
        </a:xfrm>
      </p:grpSpPr>
      <p:sp>
        <p:nvSpPr>
          <p:cNvPr id="128" name="Google Shape;128;p8"/>
          <p:cNvSpPr/>
          <p:nvPr/>
        </p:nvSpPr>
        <p:spPr>
          <a:xfrm>
            <a:off x="952498" y="459786"/>
            <a:ext cx="26071240"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dirty="0">
                <a:solidFill>
                  <a:srgbClr val="000000"/>
                </a:solidFill>
                <a:latin typeface="Open Sans"/>
                <a:ea typeface="Open Sans"/>
                <a:cs typeface="Open Sans"/>
                <a:sym typeface="Open Sans"/>
              </a:rPr>
              <a:t>Note on </a:t>
            </a:r>
            <a:r>
              <a:rPr lang="en-US" sz="10800" b="0" i="0" u="none" strike="noStrike" cap="none" dirty="0" err="1">
                <a:solidFill>
                  <a:srgbClr val="000000"/>
                </a:solidFill>
                <a:latin typeface="Open Sans"/>
                <a:ea typeface="Open Sans"/>
                <a:cs typeface="Open Sans"/>
                <a:sym typeface="Open Sans"/>
              </a:rPr>
              <a:t>JShell</a:t>
            </a:r>
            <a:r>
              <a:rPr lang="en-US" sz="10800" b="0" i="0" u="none" strike="noStrike" cap="none" dirty="0">
                <a:solidFill>
                  <a:srgbClr val="000000"/>
                </a:solidFill>
                <a:latin typeface="Open Sans"/>
                <a:ea typeface="Open Sans"/>
                <a:cs typeface="Open Sans"/>
                <a:sym typeface="Open Sans"/>
              </a:rPr>
              <a:t> and UTF-8 </a:t>
            </a:r>
            <a:r>
              <a:rPr lang="en-US" sz="10800" b="0" i="0" u="none" strike="noStrike" cap="none" dirty="0" err="1">
                <a:solidFill>
                  <a:srgbClr val="000000"/>
                </a:solidFill>
                <a:latin typeface="Open Sans"/>
                <a:ea typeface="Open Sans"/>
                <a:cs typeface="Open Sans"/>
                <a:sym typeface="Open Sans"/>
              </a:rPr>
              <a:t>unicode</a:t>
            </a:r>
            <a:r>
              <a:rPr lang="en-US" sz="10800" b="0" i="0" u="none" strike="noStrike" cap="none" dirty="0">
                <a:solidFill>
                  <a:srgbClr val="000000"/>
                </a:solidFill>
                <a:latin typeface="Open Sans"/>
                <a:ea typeface="Open Sans"/>
                <a:cs typeface="Open Sans"/>
                <a:sym typeface="Open Sans"/>
              </a:rPr>
              <a:t> values</a:t>
            </a:r>
            <a:endParaRPr dirty="0"/>
          </a:p>
        </p:txBody>
      </p:sp>
      <p:cxnSp>
        <p:nvCxnSpPr>
          <p:cNvPr id="129" name="Google Shape;129;p8"/>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30" name="Google Shape;130;p8"/>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31" name="Google Shape;131;p8"/>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32" name="Google Shape;132;p8"/>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COMPLETE JAVA MASTERCLASS</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The char and </a:t>
            </a:r>
            <a:r>
              <a:rPr lang="en-US" sz="45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boolean</a:t>
            </a: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Primitive Data Types</a:t>
            </a: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133" name="Google Shape;133;p8"/>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There are a lot more characters, which are not on the usual keyboard, that can be output by this method, for example the copyright symbol. </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But, if you are testing this out on your own, using Windows, you should be aware that </a:t>
            </a:r>
            <a:r>
              <a:rPr lang="en-US" sz="64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JShell</a:t>
            </a: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may give you an unexpected result, because UTF-8 is not supported, by default, for command line operations. </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I point it out here, in case you are being adventurous, and do encounter this problem.  </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Again, this is only a problem with </a:t>
            </a:r>
            <a:r>
              <a:rPr lang="en-US" sz="64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JShell</a:t>
            </a: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and Windows users.</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This won't be a problem in Java or IntelliJ, or if you're using MAC or Linux.</a:t>
            </a:r>
            <a:endParaRPr sz="6400" b="0" i="0" u="sng" strike="noStrike" cap="none" dirty="0">
              <a:solidFill>
                <a:schemeClr val="accent1"/>
              </a:solidFill>
              <a:latin typeface="Open Sans" panose="020B0606030504020204" pitchFamily="34" charset="0"/>
              <a:ea typeface="Open Sans" panose="020B0606030504020204" pitchFamily="34" charset="0"/>
              <a:cs typeface="Open Sans" panose="020B0606030504020204" pitchFamily="34" charset="0"/>
              <a:sym typeface="Open Sans"/>
            </a:endParaRPr>
          </a:p>
        </p:txBody>
      </p:sp>
    </p:spTree>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9"/>
          <p:cNvSpPr/>
          <p:nvPr/>
        </p:nvSpPr>
        <p:spPr>
          <a:xfrm>
            <a:off x="952498" y="459786"/>
            <a:ext cx="14983269"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dirty="0">
                <a:solidFill>
                  <a:srgbClr val="000000"/>
                </a:solidFill>
                <a:latin typeface="Open Sans"/>
                <a:ea typeface="Open Sans"/>
                <a:cs typeface="Open Sans"/>
                <a:sym typeface="Open Sans"/>
              </a:rPr>
              <a:t>Boolean Primitive Type</a:t>
            </a:r>
            <a:endParaRPr dirty="0"/>
          </a:p>
        </p:txBody>
      </p:sp>
      <p:cxnSp>
        <p:nvCxnSpPr>
          <p:cNvPr id="139" name="Google Shape;139;p9"/>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40" name="Google Shape;140;p9"/>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41" name="Google Shape;141;p9"/>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42" name="Google Shape;142;p9"/>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COMPLETE JAVA MASTERCLASS</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The char and </a:t>
            </a:r>
            <a:r>
              <a:rPr lang="en-US" sz="45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boolean</a:t>
            </a: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Primitive Data Types</a:t>
            </a: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143" name="Google Shape;143;p9"/>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A </a:t>
            </a:r>
            <a:r>
              <a:rPr lang="en-US" sz="64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boolean</a:t>
            </a: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value allows for two opposite choices, true or false, yes or no, one or zero.</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In Java terms, we've got a </a:t>
            </a:r>
            <a:r>
              <a:rPr lang="en-US" sz="64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boolean</a:t>
            </a: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primitive type, and it can be set to two values only, either true or false.</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The wrapper for </a:t>
            </a:r>
            <a:r>
              <a:rPr lang="en-US" sz="64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boolean</a:t>
            </a:r>
            <a:r>
              <a:rPr lang="en-US" sz="6400" b="0" i="0" u="none" strike="noStrike" cap="none">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is Boolean with a capital B.</a:t>
            </a:r>
          </a:p>
        </p:txBody>
      </p:sp>
    </p:spTree>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0"/>
          <p:cNvSpPr/>
          <p:nvPr/>
        </p:nvSpPr>
        <p:spPr>
          <a:xfrm>
            <a:off x="952498" y="758363"/>
            <a:ext cx="34777149" cy="1461939"/>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8500"/>
              <a:buFont typeface="Open Sans"/>
              <a:buNone/>
            </a:pPr>
            <a:r>
              <a:rPr lang="en-US" sz="8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Why would you start your </a:t>
            </a:r>
            <a:r>
              <a:rPr lang="en-US" sz="85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boolean</a:t>
            </a:r>
            <a:r>
              <a:rPr lang="en-US" sz="8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variable name with the prefix 'is'?</a:t>
            </a:r>
            <a:endParaRPr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149" name="Google Shape;149;p10"/>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50" name="Google Shape;150;p10"/>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51" name="Google Shape;151;p10"/>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52" name="Google Shape;152;p10"/>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COMPLETE JAVA MASTERCLASS</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The char and </a:t>
            </a:r>
            <a:r>
              <a:rPr lang="en-US" sz="45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boolean</a:t>
            </a: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Primitive Data Types</a:t>
            </a: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153" name="Google Shape;153;p10"/>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Developers will often use the word, is, as a prefix for a </a:t>
            </a:r>
            <a:r>
              <a:rPr lang="en-US" sz="64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boolean</a:t>
            </a: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variable name.</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This creates a name that seems to ask a question, which makes reading the code more intuitive.</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But other prefixes can be just as valid.</a:t>
            </a:r>
            <a:endParaRPr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0"/>
          <p:cNvSpPr/>
          <p:nvPr/>
        </p:nvSpPr>
        <p:spPr>
          <a:xfrm>
            <a:off x="952498" y="758363"/>
            <a:ext cx="34777149" cy="1461939"/>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8500"/>
              <a:buFont typeface="Open Sans"/>
              <a:buNone/>
            </a:pPr>
            <a:r>
              <a:rPr lang="en-US" sz="8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Why would you start your </a:t>
            </a:r>
            <a:r>
              <a:rPr lang="en-US" sz="85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boolean</a:t>
            </a:r>
            <a:r>
              <a:rPr lang="en-US" sz="8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variable name with the prefix 'is'?</a:t>
            </a:r>
            <a:endParaRPr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149" name="Google Shape;149;p10"/>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50" name="Google Shape;150;p10"/>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51" name="Google Shape;151;p10"/>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52" name="Google Shape;152;p10"/>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COMPLETE JAVA MASTERCLASS</a:t>
            </a:r>
            <a:endParaRPr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The char and </a:t>
            </a:r>
            <a:r>
              <a:rPr lang="en-US" sz="4500" b="0" i="0" u="none" strike="noStrike" cap="none" dirty="0" err="1">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boolean</a:t>
            </a:r>
            <a:r>
              <a:rPr lang="en-US" sz="45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Open Sans"/>
              </a:rPr>
              <a:t> Primitive Data Types</a:t>
            </a:r>
            <a:endParaRPr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Rectangle 8">
            <a:extLst>
              <a:ext uri="{FF2B5EF4-FFF2-40B4-BE49-F238E27FC236}">
                <a16:creationId xmlns:a16="http://schemas.microsoft.com/office/drawing/2014/main" id="{D9440BD8-0B38-D195-B6FA-ED5E6C33F65F}"/>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Here are some example </a:t>
            </a:r>
            <a:r>
              <a:rPr lang="en-US" sz="6400" dirty="0" err="1">
                <a:latin typeface="Open Sans" panose="020B0606030504020204" pitchFamily="34" charset="0"/>
                <a:ea typeface="Open Sans" panose="020B0606030504020204" pitchFamily="34" charset="0"/>
                <a:cs typeface="Open Sans" panose="020B0606030504020204" pitchFamily="34" charset="0"/>
              </a:rPr>
              <a:t>boolean</a:t>
            </a:r>
            <a:r>
              <a:rPr lang="en-US" sz="6400" dirty="0">
                <a:latin typeface="Open Sans" panose="020B0606030504020204" pitchFamily="34" charset="0"/>
                <a:ea typeface="Open Sans" panose="020B0606030504020204" pitchFamily="34" charset="0"/>
                <a:cs typeface="Open Sans" panose="020B0606030504020204" pitchFamily="34" charset="0"/>
              </a:rPr>
              <a:t> variable names, such as </a:t>
            </a:r>
            <a:r>
              <a:rPr lang="en-US" sz="6400" dirty="0" err="1">
                <a:latin typeface="Open Sans" panose="020B0606030504020204" pitchFamily="34" charset="0"/>
                <a:ea typeface="Open Sans" panose="020B0606030504020204" pitchFamily="34" charset="0"/>
                <a:cs typeface="Open Sans" panose="020B0606030504020204" pitchFamily="34" charset="0"/>
              </a:rPr>
              <a:t>isMarried</a:t>
            </a:r>
            <a:r>
              <a:rPr lang="en-US" sz="6400" dirty="0">
                <a:latin typeface="Open Sans" panose="020B0606030504020204" pitchFamily="34" charset="0"/>
                <a:ea typeface="Open Sans" panose="020B0606030504020204" pitchFamily="34" charset="0"/>
                <a:cs typeface="Open Sans" panose="020B0606030504020204" pitchFamily="34" charset="0"/>
              </a:rPr>
              <a:t> and </a:t>
            </a:r>
            <a:r>
              <a:rPr lang="en-US" sz="6400" dirty="0" err="1">
                <a:latin typeface="Open Sans" panose="020B0606030504020204" pitchFamily="34" charset="0"/>
                <a:ea typeface="Open Sans" panose="020B0606030504020204" pitchFamily="34" charset="0"/>
                <a:cs typeface="Open Sans" panose="020B0606030504020204" pitchFamily="34" charset="0"/>
              </a:rPr>
              <a:t>hasChildren</a:t>
            </a:r>
            <a:r>
              <a:rPr lang="en-US" sz="6400" dirty="0">
                <a:latin typeface="Open Sans" panose="020B0606030504020204" pitchFamily="34" charset="0"/>
                <a:ea typeface="Open Sans" panose="020B0606030504020204" pitchFamily="34" charset="0"/>
                <a:cs typeface="Open Sans" panose="020B0606030504020204" pitchFamily="34" charset="0"/>
              </a:rPr>
              <a:t>, that clearly define what condition is being tested:</a:t>
            </a:r>
          </a:p>
        </p:txBody>
      </p:sp>
      <p:graphicFrame>
        <p:nvGraphicFramePr>
          <p:cNvPr id="10" name="Table 6">
            <a:extLst>
              <a:ext uri="{FF2B5EF4-FFF2-40B4-BE49-F238E27FC236}">
                <a16:creationId xmlns:a16="http://schemas.microsoft.com/office/drawing/2014/main" id="{73797C9D-F883-42C9-7449-349AC0A3D404}"/>
              </a:ext>
            </a:extLst>
          </p:cNvPr>
          <p:cNvGraphicFramePr>
            <a:graphicFrameLocks noGrp="1"/>
          </p:cNvGraphicFramePr>
          <p:nvPr/>
        </p:nvGraphicFramePr>
        <p:xfrm>
          <a:off x="10326650" y="6662037"/>
          <a:ext cx="15922700" cy="7912379"/>
        </p:xfrm>
        <a:graphic>
          <a:graphicData uri="http://schemas.openxmlformats.org/drawingml/2006/table">
            <a:tbl>
              <a:tblPr firstRow="1" bandRow="1">
                <a:tableStyleId>{5C22544A-7EE6-4342-B048-85BDC9FD1C3A}</a:tableStyleId>
              </a:tblPr>
              <a:tblGrid>
                <a:gridCol w="15922700">
                  <a:extLst>
                    <a:ext uri="{9D8B030D-6E8A-4147-A177-3AD203B41FA5}">
                      <a16:colId xmlns:a16="http://schemas.microsoft.com/office/drawing/2014/main" val="2398957492"/>
                    </a:ext>
                  </a:extLst>
                </a:gridCol>
              </a:tblGrid>
              <a:tr h="2058027">
                <a:tc>
                  <a:txBody>
                    <a:bodyPr/>
                    <a:lstStyle/>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Boolean variable name examples</a:t>
                      </a:r>
                      <a:endParaRPr lang="en-PH" sz="6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5854352">
                <a:tc>
                  <a:txBody>
                    <a:bodyPr/>
                    <a:lstStyle/>
                    <a:p>
                      <a:pPr marL="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isCustomerOverTwentyOne</a:t>
                      </a:r>
                      <a:endPar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isEligibleForDiscount</a:t>
                      </a:r>
                      <a:endPar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hasValidLicense</a:t>
                      </a:r>
                      <a:endPar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a:solidFill>
                            <a:schemeClr val="tx1"/>
                          </a:solidFill>
                          <a:latin typeface="Open Sans" panose="020B0606030504020204" pitchFamily="34" charset="0"/>
                          <a:ea typeface="Open Sans" panose="020B0606030504020204" pitchFamily="34" charset="0"/>
                          <a:cs typeface="Open Sans" panose="020B0606030504020204" pitchFamily="34" charset="0"/>
                        </a:rPr>
                        <a:t>isMarried</a:t>
                      </a:r>
                      <a:endPar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ctr"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hasChildren</a:t>
                      </a:r>
                      <a:endPar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7302300"/>
                  </a:ext>
                </a:extLst>
              </a:tr>
            </a:tbl>
          </a:graphicData>
        </a:graphic>
      </p:graphicFrame>
    </p:spTree>
    <p:extLst>
      <p:ext uri="{BB962C8B-B14F-4D97-AF65-F5344CB8AC3E}">
        <p14:creationId xmlns:p14="http://schemas.microsoft.com/office/powerpoint/2010/main" val="636265664"/>
      </p:ext>
    </p:extLst>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
          <p:cNvSpPr/>
          <p:nvPr/>
        </p:nvSpPr>
        <p:spPr>
          <a:xfrm>
            <a:off x="952498" y="459786"/>
            <a:ext cx="30517970"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Primitive Types Recap and the String Data Type</a:t>
            </a:r>
            <a:endParaRPr sz="1400" b="0" i="0" u="none" strike="noStrike" cap="none">
              <a:solidFill>
                <a:srgbClr val="000000"/>
              </a:solidFill>
              <a:latin typeface="Arial"/>
              <a:ea typeface="Arial"/>
              <a:cs typeface="Arial"/>
              <a:sym typeface="Arial"/>
            </a:endParaRPr>
          </a:p>
        </p:txBody>
      </p:sp>
      <p:cxnSp>
        <p:nvCxnSpPr>
          <p:cNvPr id="56" name="Google Shape;56;p1"/>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57" name="Google Shape;57;p1"/>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58" name="Google Shape;58;p1"/>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59" name="Google Shape;59;p1"/>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 Recap and the String Data Type</a:t>
            </a:r>
            <a:endParaRPr sz="1400" b="0" i="0" u="none" strike="noStrike" cap="none">
              <a:solidFill>
                <a:srgbClr val="000000"/>
              </a:solidFill>
              <a:latin typeface="Arial"/>
              <a:ea typeface="Arial"/>
              <a:cs typeface="Arial"/>
              <a:sym typeface="Arial"/>
            </a:endParaRPr>
          </a:p>
        </p:txBody>
      </p:sp>
      <p:sp>
        <p:nvSpPr>
          <p:cNvPr id="60" name="Google Shape;60;p1"/>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In the previous video, we looked at the </a:t>
            </a:r>
            <a:r>
              <a:rPr lang="en-US" sz="6400" b="1" i="0" u="none" strike="noStrike" cap="none" dirty="0">
                <a:solidFill>
                  <a:srgbClr val="000000"/>
                </a:solidFill>
                <a:latin typeface="Open Sans"/>
                <a:ea typeface="Open Sans"/>
                <a:cs typeface="Open Sans"/>
                <a:sym typeface="Open Sans"/>
              </a:rPr>
              <a:t>char</a:t>
            </a:r>
            <a:r>
              <a:rPr lang="en-US" sz="6400" b="0" i="0" u="none" strike="noStrike" cap="none" dirty="0">
                <a:solidFill>
                  <a:srgbClr val="000000"/>
                </a:solidFill>
                <a:latin typeface="Open Sans"/>
                <a:ea typeface="Open Sans"/>
                <a:cs typeface="Open Sans"/>
                <a:sym typeface="Open Sans"/>
              </a:rPr>
              <a:t>, and also the </a:t>
            </a:r>
            <a:r>
              <a:rPr lang="en-US" sz="6400" b="1" i="0" u="none" strike="noStrike" cap="none" dirty="0" err="1">
                <a:solidFill>
                  <a:srgbClr val="000000"/>
                </a:solidFill>
                <a:latin typeface="Open Sans"/>
                <a:ea typeface="Open Sans"/>
                <a:cs typeface="Open Sans"/>
                <a:sym typeface="Open Sans"/>
              </a:rPr>
              <a:t>boolean</a:t>
            </a:r>
            <a:r>
              <a:rPr lang="en-US" sz="6400" b="0" i="0" u="none" strike="noStrike" cap="none" dirty="0">
                <a:solidFill>
                  <a:srgbClr val="000000"/>
                </a:solidFill>
                <a:latin typeface="Open Sans"/>
                <a:ea typeface="Open Sans"/>
                <a:cs typeface="Open Sans"/>
                <a:sym typeface="Open Sans"/>
              </a:rPr>
              <a:t> types, which were Java's seventh and eighth data types.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So at this point, you should be familiar with all eight of Java's primitives.</a:t>
            </a:r>
            <a:endParaRPr sz="1400" b="0" i="0" u="none" strike="noStrike" cap="none" dirty="0">
              <a:solidFill>
                <a:srgbClr val="000000"/>
              </a:solidFill>
              <a:latin typeface="Arial"/>
              <a:ea typeface="Arial"/>
              <a:cs typeface="Arial"/>
              <a:sym typeface="Arial"/>
            </a:endParaRPr>
          </a:p>
        </p:txBody>
      </p:sp>
    </p:spTree>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p:nvPr/>
        </p:nvSpPr>
        <p:spPr>
          <a:xfrm>
            <a:off x="952498" y="459786"/>
            <a:ext cx="18447358"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Java's 8 Primitive Data Types</a:t>
            </a:r>
            <a:endParaRPr sz="1400" b="0" i="0" u="none" strike="noStrike" cap="none">
              <a:solidFill>
                <a:srgbClr val="000000"/>
              </a:solidFill>
              <a:latin typeface="Arial"/>
              <a:ea typeface="Arial"/>
              <a:cs typeface="Arial"/>
              <a:sym typeface="Arial"/>
            </a:endParaRPr>
          </a:p>
        </p:txBody>
      </p:sp>
      <p:cxnSp>
        <p:nvCxnSpPr>
          <p:cNvPr id="66" name="Google Shape;66;p2"/>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67" name="Google Shape;67;p2"/>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68" name="Google Shape;68;p2"/>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69" name="Google Shape;69;p2"/>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 Recap and the String Data Type</a:t>
            </a:r>
            <a:endParaRPr sz="1400" b="0" i="0" u="none" strike="noStrike" cap="none">
              <a:solidFill>
                <a:srgbClr val="000000"/>
              </a:solidFill>
              <a:latin typeface="Arial"/>
              <a:ea typeface="Arial"/>
              <a:cs typeface="Arial"/>
              <a:sym typeface="Arial"/>
            </a:endParaRPr>
          </a:p>
        </p:txBody>
      </p:sp>
      <p:graphicFrame>
        <p:nvGraphicFramePr>
          <p:cNvPr id="6" name="Table 6">
            <a:extLst>
              <a:ext uri="{FF2B5EF4-FFF2-40B4-BE49-F238E27FC236}">
                <a16:creationId xmlns:a16="http://schemas.microsoft.com/office/drawing/2014/main" id="{0C4B5583-B384-02E6-EDA4-962ED5E5B0AF}"/>
              </a:ext>
            </a:extLst>
          </p:cNvPr>
          <p:cNvGraphicFramePr>
            <a:graphicFrameLocks noGrp="1"/>
          </p:cNvGraphicFramePr>
          <p:nvPr/>
        </p:nvGraphicFramePr>
        <p:xfrm>
          <a:off x="5292381" y="2930346"/>
          <a:ext cx="26380878" cy="13380583"/>
        </p:xfrm>
        <a:graphic>
          <a:graphicData uri="http://schemas.openxmlformats.org/drawingml/2006/table">
            <a:tbl>
              <a:tblPr firstRow="1" bandRow="1">
                <a:tableStyleId>{5C22544A-7EE6-4342-B048-85BDC9FD1C3A}</a:tableStyleId>
              </a:tblPr>
              <a:tblGrid>
                <a:gridCol w="13190439">
                  <a:extLst>
                    <a:ext uri="{9D8B030D-6E8A-4147-A177-3AD203B41FA5}">
                      <a16:colId xmlns:a16="http://schemas.microsoft.com/office/drawing/2014/main" val="3877765251"/>
                    </a:ext>
                  </a:extLst>
                </a:gridCol>
                <a:gridCol w="13190439">
                  <a:extLst>
                    <a:ext uri="{9D8B030D-6E8A-4147-A177-3AD203B41FA5}">
                      <a16:colId xmlns:a16="http://schemas.microsoft.com/office/drawing/2014/main" val="3652140810"/>
                    </a:ext>
                  </a:extLst>
                </a:gridCol>
              </a:tblGrid>
              <a:tr h="2937489">
                <a:tc>
                  <a:txBody>
                    <a:bodyPr/>
                    <a:lstStyle/>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Whole number</a:t>
                      </a:r>
                      <a:endParaRPr lang="en-PH" sz="6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Real Number</a:t>
                      </a:r>
                    </a:p>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(floating point or decimal)</a:t>
                      </a:r>
                      <a:endParaRPr lang="en-PH" sz="6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5970298">
                <a:tc>
                  <a:txBody>
                    <a:bodyPr/>
                    <a:lstStyle/>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byte</a:t>
                      </a:r>
                    </a:p>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short</a:t>
                      </a:r>
                    </a:p>
                    <a:p>
                      <a:pPr algn="ctr"/>
                      <a:r>
                        <a:rPr lang="en-US" sz="64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int</a:t>
                      </a:r>
                    </a:p>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long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float</a:t>
                      </a:r>
                    </a:p>
                    <a:p>
                      <a:pPr algn="ctr"/>
                      <a:r>
                        <a:rPr lang="en-US" sz="64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double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8416117"/>
                  </a:ext>
                </a:extLst>
              </a:tr>
              <a:tr h="1099620">
                <a:tc>
                  <a:txBody>
                    <a:bodyPr/>
                    <a:lstStyle/>
                    <a:p>
                      <a:pPr algn="ctr"/>
                      <a:r>
                        <a:rPr lang="en-US" sz="6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Single character</a:t>
                      </a:r>
                      <a:endParaRPr lang="en-PH" sz="6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6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Boolean value</a:t>
                      </a:r>
                      <a:endParaRPr lang="en-PH" sz="64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226145416"/>
                  </a:ext>
                </a:extLst>
              </a:tr>
              <a:tr h="3373176">
                <a:tc>
                  <a:txBody>
                    <a:bodyPr/>
                    <a:lstStyle/>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char</a:t>
                      </a:r>
                      <a:endParaRPr lang="en-PH" sz="6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40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boolean</a:t>
                      </a:r>
                      <a:endParaRPr lang="en-PH" sz="6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9862378"/>
                  </a:ext>
                </a:extLst>
              </a:tr>
            </a:tbl>
          </a:graphicData>
        </a:graphic>
      </p:graphicFrame>
      <p:sp>
        <p:nvSpPr>
          <p:cNvPr id="14" name="Rectangle 13">
            <a:extLst>
              <a:ext uri="{FF2B5EF4-FFF2-40B4-BE49-F238E27FC236}">
                <a16:creationId xmlns:a16="http://schemas.microsoft.com/office/drawing/2014/main" id="{5FA99B84-4FB5-ECFB-885F-9E156BA59FF6}"/>
              </a:ext>
            </a:extLst>
          </p:cNvPr>
          <p:cNvSpPr/>
          <p:nvPr/>
        </p:nvSpPr>
        <p:spPr>
          <a:xfrm>
            <a:off x="952499" y="16663314"/>
            <a:ext cx="34782670" cy="1194815"/>
          </a:xfrm>
          <a:prstGeom prst="rect">
            <a:avLst/>
          </a:prstGeom>
        </p:spPr>
        <p:txBody>
          <a:bodyPr wrap="square">
            <a:normAutofit/>
          </a:bodyPr>
          <a:lstStyle/>
          <a:p>
            <a:pPr algn="ctr">
              <a:spcAft>
                <a:spcPts val="5022"/>
              </a:spcAft>
            </a:pPr>
            <a:r>
              <a:rPr lang="en-US" sz="64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The int and a double are Java's default data types for numeric literals</a:t>
            </a:r>
          </a:p>
        </p:txBody>
      </p:sp>
    </p:spTree>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p:nvPr/>
        </p:nvSpPr>
        <p:spPr>
          <a:xfrm>
            <a:off x="952501" y="4285904"/>
            <a:ext cx="34782670" cy="13607268"/>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None/>
            </a:pPr>
            <a:r>
              <a:rPr lang="en-US" sz="6400" b="0" i="0" u="none" strike="noStrike" cap="none" dirty="0">
                <a:solidFill>
                  <a:srgbClr val="000000"/>
                </a:solidFill>
                <a:latin typeface="Open Sans"/>
                <a:ea typeface="Open Sans"/>
                <a:cs typeface="Open Sans"/>
                <a:sym typeface="Open Sans"/>
              </a:rPr>
              <a:t>This slide demonstrates that most Java programs use some combination of the data types shown in this diagram.</a:t>
            </a:r>
            <a:endParaRPr dirty="0"/>
          </a:p>
        </p:txBody>
      </p:sp>
      <p:sp>
        <p:nvSpPr>
          <p:cNvPr id="76" name="Google Shape;76;p3"/>
          <p:cNvSpPr/>
          <p:nvPr/>
        </p:nvSpPr>
        <p:spPr>
          <a:xfrm>
            <a:off x="952498" y="459786"/>
            <a:ext cx="13878799"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Handling Data in Java</a:t>
            </a:r>
            <a:endParaRPr sz="1400" b="0" i="0" u="none" strike="noStrike" cap="none">
              <a:solidFill>
                <a:srgbClr val="000000"/>
              </a:solidFill>
              <a:latin typeface="Arial"/>
              <a:ea typeface="Arial"/>
              <a:cs typeface="Arial"/>
              <a:sym typeface="Arial"/>
            </a:endParaRPr>
          </a:p>
        </p:txBody>
      </p:sp>
      <p:cxnSp>
        <p:nvCxnSpPr>
          <p:cNvPr id="77" name="Google Shape;77;p3"/>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78" name="Google Shape;78;p3"/>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79" name="Google Shape;79;p3"/>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80" name="Google Shape;80;p3"/>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 Recap and the String Data Type</a:t>
            </a:r>
            <a:endParaRPr sz="1400" b="0" i="0" u="none" strike="noStrike" cap="none">
              <a:solidFill>
                <a:srgbClr val="000000"/>
              </a:solidFill>
              <a:latin typeface="Arial"/>
              <a:ea typeface="Arial"/>
              <a:cs typeface="Arial"/>
              <a:sym typeface="Arial"/>
            </a:endParaRPr>
          </a:p>
        </p:txBody>
      </p:sp>
      <p:grpSp>
        <p:nvGrpSpPr>
          <p:cNvPr id="4" name="Group 3">
            <a:extLst>
              <a:ext uri="{FF2B5EF4-FFF2-40B4-BE49-F238E27FC236}">
                <a16:creationId xmlns:a16="http://schemas.microsoft.com/office/drawing/2014/main" id="{46F4DE12-220C-1A9B-AEB8-DCE3EA069398}"/>
              </a:ext>
            </a:extLst>
          </p:cNvPr>
          <p:cNvGrpSpPr/>
          <p:nvPr/>
        </p:nvGrpSpPr>
        <p:grpSpPr>
          <a:xfrm>
            <a:off x="1104901" y="6457200"/>
            <a:ext cx="34782670" cy="11435972"/>
            <a:chOff x="1104901" y="6457200"/>
            <a:chExt cx="34782670" cy="11435972"/>
          </a:xfrm>
        </p:grpSpPr>
        <p:pic>
          <p:nvPicPr>
            <p:cNvPr id="3" name="Picture 2" descr="Graphical user interface, application, PowerPoint&#10;&#10;Description automatically generated">
              <a:extLst>
                <a:ext uri="{FF2B5EF4-FFF2-40B4-BE49-F238E27FC236}">
                  <a16:creationId xmlns:a16="http://schemas.microsoft.com/office/drawing/2014/main" id="{86FFA653-A935-DD16-3552-A5989484BA38}"/>
                </a:ext>
              </a:extLst>
            </p:cNvPr>
            <p:cNvPicPr>
              <a:picLocks noChangeAspect="1"/>
            </p:cNvPicPr>
            <p:nvPr/>
          </p:nvPicPr>
          <p:blipFill>
            <a:blip r:embed="rId4"/>
            <a:stretch>
              <a:fillRect/>
            </a:stretch>
          </p:blipFill>
          <p:spPr>
            <a:xfrm>
              <a:off x="9359305" y="6457200"/>
              <a:ext cx="17857390" cy="11435972"/>
            </a:xfrm>
            <a:prstGeom prst="rect">
              <a:avLst/>
            </a:prstGeom>
          </p:spPr>
        </p:pic>
        <p:sp>
          <p:nvSpPr>
            <p:cNvPr id="2" name="Google Shape;75;p3">
              <a:extLst>
                <a:ext uri="{FF2B5EF4-FFF2-40B4-BE49-F238E27FC236}">
                  <a16:creationId xmlns:a16="http://schemas.microsoft.com/office/drawing/2014/main" id="{0418B152-64A6-6030-BFA2-75D0ADC92F8F}"/>
                </a:ext>
              </a:extLst>
            </p:cNvPr>
            <p:cNvSpPr/>
            <p:nvPr/>
          </p:nvSpPr>
          <p:spPr>
            <a:xfrm>
              <a:off x="1104901" y="17012453"/>
              <a:ext cx="34782670" cy="874643"/>
            </a:xfrm>
            <a:prstGeom prst="rect">
              <a:avLst/>
            </a:prstGeom>
            <a:solidFill>
              <a:schemeClr val="bg1"/>
            </a:solid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None/>
              </a:pPr>
              <a:r>
                <a:rPr lang="en-US" sz="4200" b="0" i="0" u="none" strike="noStrike" cap="none" dirty="0">
                  <a:solidFill>
                    <a:srgbClr val="000000"/>
                  </a:solidFill>
                  <a:latin typeface="Open Sans"/>
                  <a:ea typeface="Open Sans"/>
                  <a:cs typeface="Open Sans"/>
                  <a:sym typeface="Open Sans"/>
                </a:rPr>
                <a:t>Remember, I’ve said that classes in Java are custom data types</a:t>
              </a:r>
              <a:endParaRPr sz="4200" dirty="0"/>
            </a:p>
          </p:txBody>
        </p:sp>
      </p:grpSp>
    </p:spTree>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6" name="Google Shape;76;p3"/>
          <p:cNvSpPr/>
          <p:nvPr/>
        </p:nvSpPr>
        <p:spPr>
          <a:xfrm>
            <a:off x="952498" y="459786"/>
            <a:ext cx="13878799"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Handling Data in Java</a:t>
            </a:r>
            <a:endParaRPr sz="1400" b="0" i="0" u="none" strike="noStrike" cap="none">
              <a:solidFill>
                <a:srgbClr val="000000"/>
              </a:solidFill>
              <a:latin typeface="Arial"/>
              <a:ea typeface="Arial"/>
              <a:cs typeface="Arial"/>
              <a:sym typeface="Arial"/>
            </a:endParaRPr>
          </a:p>
        </p:txBody>
      </p:sp>
      <p:cxnSp>
        <p:nvCxnSpPr>
          <p:cNvPr id="77" name="Google Shape;77;p3"/>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78" name="Google Shape;78;p3"/>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79" name="Google Shape;79;p3"/>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80" name="Google Shape;80;p3"/>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 Recap and the String Data Type</a:t>
            </a:r>
            <a:endParaRPr sz="1400" b="0" i="0" u="none" strike="noStrike" cap="none">
              <a:solidFill>
                <a:srgbClr val="000000"/>
              </a:solidFill>
              <a:latin typeface="Arial"/>
              <a:ea typeface="Arial"/>
              <a:cs typeface="Arial"/>
              <a:sym typeface="Arial"/>
            </a:endParaRPr>
          </a:p>
        </p:txBody>
      </p:sp>
      <p:sp>
        <p:nvSpPr>
          <p:cNvPr id="10" name="Rectangle 9">
            <a:extLst>
              <a:ext uri="{FF2B5EF4-FFF2-40B4-BE49-F238E27FC236}">
                <a16:creationId xmlns:a16="http://schemas.microsoft.com/office/drawing/2014/main" id="{E0BE3670-AC5A-9897-0B3B-53B966780828}"/>
              </a:ext>
            </a:extLst>
          </p:cNvPr>
          <p:cNvSpPr/>
          <p:nvPr/>
        </p:nvSpPr>
        <p:spPr>
          <a:xfrm>
            <a:off x="952499" y="14308191"/>
            <a:ext cx="34782670" cy="3053051"/>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You'll use Java's primitive data types, Java's built-in classes, and probably some combination of your own custom classes and classes created by other people.</a:t>
            </a:r>
          </a:p>
        </p:txBody>
      </p:sp>
      <p:grpSp>
        <p:nvGrpSpPr>
          <p:cNvPr id="5" name="Group 4">
            <a:extLst>
              <a:ext uri="{FF2B5EF4-FFF2-40B4-BE49-F238E27FC236}">
                <a16:creationId xmlns:a16="http://schemas.microsoft.com/office/drawing/2014/main" id="{D65CD095-73F9-0328-FD8E-4FE38EC4968F}"/>
              </a:ext>
            </a:extLst>
          </p:cNvPr>
          <p:cNvGrpSpPr/>
          <p:nvPr/>
        </p:nvGrpSpPr>
        <p:grpSpPr>
          <a:xfrm>
            <a:off x="1104901" y="2580312"/>
            <a:ext cx="34782670" cy="11435972"/>
            <a:chOff x="1104901" y="6457200"/>
            <a:chExt cx="34782670" cy="11435972"/>
          </a:xfrm>
        </p:grpSpPr>
        <p:pic>
          <p:nvPicPr>
            <p:cNvPr id="6" name="Picture 5" descr="Graphical user interface, application, PowerPoint&#10;&#10;Description automatically generated">
              <a:extLst>
                <a:ext uri="{FF2B5EF4-FFF2-40B4-BE49-F238E27FC236}">
                  <a16:creationId xmlns:a16="http://schemas.microsoft.com/office/drawing/2014/main" id="{1CB8119D-7042-7E31-C9D1-61FB327A666C}"/>
                </a:ext>
              </a:extLst>
            </p:cNvPr>
            <p:cNvPicPr>
              <a:picLocks noChangeAspect="1"/>
            </p:cNvPicPr>
            <p:nvPr/>
          </p:nvPicPr>
          <p:blipFill>
            <a:blip r:embed="rId4">
              <a:alphaModFix/>
            </a:blip>
            <a:stretch>
              <a:fillRect/>
            </a:stretch>
          </p:blipFill>
          <p:spPr>
            <a:xfrm>
              <a:off x="9359305" y="6457200"/>
              <a:ext cx="17857390" cy="11435972"/>
            </a:xfrm>
            <a:prstGeom prst="rect">
              <a:avLst/>
            </a:prstGeom>
          </p:spPr>
        </p:pic>
        <p:sp>
          <p:nvSpPr>
            <p:cNvPr id="7" name="Google Shape;75;p3">
              <a:extLst>
                <a:ext uri="{FF2B5EF4-FFF2-40B4-BE49-F238E27FC236}">
                  <a16:creationId xmlns:a16="http://schemas.microsoft.com/office/drawing/2014/main" id="{AF72CDB9-241B-141D-7FBD-F47EDEFDA46E}"/>
                </a:ext>
              </a:extLst>
            </p:cNvPr>
            <p:cNvSpPr/>
            <p:nvPr/>
          </p:nvSpPr>
          <p:spPr>
            <a:xfrm>
              <a:off x="1104901" y="17012453"/>
              <a:ext cx="34782670" cy="874643"/>
            </a:xfrm>
            <a:prstGeom prst="rect">
              <a:avLst/>
            </a:prstGeom>
            <a:solidFill>
              <a:schemeClr val="bg1"/>
            </a:solid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None/>
              </a:pPr>
              <a:r>
                <a:rPr lang="en-US" sz="4200" b="0" i="0" u="none" strike="noStrike" cap="none" dirty="0">
                  <a:solidFill>
                    <a:srgbClr val="000000"/>
                  </a:solidFill>
                  <a:latin typeface="Open Sans"/>
                  <a:ea typeface="Open Sans"/>
                  <a:cs typeface="Open Sans"/>
                  <a:sym typeface="Open Sans"/>
                </a:rPr>
                <a:t>Remember, I’ve said that classes in Java are custom data types</a:t>
              </a:r>
              <a:endParaRPr sz="4200" dirty="0"/>
            </a:p>
          </p:txBody>
        </p:sp>
      </p:grpSp>
    </p:spTree>
    <p:extLst>
      <p:ext uri="{BB962C8B-B14F-4D97-AF65-F5344CB8AC3E}">
        <p14:creationId xmlns:p14="http://schemas.microsoft.com/office/powerpoint/2010/main" val="1955441736"/>
      </p:ext>
    </p:extLst>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4"/>
          <p:cNvSpPr/>
          <p:nvPr/>
        </p:nvSpPr>
        <p:spPr>
          <a:xfrm>
            <a:off x="952498" y="459786"/>
            <a:ext cx="12729447"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So What is a String?</a:t>
            </a:r>
            <a:endParaRPr sz="1400" b="0" i="0" u="none" strike="noStrike" cap="none">
              <a:solidFill>
                <a:srgbClr val="000000"/>
              </a:solidFill>
              <a:latin typeface="Arial"/>
              <a:ea typeface="Arial"/>
              <a:cs typeface="Arial"/>
              <a:sym typeface="Arial"/>
            </a:endParaRPr>
          </a:p>
        </p:txBody>
      </p:sp>
      <p:cxnSp>
        <p:nvCxnSpPr>
          <p:cNvPr id="87" name="Google Shape;87;p4"/>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88" name="Google Shape;88;p4"/>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89" name="Google Shape;89;p4"/>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90" name="Google Shape;90;p4"/>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 Recap and the String Data Type</a:t>
            </a:r>
            <a:endParaRPr sz="1400" b="0" i="0" u="none" strike="noStrike" cap="none">
              <a:solidFill>
                <a:srgbClr val="000000"/>
              </a:solidFill>
              <a:latin typeface="Arial"/>
              <a:ea typeface="Arial"/>
              <a:cs typeface="Arial"/>
              <a:sym typeface="Arial"/>
            </a:endParaRPr>
          </a:p>
        </p:txBody>
      </p:sp>
      <p:sp>
        <p:nvSpPr>
          <p:cNvPr id="91" name="Google Shape;91;p4"/>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A String is a class that contains a sequence of characters.</a:t>
            </a:r>
            <a:endParaRPr sz="1400" b="0" i="0" u="none" strike="noStrike" cap="none">
              <a:solidFill>
                <a:srgbClr val="000000"/>
              </a:solidFill>
              <a:latin typeface="Arial"/>
              <a:ea typeface="Arial"/>
              <a:cs typeface="Arial"/>
              <a:sym typeface="Arial"/>
            </a:endParaRPr>
          </a:p>
        </p:txBody>
      </p:sp>
    </p:spTree>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5"/>
          <p:cNvSpPr/>
          <p:nvPr/>
        </p:nvSpPr>
        <p:spPr>
          <a:xfrm>
            <a:off x="952498" y="459786"/>
            <a:ext cx="25922161"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dirty="0">
                <a:solidFill>
                  <a:srgbClr val="000000"/>
                </a:solidFill>
                <a:latin typeface="Open Sans"/>
                <a:ea typeface="Open Sans"/>
                <a:cs typeface="Open Sans"/>
                <a:sym typeface="Open Sans"/>
              </a:rPr>
              <a:t>Executing multiple lines of code in JShell</a:t>
            </a:r>
            <a:endParaRPr sz="10800" b="0" i="0" u="none" strike="noStrike" cap="none" dirty="0">
              <a:solidFill>
                <a:srgbClr val="000000"/>
              </a:solidFill>
              <a:latin typeface="Open Sans"/>
              <a:ea typeface="Open Sans"/>
              <a:cs typeface="Open Sans"/>
              <a:sym typeface="Open Sans"/>
            </a:endParaRPr>
          </a:p>
        </p:txBody>
      </p:sp>
      <p:cxnSp>
        <p:nvCxnSpPr>
          <p:cNvPr id="97" name="Google Shape;97;p5"/>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98" name="Google Shape;98;p5"/>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99" name="Google Shape;99;p5"/>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00" name="Google Shape;100;p5"/>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 Recap and the String Data Type</a:t>
            </a:r>
            <a:endParaRPr sz="1400" b="0" i="0" u="none" strike="noStrike" cap="none">
              <a:solidFill>
                <a:srgbClr val="000000"/>
              </a:solidFill>
              <a:latin typeface="Arial"/>
              <a:ea typeface="Arial"/>
              <a:cs typeface="Arial"/>
              <a:sym typeface="Arial"/>
            </a:endParaRPr>
          </a:p>
        </p:txBody>
      </p:sp>
      <p:sp>
        <p:nvSpPr>
          <p:cNvPr id="101" name="Google Shape;101;p5"/>
          <p:cNvSpPr/>
          <p:nvPr/>
        </p:nvSpPr>
        <p:spPr>
          <a:xfrm>
            <a:off x="952501" y="3135088"/>
            <a:ext cx="34782670" cy="14796214"/>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To execute multiple lines of code as a set, in JShell, first start with an opening curly brace and press enter.</a:t>
            </a:r>
            <a:endParaRPr sz="1400" b="0" i="0" u="none" strike="noStrike" cap="none" dirty="0">
              <a:solidFill>
                <a:srgbClr val="000000"/>
              </a:solidFill>
              <a:latin typeface="Arial"/>
              <a:ea typeface="Arial"/>
              <a:cs typeface="Arial"/>
              <a:sym typeface="Arial"/>
            </a:endParaRPr>
          </a:p>
          <a:p>
            <a:pPr marL="0" marR="0" lvl="0" indent="0" algn="l" rtl="0">
              <a:lnSpc>
                <a:spcPct val="90000"/>
              </a:lnSpc>
              <a:spcBef>
                <a:spcPts val="5022"/>
              </a:spcBef>
              <a:spcAft>
                <a:spcPts val="0"/>
              </a:spcAft>
              <a:buClr>
                <a:srgbClr val="000000"/>
              </a:buClr>
              <a:buSzPts val="6400"/>
              <a:buFont typeface="Helvetica Neue Light"/>
              <a:buNone/>
            </a:pPr>
            <a:endParaRPr sz="6400" b="0" i="0" u="none" strike="noStrike" cap="none" dirty="0">
              <a:solidFill>
                <a:srgbClr val="000000"/>
              </a:solidFill>
              <a:latin typeface="Open Sans"/>
              <a:ea typeface="Open Sans"/>
              <a:cs typeface="Open Sans"/>
              <a:sym typeface="Open Sans"/>
            </a:endParaRPr>
          </a:p>
          <a:p>
            <a:pPr marL="0" marR="0" lvl="0" indent="0" algn="l" rtl="0">
              <a:lnSpc>
                <a:spcPct val="90000"/>
              </a:lnSpc>
              <a:spcBef>
                <a:spcPts val="5022"/>
              </a:spcBef>
              <a:spcAft>
                <a:spcPts val="0"/>
              </a:spcAft>
              <a:buClr>
                <a:srgbClr val="000000"/>
              </a:buClr>
              <a:buSzPts val="6400"/>
              <a:buFont typeface="Helvetica Neue Light"/>
              <a:buNone/>
            </a:pPr>
            <a:endParaRPr sz="6400" b="0" i="0" u="none" strike="noStrike" cap="none" dirty="0">
              <a:solidFill>
                <a:srgbClr val="000000"/>
              </a:solidFill>
              <a:latin typeface="Open Sans"/>
              <a:ea typeface="Open Sans"/>
              <a:cs typeface="Open Sans"/>
              <a:sym typeface="Open Sans"/>
            </a:endParaRPr>
          </a:p>
          <a:p>
            <a:pPr marL="0" marR="0" lvl="0" indent="0" algn="l" rtl="0">
              <a:lnSpc>
                <a:spcPct val="90000"/>
              </a:lnSpc>
              <a:spcBef>
                <a:spcPts val="5022"/>
              </a:spcBef>
              <a:spcAft>
                <a:spcPts val="0"/>
              </a:spcAft>
              <a:buClr>
                <a:srgbClr val="000000"/>
              </a:buClr>
              <a:buSzPts val="6400"/>
              <a:buFont typeface="Helvetica Neue Light"/>
              <a:buNone/>
            </a:pPr>
            <a:endParaRPr sz="6400" b="0" i="0" u="none" strike="noStrike" cap="none" dirty="0">
              <a:solidFill>
                <a:srgbClr val="000000"/>
              </a:solidFill>
              <a:latin typeface="Open Sans"/>
              <a:ea typeface="Open Sans"/>
              <a:cs typeface="Open Sans"/>
              <a:sym typeface="Open Sans"/>
            </a:endParaRPr>
          </a:p>
          <a:p>
            <a:pPr marL="0" marR="0" lvl="0" indent="0" algn="l" rtl="0">
              <a:lnSpc>
                <a:spcPct val="9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JShell will display an alternate prompt as you can see, three dots and a greater than sign.</a:t>
            </a:r>
            <a:endParaRPr sz="1400" b="0" i="0" u="none" strike="noStrike" cap="none" dirty="0">
              <a:solidFill>
                <a:srgbClr val="000000"/>
              </a:solidFill>
              <a:latin typeface="Arial"/>
              <a:ea typeface="Arial"/>
              <a:cs typeface="Arial"/>
              <a:sym typeface="Arial"/>
            </a:endParaRPr>
          </a:p>
          <a:p>
            <a:pPr marL="0" marR="0" lvl="0" indent="0" algn="l" rtl="0">
              <a:lnSpc>
                <a:spcPct val="9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You can add a statement and press enter, until you've added as many statements as you want to run.</a:t>
            </a:r>
            <a:endParaRPr sz="1400" b="0" i="0" u="none" strike="noStrike" cap="none" dirty="0">
              <a:solidFill>
                <a:srgbClr val="000000"/>
              </a:solidFill>
              <a:latin typeface="Arial"/>
              <a:ea typeface="Arial"/>
              <a:cs typeface="Arial"/>
              <a:sym typeface="Arial"/>
            </a:endParaRPr>
          </a:p>
          <a:p>
            <a:pPr marL="0" marR="0" lvl="0" indent="0" algn="l" rtl="0">
              <a:lnSpc>
                <a:spcPct val="9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Finally, add the closing curly brace, noting that a </a:t>
            </a:r>
            <a:r>
              <a:rPr lang="en-US" sz="6400" dirty="0">
                <a:latin typeface="Open Sans"/>
                <a:ea typeface="Open Sans"/>
                <a:cs typeface="Open Sans"/>
                <a:sym typeface="Open Sans"/>
              </a:rPr>
              <a:t>semicolon</a:t>
            </a:r>
            <a:r>
              <a:rPr lang="en-US" sz="6400" b="0" i="0" u="none" strike="noStrike" cap="none" dirty="0">
                <a:solidFill>
                  <a:srgbClr val="000000"/>
                </a:solidFill>
                <a:latin typeface="Open Sans"/>
                <a:ea typeface="Open Sans"/>
                <a:cs typeface="Open Sans"/>
                <a:sym typeface="Open Sans"/>
              </a:rPr>
              <a:t> is not required after this brace.</a:t>
            </a:r>
            <a:endParaRPr sz="1400" b="0" i="0" u="none" strike="noStrike" cap="none" dirty="0">
              <a:solidFill>
                <a:srgbClr val="000000"/>
              </a:solidFill>
              <a:latin typeface="Arial"/>
              <a:ea typeface="Arial"/>
              <a:cs typeface="Arial"/>
              <a:sym typeface="Arial"/>
            </a:endParaRPr>
          </a:p>
          <a:p>
            <a:pPr marL="0" marR="0" lvl="0" indent="0" algn="l" rtl="0">
              <a:lnSpc>
                <a:spcPct val="9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Once you press enter after the closing brace, all of your statements will run in the order you put them.</a:t>
            </a:r>
            <a:endParaRPr sz="1400" b="0" i="0" u="none" strike="noStrike" cap="none" dirty="0">
              <a:solidFill>
                <a:srgbClr val="000000"/>
              </a:solidFill>
              <a:latin typeface="Arial"/>
              <a:ea typeface="Arial"/>
              <a:cs typeface="Arial"/>
              <a:sym typeface="Arial"/>
            </a:endParaRPr>
          </a:p>
        </p:txBody>
      </p:sp>
      <p:pic>
        <p:nvPicPr>
          <p:cNvPr id="102" name="Google Shape;102;p5"/>
          <p:cNvPicPr preferRelativeResize="0"/>
          <p:nvPr/>
        </p:nvPicPr>
        <p:blipFill rotWithShape="1">
          <a:blip r:embed="rId4">
            <a:alphaModFix/>
          </a:blip>
          <a:srcRect/>
          <a:stretch/>
        </p:blipFill>
        <p:spPr>
          <a:xfrm>
            <a:off x="8569102" y="5301863"/>
            <a:ext cx="19437797" cy="4066072"/>
          </a:xfrm>
          <a:prstGeom prst="rect">
            <a:avLst/>
          </a:prstGeom>
          <a:noFill/>
          <a:ln>
            <a:noFill/>
          </a:ln>
        </p:spPr>
      </p:pic>
    </p:spTree>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6"/>
          <p:cNvSpPr/>
          <p:nvPr/>
        </p:nvSpPr>
        <p:spPr>
          <a:xfrm>
            <a:off x="952498" y="459786"/>
            <a:ext cx="25135086"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dirty="0">
                <a:solidFill>
                  <a:srgbClr val="000000"/>
                </a:solidFill>
                <a:latin typeface="Open Sans"/>
                <a:ea typeface="Open Sans"/>
                <a:cs typeface="Open Sans"/>
                <a:sym typeface="Open Sans"/>
              </a:rPr>
              <a:t>Executing Multiple Statements In JShell</a:t>
            </a:r>
            <a:endParaRPr sz="10800" b="0" i="0" u="none" strike="noStrike" cap="none" dirty="0">
              <a:solidFill>
                <a:srgbClr val="000000"/>
              </a:solidFill>
              <a:latin typeface="Open Sans"/>
              <a:ea typeface="Open Sans"/>
              <a:cs typeface="Open Sans"/>
              <a:sym typeface="Open Sans"/>
            </a:endParaRPr>
          </a:p>
        </p:txBody>
      </p:sp>
      <p:cxnSp>
        <p:nvCxnSpPr>
          <p:cNvPr id="108" name="Google Shape;108;p6"/>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09" name="Google Shape;109;p6"/>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10" name="Google Shape;110;p6"/>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11" name="Google Shape;111;p6"/>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 Recap and the String Data Type</a:t>
            </a:r>
            <a:endParaRPr sz="1400" b="0" i="0" u="none" strike="noStrike" cap="none">
              <a:solidFill>
                <a:srgbClr val="000000"/>
              </a:solidFill>
              <a:latin typeface="Arial"/>
              <a:ea typeface="Arial"/>
              <a:cs typeface="Arial"/>
              <a:sym typeface="Arial"/>
            </a:endParaRPr>
          </a:p>
        </p:txBody>
      </p:sp>
      <p:sp>
        <p:nvSpPr>
          <p:cNvPr id="112" name="Google Shape;112;p6"/>
          <p:cNvSpPr/>
          <p:nvPr/>
        </p:nvSpPr>
        <p:spPr>
          <a:xfrm>
            <a:off x="952501" y="4285904"/>
            <a:ext cx="34782600" cy="118803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There are two ways to execute multiple statements in JShell:</a:t>
            </a:r>
            <a:endParaRPr sz="1400" b="0" i="0" u="none" strike="noStrike" cap="none" dirty="0">
              <a:solidFill>
                <a:srgbClr val="000000"/>
              </a:solidFill>
              <a:latin typeface="Arial"/>
              <a:ea typeface="Arial"/>
              <a:cs typeface="Arial"/>
              <a:sym typeface="Arial"/>
            </a:endParaRPr>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dirty="0">
                <a:solidFill>
                  <a:srgbClr val="000000"/>
                </a:solidFill>
                <a:latin typeface="Open Sans"/>
                <a:ea typeface="Open Sans"/>
                <a:cs typeface="Open Sans"/>
                <a:sym typeface="Open Sans"/>
              </a:rPr>
              <a:t>Put your statements on a single line.</a:t>
            </a:r>
            <a:endParaRPr sz="1400" b="0" i="0" u="none" strike="noStrike" cap="none" dirty="0">
              <a:solidFill>
                <a:srgbClr val="000000"/>
              </a:solidFill>
              <a:latin typeface="Arial"/>
              <a:ea typeface="Arial"/>
              <a:cs typeface="Arial"/>
              <a:sym typeface="Arial"/>
            </a:endParaRPr>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dirty="0">
                <a:solidFill>
                  <a:srgbClr val="000000"/>
                </a:solidFill>
                <a:latin typeface="Open Sans"/>
                <a:ea typeface="Open Sans"/>
                <a:cs typeface="Open Sans"/>
                <a:sym typeface="Open Sans"/>
              </a:rPr>
              <a:t>Or, </a:t>
            </a:r>
            <a:r>
              <a:rPr lang="en-US" sz="6400" dirty="0">
                <a:latin typeface="Open Sans"/>
                <a:ea typeface="Open Sans"/>
                <a:cs typeface="Open Sans"/>
                <a:sym typeface="Open Sans"/>
              </a:rPr>
              <a:t>e</a:t>
            </a:r>
            <a:r>
              <a:rPr lang="en-US" sz="6400" b="0" i="0" u="none" strike="noStrike" cap="none" dirty="0">
                <a:solidFill>
                  <a:srgbClr val="000000"/>
                </a:solidFill>
                <a:latin typeface="Open Sans"/>
                <a:ea typeface="Open Sans"/>
                <a:cs typeface="Open Sans"/>
                <a:sym typeface="Open Sans"/>
              </a:rPr>
              <a:t>nclose your statements in a set of  curly braces {}.</a:t>
            </a:r>
            <a:endParaRPr sz="1400" b="0" i="0" u="none" strike="noStrike" cap="none" dirty="0">
              <a:solidFill>
                <a:srgbClr val="000000"/>
              </a:solidFill>
              <a:latin typeface="Arial"/>
              <a:ea typeface="Arial"/>
              <a:cs typeface="Arial"/>
              <a:sym typeface="Arial"/>
            </a:endParaRPr>
          </a:p>
        </p:txBody>
      </p:sp>
    </p:spTree>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7"/>
          <p:cNvSpPr/>
          <p:nvPr/>
        </p:nvSpPr>
        <p:spPr>
          <a:xfrm>
            <a:off x="952498" y="459786"/>
            <a:ext cx="13474843"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String concatenation</a:t>
            </a:r>
            <a:endParaRPr sz="1400" b="0" i="0" u="none" strike="noStrike" cap="none">
              <a:solidFill>
                <a:srgbClr val="000000"/>
              </a:solidFill>
              <a:latin typeface="Arial"/>
              <a:ea typeface="Arial"/>
              <a:cs typeface="Arial"/>
              <a:sym typeface="Arial"/>
            </a:endParaRPr>
          </a:p>
        </p:txBody>
      </p:sp>
      <p:cxnSp>
        <p:nvCxnSpPr>
          <p:cNvPr id="118" name="Google Shape;118;p7"/>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19" name="Google Shape;119;p7"/>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20" name="Google Shape;120;p7"/>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21" name="Google Shape;121;p7"/>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 Recap and the String Data Type</a:t>
            </a:r>
            <a:endParaRPr sz="1400" b="0" i="0" u="none" strike="noStrike" cap="none">
              <a:solidFill>
                <a:srgbClr val="000000"/>
              </a:solidFill>
              <a:latin typeface="Arial"/>
              <a:ea typeface="Arial"/>
              <a:cs typeface="Arial"/>
              <a:sym typeface="Arial"/>
            </a:endParaRPr>
          </a:p>
        </p:txBody>
      </p:sp>
      <p:sp>
        <p:nvSpPr>
          <p:cNvPr id="122" name="Google Shape;122;p7"/>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In Java, the + symbol is an operator which can mean addition, if used for numbers.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But it also means concatenation when applied to a String.</a:t>
            </a: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A </a:t>
            </a:r>
            <a:r>
              <a:rPr lang="en-US" sz="6400" b="0" i="0" u="none" strike="noStrike" cap="none" dirty="0">
                <a:solidFill>
                  <a:srgbClr val="000000"/>
                </a:solidFill>
                <a:latin typeface="Open Sans"/>
                <a:ea typeface="Open Sans"/>
                <a:cs typeface="Open Sans"/>
                <a:sym typeface="Open Sans"/>
              </a:rPr>
              <a:t>String + anything else, gives us a String as a result, concatenating anything after the String as text to the initial String.</a:t>
            </a:r>
            <a:endParaRPr sz="1400" b="0" i="0" u="none" strike="noStrike" cap="none" dirty="0">
              <a:solidFill>
                <a:srgbClr val="000000"/>
              </a:solidFill>
              <a:latin typeface="Arial"/>
              <a:ea typeface="Arial"/>
              <a:cs typeface="Arial"/>
              <a:sym typeface="Arial"/>
            </a:endParaRPr>
          </a:p>
        </p:txBody>
      </p:sp>
    </p:spTree>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8"/>
          <p:cNvSpPr/>
          <p:nvPr/>
        </p:nvSpPr>
        <p:spPr>
          <a:xfrm>
            <a:off x="952498" y="459786"/>
            <a:ext cx="14470308"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Strings are Immutable</a:t>
            </a:r>
            <a:endParaRPr sz="1400" b="0" i="0" u="none" strike="noStrike" cap="none">
              <a:solidFill>
                <a:srgbClr val="000000"/>
              </a:solidFill>
              <a:latin typeface="Arial"/>
              <a:ea typeface="Arial"/>
              <a:cs typeface="Arial"/>
              <a:sym typeface="Arial"/>
            </a:endParaRPr>
          </a:p>
        </p:txBody>
      </p:sp>
      <p:cxnSp>
        <p:nvCxnSpPr>
          <p:cNvPr id="128" name="Google Shape;128;p8"/>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29" name="Google Shape;129;p8"/>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30" name="Google Shape;130;p8"/>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31" name="Google Shape;131;p8"/>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 Recap and the String Data Type</a:t>
            </a:r>
            <a:endParaRPr sz="1400" b="0" i="0" u="none" strike="noStrike" cap="none">
              <a:solidFill>
                <a:srgbClr val="000000"/>
              </a:solidFill>
              <a:latin typeface="Arial"/>
              <a:ea typeface="Arial"/>
              <a:cs typeface="Arial"/>
              <a:sym typeface="Arial"/>
            </a:endParaRPr>
          </a:p>
        </p:txBody>
      </p:sp>
      <p:sp>
        <p:nvSpPr>
          <p:cNvPr id="8" name="Rectangle 7">
            <a:extLst>
              <a:ext uri="{FF2B5EF4-FFF2-40B4-BE49-F238E27FC236}">
                <a16:creationId xmlns:a16="http://schemas.microsoft.com/office/drawing/2014/main" id="{99AC7447-FC41-FE0A-2193-914101177006}"/>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Immutable means that you can't change a String after it's created.</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So in the case of the code we've written, the value 120.47 is technically not appended to the current contents of </a:t>
            </a:r>
            <a:r>
              <a:rPr lang="en-US" sz="6400" b="1" dirty="0" err="1">
                <a:latin typeface="Open Sans" panose="020B0606030504020204" pitchFamily="34" charset="0"/>
                <a:ea typeface="Open Sans" panose="020B0606030504020204" pitchFamily="34" charset="0"/>
                <a:cs typeface="Open Sans" panose="020B0606030504020204" pitchFamily="34" charset="0"/>
              </a:rPr>
              <a:t>lastString</a:t>
            </a:r>
            <a:r>
              <a:rPr lang="en-US" sz="6400" dirty="0">
                <a:latin typeface="Open Sans" panose="020B0606030504020204" pitchFamily="34" charset="0"/>
                <a:ea typeface="Open Sans" panose="020B0606030504020204" pitchFamily="34" charset="0"/>
                <a:cs typeface="Open Sans" panose="020B0606030504020204" pitchFamily="34" charset="0"/>
              </a:rPr>
              <a:t>.</a:t>
            </a:r>
          </a:p>
          <a:p>
            <a:pPr algn="l">
              <a:spcAft>
                <a:spcPts val="5022"/>
              </a:spcAft>
            </a:pPr>
            <a:endParaRPr lang="en-US" sz="6400" dirty="0">
              <a:latin typeface="Open Sans" panose="020B0606030504020204" pitchFamily="34" charset="0"/>
              <a:ea typeface="Open Sans" panose="020B0606030504020204" pitchFamily="34" charset="0"/>
              <a:cs typeface="Open Sans" panose="020B0606030504020204" pitchFamily="34" charset="0"/>
            </a:endParaRP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Instead, a new String is created automatically by Java. The new String consists of the previous value of </a:t>
            </a:r>
            <a:r>
              <a:rPr lang="en-US" sz="6400" b="1" dirty="0" err="1">
                <a:latin typeface="Open Sans" panose="020B0606030504020204" pitchFamily="34" charset="0"/>
                <a:ea typeface="Open Sans" panose="020B0606030504020204" pitchFamily="34" charset="0"/>
                <a:cs typeface="Open Sans" panose="020B0606030504020204" pitchFamily="34" charset="0"/>
              </a:rPr>
              <a:t>lastString</a:t>
            </a:r>
            <a:r>
              <a:rPr lang="en-US" sz="6400" dirty="0">
                <a:latin typeface="Open Sans" panose="020B0606030504020204" pitchFamily="34" charset="0"/>
                <a:ea typeface="Open Sans" panose="020B0606030504020204" pitchFamily="34" charset="0"/>
                <a:cs typeface="Open Sans" panose="020B0606030504020204" pitchFamily="34" charset="0"/>
              </a:rPr>
              <a:t>, plus a textual representation of the double value 120.47.</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net result, is that our variable, </a:t>
            </a:r>
            <a:r>
              <a:rPr lang="en-US" sz="6400" b="1" dirty="0" err="1">
                <a:latin typeface="Open Sans" panose="020B0606030504020204" pitchFamily="34" charset="0"/>
                <a:ea typeface="Open Sans" panose="020B0606030504020204" pitchFamily="34" charset="0"/>
                <a:cs typeface="Open Sans" panose="020B0606030504020204" pitchFamily="34" charset="0"/>
              </a:rPr>
              <a:t>lastString</a:t>
            </a:r>
            <a:r>
              <a:rPr lang="en-US" sz="6400" dirty="0">
                <a:latin typeface="Open Sans" panose="020B0606030504020204" pitchFamily="34" charset="0"/>
                <a:ea typeface="Open Sans" panose="020B0606030504020204" pitchFamily="34" charset="0"/>
                <a:cs typeface="Open Sans" panose="020B0606030504020204" pitchFamily="34" charset="0"/>
              </a:rPr>
              <a:t>, has the concatenated value. However, Java created a new String in the process, and the old one will get discarded from memory automatically.</a:t>
            </a:r>
          </a:p>
        </p:txBody>
      </p:sp>
      <p:pic>
        <p:nvPicPr>
          <p:cNvPr id="5" name="Picture 4">
            <a:extLst>
              <a:ext uri="{FF2B5EF4-FFF2-40B4-BE49-F238E27FC236}">
                <a16:creationId xmlns:a16="http://schemas.microsoft.com/office/drawing/2014/main" id="{49AC5CAA-FD12-5C09-83DA-FED09B6609CD}"/>
              </a:ext>
            </a:extLst>
          </p:cNvPr>
          <p:cNvPicPr>
            <a:picLocks noChangeAspect="1"/>
          </p:cNvPicPr>
          <p:nvPr/>
        </p:nvPicPr>
        <p:blipFill>
          <a:blip r:embed="rId4"/>
          <a:stretch>
            <a:fillRect/>
          </a:stretch>
        </p:blipFill>
        <p:spPr>
          <a:xfrm>
            <a:off x="6500622" y="8457208"/>
            <a:ext cx="23574757" cy="1190645"/>
          </a:xfrm>
          <a:prstGeom prst="rect">
            <a:avLst/>
          </a:prstGeom>
        </p:spPr>
      </p:pic>
    </p:spTree>
    <p:extLst>
      <p:ext uri="{BB962C8B-B14F-4D97-AF65-F5344CB8AC3E}">
        <p14:creationId xmlns:p14="http://schemas.microsoft.com/office/powerpoint/2010/main" val="615713210"/>
      </p:ext>
    </p:extLst>
  </p:cSld>
  <p:clrMapOvr>
    <a:masterClrMapping/>
  </p:clrMapOvr>
  <p:transition spd="me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9"/>
          <p:cNvSpPr/>
          <p:nvPr/>
        </p:nvSpPr>
        <p:spPr>
          <a:xfrm>
            <a:off x="952498" y="459786"/>
            <a:ext cx="14470308"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String vs StringBuilder</a:t>
            </a:r>
            <a:endParaRPr sz="1400" b="0" i="0" u="none" strike="noStrike" cap="none">
              <a:solidFill>
                <a:srgbClr val="000000"/>
              </a:solidFill>
              <a:latin typeface="Arial"/>
              <a:ea typeface="Arial"/>
              <a:cs typeface="Arial"/>
              <a:sym typeface="Arial"/>
            </a:endParaRPr>
          </a:p>
        </p:txBody>
      </p:sp>
      <p:cxnSp>
        <p:nvCxnSpPr>
          <p:cNvPr id="138" name="Google Shape;138;p9"/>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39" name="Google Shape;139;p9"/>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40" name="Google Shape;140;p9"/>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41" name="Google Shape;141;p9"/>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 Recap and the String Data Type</a:t>
            </a:r>
            <a:endParaRPr sz="1400" b="0" i="0" u="none" strike="noStrike" cap="none">
              <a:solidFill>
                <a:srgbClr val="000000"/>
              </a:solidFill>
              <a:latin typeface="Arial"/>
              <a:ea typeface="Arial"/>
              <a:cs typeface="Arial"/>
              <a:sym typeface="Arial"/>
            </a:endParaRPr>
          </a:p>
        </p:txBody>
      </p:sp>
      <p:sp>
        <p:nvSpPr>
          <p:cNvPr id="142" name="Google Shape;142;p9"/>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1936800" marR="0" lvl="0" indent="-857250" algn="l" rtl="0">
              <a:lnSpc>
                <a:spcPct val="100000"/>
              </a:lnSpc>
              <a:spcBef>
                <a:spcPts val="0"/>
              </a:spcBef>
              <a:spcAft>
                <a:spcPts val="0"/>
              </a:spcAft>
              <a:buClr>
                <a:srgbClr val="000000"/>
              </a:buClr>
              <a:buSzPts val="6400"/>
              <a:buFont typeface="Arial"/>
              <a:buChar char="•"/>
            </a:pPr>
            <a:r>
              <a:rPr lang="en-US" sz="6400" b="0" i="0" u="none" strike="noStrike" cap="none" dirty="0">
                <a:solidFill>
                  <a:srgbClr val="000000"/>
                </a:solidFill>
                <a:latin typeface="Open Sans"/>
                <a:ea typeface="Open Sans"/>
                <a:cs typeface="Open Sans"/>
                <a:sym typeface="Open Sans"/>
              </a:rPr>
              <a:t>The String class is immutable, but can be used much like a primitive data type.</a:t>
            </a:r>
            <a:endParaRPr sz="1400" b="0" i="0" u="none" strike="noStrike" cap="none" dirty="0">
              <a:solidFill>
                <a:srgbClr val="000000"/>
              </a:solidFill>
              <a:latin typeface="Arial"/>
              <a:ea typeface="Arial"/>
              <a:cs typeface="Arial"/>
              <a:sym typeface="Arial"/>
            </a:endParaRPr>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dirty="0">
                <a:solidFill>
                  <a:srgbClr val="000000"/>
                </a:solidFill>
                <a:latin typeface="Open Sans"/>
                <a:ea typeface="Open Sans"/>
                <a:cs typeface="Open Sans"/>
                <a:sym typeface="Open Sans"/>
              </a:rPr>
              <a:t>The StringBuilder class is mutable, meaning it can be changed, but does not share the String's special features, such as being able to assign it a String literal or use the plus operator on it.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Both are classes, but the String class is in a special category in the Java language.</a:t>
            </a:r>
            <a:endParaRPr sz="1400" b="0" i="0" u="none" strike="noStrike" cap="none" dirty="0">
              <a:solidFill>
                <a:srgbClr val="000000"/>
              </a:solidFill>
              <a:latin typeface="Arial"/>
              <a:ea typeface="Arial"/>
              <a:cs typeface="Arial"/>
              <a:sym typeface="Arial"/>
            </a:endParaRPr>
          </a:p>
        </p:txBody>
      </p:sp>
    </p:spTree>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0"/>
          <p:cNvSpPr/>
          <p:nvPr/>
        </p:nvSpPr>
        <p:spPr>
          <a:xfrm>
            <a:off x="952498" y="459786"/>
            <a:ext cx="6679714"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The String</a:t>
            </a:r>
            <a:endParaRPr sz="1400" b="0" i="0" u="none" strike="noStrike" cap="none">
              <a:solidFill>
                <a:srgbClr val="000000"/>
              </a:solidFill>
              <a:latin typeface="Arial"/>
              <a:ea typeface="Arial"/>
              <a:cs typeface="Arial"/>
              <a:sym typeface="Arial"/>
            </a:endParaRPr>
          </a:p>
        </p:txBody>
      </p:sp>
      <p:cxnSp>
        <p:nvCxnSpPr>
          <p:cNvPr id="148" name="Google Shape;148;p10"/>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49" name="Google Shape;149;p10"/>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50" name="Google Shape;150;p10"/>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51" name="Google Shape;151;p10"/>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Primitive Types Recap and the String Data Type</a:t>
            </a:r>
            <a:endParaRPr sz="1400" b="0" i="0" u="none" strike="noStrike" cap="none">
              <a:solidFill>
                <a:srgbClr val="000000"/>
              </a:solidFill>
              <a:latin typeface="Arial"/>
              <a:ea typeface="Arial"/>
              <a:cs typeface="Arial"/>
              <a:sym typeface="Arial"/>
            </a:endParaRPr>
          </a:p>
        </p:txBody>
      </p:sp>
      <p:sp>
        <p:nvSpPr>
          <p:cNvPr id="152" name="Google Shape;152;p10"/>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1936800" marR="0" lvl="0" indent="-857250" algn="l" rtl="0">
              <a:lnSpc>
                <a:spcPct val="100000"/>
              </a:lnSpc>
              <a:spcBef>
                <a:spcPts val="0"/>
              </a:spcBef>
              <a:spcAft>
                <a:spcPts val="0"/>
              </a:spcAft>
              <a:buClr>
                <a:srgbClr val="000000"/>
              </a:buClr>
              <a:buSzPts val="6400"/>
              <a:buFont typeface="Arial"/>
              <a:buChar char="•"/>
            </a:pPr>
            <a:r>
              <a:rPr lang="en-US" sz="6400" b="0" i="0" u="none" strike="noStrike" cap="none">
                <a:solidFill>
                  <a:srgbClr val="000000"/>
                </a:solidFill>
                <a:latin typeface="Open Sans"/>
                <a:ea typeface="Open Sans"/>
                <a:cs typeface="Open Sans"/>
                <a:sym typeface="Open Sans"/>
              </a:rPr>
              <a:t>The String is so intrinsic to the Java language, it can be used like a 9th primitive type.</a:t>
            </a:r>
            <a:endParaRPr sz="1400" b="0" i="0" u="none" strike="noStrike" cap="none">
              <a:solidFill>
                <a:srgbClr val="000000"/>
              </a:solidFill>
              <a:latin typeface="Arial"/>
              <a:ea typeface="Arial"/>
              <a:cs typeface="Arial"/>
              <a:sym typeface="Arial"/>
            </a:endParaRPr>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a:solidFill>
                  <a:srgbClr val="000000"/>
                </a:solidFill>
                <a:latin typeface="Open Sans"/>
                <a:ea typeface="Open Sans"/>
                <a:cs typeface="Open Sans"/>
                <a:sym typeface="Open Sans"/>
              </a:rPr>
              <a:t>But it's not a primitive type at all, it's a class.</a:t>
            </a:r>
            <a:endParaRPr sz="1400" b="0" i="0" u="none" strike="noStrike" cap="none">
              <a:solidFill>
                <a:srgbClr val="000000"/>
              </a:solidFill>
              <a:latin typeface="Arial"/>
              <a:ea typeface="Arial"/>
              <a:cs typeface="Arial"/>
              <a:sym typeface="Arial"/>
            </a:endParaRPr>
          </a:p>
        </p:txBody>
      </p:sp>
    </p:spTree>
  </p:cSld>
  <p:clrMapOvr>
    <a:masterClrMapping/>
  </p:clrMapOvr>
  <p:transition spd="me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
          <p:cNvSpPr/>
          <p:nvPr/>
        </p:nvSpPr>
        <p:spPr>
          <a:xfrm>
            <a:off x="952498" y="459786"/>
            <a:ext cx="24739145"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Operators, Operands and Expressions</a:t>
            </a:r>
            <a:endParaRPr/>
          </a:p>
        </p:txBody>
      </p:sp>
      <p:cxnSp>
        <p:nvCxnSpPr>
          <p:cNvPr id="56" name="Google Shape;56;p1"/>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57" name="Google Shape;57;p1"/>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58" name="Google Shape;58;p1"/>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59" name="Google Shape;59;p1"/>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Operators, Operands and Expressions</a:t>
            </a:r>
            <a:endParaRPr/>
          </a:p>
        </p:txBody>
      </p:sp>
      <p:sp>
        <p:nvSpPr>
          <p:cNvPr id="60" name="Google Shape;60;p1"/>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In the previous video, we did a recap of the primitive data types, as well as getting a formal </a:t>
            </a:r>
            <a:r>
              <a:rPr lang="en-US" sz="6400" b="0" i="0" u="none" strike="noStrike" cap="none">
                <a:solidFill>
                  <a:srgbClr val="000000"/>
                </a:solidFill>
                <a:latin typeface="Open Sans"/>
                <a:ea typeface="Open Sans"/>
                <a:cs typeface="Open Sans"/>
                <a:sym typeface="Open Sans"/>
              </a:rPr>
              <a:t>introduction to the </a:t>
            </a:r>
            <a:r>
              <a:rPr lang="en-US" sz="6400" b="0" i="0" u="none" strike="noStrike" cap="none" dirty="0">
                <a:solidFill>
                  <a:srgbClr val="000000"/>
                </a:solidFill>
                <a:latin typeface="Open Sans"/>
                <a:ea typeface="Open Sans"/>
                <a:cs typeface="Open Sans"/>
                <a:sym typeface="Open Sans"/>
              </a:rPr>
              <a:t>String.</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In this video, we're going to take a look at operators, operands, and expressions.</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I've discussed very briefly what operators are, and we've used a few of them in</a:t>
            </a:r>
            <a:r>
              <a:rPr lang="en-US" sz="6400" dirty="0">
                <a:latin typeface="Open Sans"/>
                <a:ea typeface="Open Sans"/>
                <a:cs typeface="Open Sans"/>
                <a:sym typeface="Open Sans"/>
              </a:rPr>
              <a:t> </a:t>
            </a:r>
            <a:r>
              <a:rPr lang="en-US" sz="6400" b="0" i="0" u="none" strike="noStrike" cap="none" dirty="0">
                <a:solidFill>
                  <a:srgbClr val="000000"/>
                </a:solidFill>
                <a:latin typeface="Open Sans"/>
                <a:ea typeface="Open Sans"/>
                <a:cs typeface="Open Sans"/>
                <a:sym typeface="Open Sans"/>
              </a:rPr>
              <a:t>expressions.</a:t>
            </a: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Let's go deeper into that now.</a:t>
            </a:r>
            <a:endParaRPr dirty="0"/>
          </a:p>
        </p:txBody>
      </p:sp>
    </p:spTree>
  </p:cSld>
  <p:clrMapOvr>
    <a:masterClrMapping/>
  </p:clrMapOvr>
  <p:transition spd="me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p:nvPr/>
        </p:nvSpPr>
        <p:spPr>
          <a:xfrm>
            <a:off x="952498" y="459786"/>
            <a:ext cx="13566214"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What are Operators?</a:t>
            </a:r>
            <a:endParaRPr/>
          </a:p>
        </p:txBody>
      </p:sp>
      <p:cxnSp>
        <p:nvCxnSpPr>
          <p:cNvPr id="66" name="Google Shape;66;p2"/>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67" name="Google Shape;67;p2"/>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68" name="Google Shape;68;p2"/>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69" name="Google Shape;69;p2"/>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Operators, Operands and Expressions</a:t>
            </a:r>
            <a:endParaRPr/>
          </a:p>
        </p:txBody>
      </p:sp>
      <p:sp>
        <p:nvSpPr>
          <p:cNvPr id="70" name="Google Shape;70;p2"/>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So what are operators?</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Operators in Java are special symbols that perform specific operations on one, two, or three operands, and then return a result.</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In the example below, which we saw in a previous video, we used the addition operator, as well as the multiplication operator.</a:t>
            </a:r>
            <a:endParaRPr dirty="0"/>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dirty="0">
              <a:solidFill>
                <a:srgbClr val="000000"/>
              </a:solidFill>
              <a:latin typeface="Open Sans"/>
              <a:ea typeface="Open Sans"/>
              <a:cs typeface="Open Sans"/>
              <a:sym typeface="Open Sans"/>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But there are many other operators in Java.</a:t>
            </a:r>
            <a:endParaRPr dirty="0"/>
          </a:p>
        </p:txBody>
      </p:sp>
      <p:pic>
        <p:nvPicPr>
          <p:cNvPr id="71" name="Google Shape;71;p2"/>
          <p:cNvPicPr preferRelativeResize="0"/>
          <p:nvPr/>
        </p:nvPicPr>
        <p:blipFill rotWithShape="1">
          <a:blip r:embed="rId4">
            <a:alphaModFix/>
          </a:blip>
          <a:srcRect/>
          <a:stretch/>
        </p:blipFill>
        <p:spPr>
          <a:xfrm>
            <a:off x="2472575" y="11103379"/>
            <a:ext cx="31630850" cy="989094"/>
          </a:xfrm>
          <a:prstGeom prst="rect">
            <a:avLst/>
          </a:prstGeom>
          <a:noFill/>
          <a:ln>
            <a:noFill/>
          </a:ln>
        </p:spPr>
      </p:pic>
    </p:spTree>
  </p:cSld>
  <p:clrMapOvr>
    <a:masterClrMapping/>
  </p:clrMapOvr>
  <p:transition spd="me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3"/>
          <p:cNvSpPr/>
          <p:nvPr/>
        </p:nvSpPr>
        <p:spPr>
          <a:xfrm>
            <a:off x="952498" y="459786"/>
            <a:ext cx="13566214"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What are Operands?</a:t>
            </a:r>
            <a:endParaRPr/>
          </a:p>
        </p:txBody>
      </p:sp>
      <p:cxnSp>
        <p:nvCxnSpPr>
          <p:cNvPr id="77" name="Google Shape;77;p3"/>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78" name="Google Shape;78;p3"/>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79" name="Google Shape;79;p3"/>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80" name="Google Shape;80;p3"/>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Operators, Operands and Expressions</a:t>
            </a:r>
            <a:endParaRPr/>
          </a:p>
        </p:txBody>
      </p:sp>
      <p:sp>
        <p:nvSpPr>
          <p:cNvPr id="81" name="Google Shape;81;p3"/>
          <p:cNvSpPr/>
          <p:nvPr/>
        </p:nvSpPr>
        <p:spPr>
          <a:xfrm>
            <a:off x="952501" y="4285904"/>
            <a:ext cx="34782670" cy="13645396"/>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So what is an operand?</a:t>
            </a:r>
            <a:endParaRPr dirty="0"/>
          </a:p>
          <a:p>
            <a:pPr marL="0" marR="0" lvl="0" indent="0" algn="l" rtl="0">
              <a:lnSpc>
                <a:spcPct val="9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An operand is a term used to describe any object that is manipulated by an operator.</a:t>
            </a:r>
            <a:endParaRPr dirty="0"/>
          </a:p>
          <a:p>
            <a:pPr marL="0" marR="0" lvl="0" indent="0" algn="l" rtl="0">
              <a:lnSpc>
                <a:spcPct val="9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So if we consider this:</a:t>
            </a:r>
            <a:endParaRPr dirty="0"/>
          </a:p>
          <a:p>
            <a:pPr marL="0" marR="0" lvl="0" indent="0" algn="l" rtl="0">
              <a:lnSpc>
                <a:spcPct val="90000"/>
              </a:lnSpc>
              <a:spcBef>
                <a:spcPts val="5022"/>
              </a:spcBef>
              <a:spcAft>
                <a:spcPts val="0"/>
              </a:spcAft>
              <a:buClr>
                <a:srgbClr val="000000"/>
              </a:buClr>
              <a:buSzPts val="6400"/>
              <a:buFont typeface="Helvetica Neue Light"/>
              <a:buNone/>
            </a:pPr>
            <a:endParaRPr sz="6400" b="0" i="0" u="none" strike="noStrike" cap="none" dirty="0">
              <a:solidFill>
                <a:srgbClr val="000000"/>
              </a:solidFill>
              <a:latin typeface="Open Sans"/>
              <a:ea typeface="Open Sans"/>
              <a:cs typeface="Open Sans"/>
              <a:sym typeface="Open Sans"/>
            </a:endParaRPr>
          </a:p>
          <a:p>
            <a:pPr marL="0" marR="0" lvl="0" indent="0" algn="l" rtl="0">
              <a:lnSpc>
                <a:spcPct val="9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The plus here is the operator, and 15 and 12 are the operands. Variables used instead of literals can also be operands.</a:t>
            </a:r>
            <a:endParaRPr dirty="0"/>
          </a:p>
          <a:p>
            <a:pPr marL="0" marR="0" lvl="0" indent="0" algn="l" rtl="0">
              <a:lnSpc>
                <a:spcPct val="9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Another example from a previous challenge::</a:t>
            </a:r>
            <a:endParaRPr dirty="0"/>
          </a:p>
          <a:p>
            <a:pPr marL="0" marR="0" lvl="0" indent="0" algn="l" rtl="0">
              <a:lnSpc>
                <a:spcPct val="90000"/>
              </a:lnSpc>
              <a:spcBef>
                <a:spcPts val="5022"/>
              </a:spcBef>
              <a:spcAft>
                <a:spcPts val="0"/>
              </a:spcAft>
              <a:buClr>
                <a:srgbClr val="000000"/>
              </a:buClr>
              <a:buSzPts val="6400"/>
              <a:buFont typeface="Helvetica Neue Light"/>
              <a:buNone/>
            </a:pPr>
            <a:endParaRPr sz="6400" b="0" i="0" u="none" strike="noStrike" cap="none" dirty="0">
              <a:solidFill>
                <a:srgbClr val="000000"/>
              </a:solidFill>
              <a:latin typeface="Open Sans"/>
              <a:ea typeface="Open Sans"/>
              <a:cs typeface="Open Sans"/>
              <a:sym typeface="Open Sans"/>
            </a:endParaRPr>
          </a:p>
          <a:p>
            <a:pPr marL="0" marR="0" lvl="0" indent="0" algn="l" rtl="0">
              <a:lnSpc>
                <a:spcPct val="9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In the line above, </a:t>
            </a:r>
            <a:r>
              <a:rPr lang="en-US" sz="6400" b="1" i="0" u="none" strike="noStrike" cap="none" dirty="0" err="1">
                <a:solidFill>
                  <a:srgbClr val="000000"/>
                </a:solidFill>
                <a:latin typeface="Open Sans"/>
                <a:ea typeface="Open Sans"/>
                <a:cs typeface="Open Sans"/>
                <a:sym typeface="Open Sans"/>
              </a:rPr>
              <a:t>byteValue</a:t>
            </a:r>
            <a:r>
              <a:rPr lang="en-US" sz="6400" b="0" i="0" u="none" strike="noStrike" cap="none" dirty="0">
                <a:solidFill>
                  <a:srgbClr val="000000"/>
                </a:solidFill>
                <a:latin typeface="Open Sans"/>
                <a:ea typeface="Open Sans"/>
                <a:cs typeface="Open Sans"/>
                <a:sym typeface="Open Sans"/>
              </a:rPr>
              <a:t>, </a:t>
            </a:r>
            <a:r>
              <a:rPr lang="en-US" sz="6400" b="1" i="0" u="none" strike="noStrike" cap="none" dirty="0" err="1">
                <a:solidFill>
                  <a:srgbClr val="000000"/>
                </a:solidFill>
                <a:latin typeface="Open Sans"/>
                <a:ea typeface="Open Sans"/>
                <a:cs typeface="Open Sans"/>
                <a:sym typeface="Open Sans"/>
              </a:rPr>
              <a:t>shortValue</a:t>
            </a:r>
            <a:r>
              <a:rPr lang="en-US" sz="6400" b="0" i="0" u="none" strike="noStrike" cap="none" dirty="0">
                <a:solidFill>
                  <a:srgbClr val="000000"/>
                </a:solidFill>
                <a:latin typeface="Open Sans"/>
                <a:ea typeface="Open Sans"/>
                <a:cs typeface="Open Sans"/>
                <a:sym typeface="Open Sans"/>
              </a:rPr>
              <a:t> and </a:t>
            </a:r>
            <a:r>
              <a:rPr lang="en-US" sz="6400" b="1" i="0" u="none" strike="noStrike" cap="none" dirty="0" err="1">
                <a:solidFill>
                  <a:srgbClr val="000000"/>
                </a:solidFill>
                <a:latin typeface="Open Sans"/>
                <a:ea typeface="Open Sans"/>
                <a:cs typeface="Open Sans"/>
                <a:sym typeface="Open Sans"/>
              </a:rPr>
              <a:t>intValue</a:t>
            </a:r>
            <a:r>
              <a:rPr lang="en-US" sz="6400" b="0" i="0" u="none" strike="noStrike" cap="none" dirty="0">
                <a:solidFill>
                  <a:srgbClr val="000000"/>
                </a:solidFill>
                <a:latin typeface="Open Sans"/>
                <a:ea typeface="Open Sans"/>
                <a:cs typeface="Open Sans"/>
                <a:sym typeface="Open Sans"/>
              </a:rPr>
              <a:t> are operands, as are the numeric literals.</a:t>
            </a:r>
            <a:endParaRPr dirty="0"/>
          </a:p>
        </p:txBody>
      </p:sp>
      <p:pic>
        <p:nvPicPr>
          <p:cNvPr id="82" name="Google Shape;82;p3"/>
          <p:cNvPicPr preferRelativeResize="0"/>
          <p:nvPr/>
        </p:nvPicPr>
        <p:blipFill rotWithShape="1">
          <a:blip r:embed="rId4">
            <a:alphaModFix/>
          </a:blip>
          <a:srcRect/>
          <a:stretch/>
        </p:blipFill>
        <p:spPr>
          <a:xfrm>
            <a:off x="13404831" y="8614681"/>
            <a:ext cx="9766337" cy="934173"/>
          </a:xfrm>
          <a:prstGeom prst="rect">
            <a:avLst/>
          </a:prstGeom>
          <a:noFill/>
          <a:ln>
            <a:noFill/>
          </a:ln>
        </p:spPr>
      </p:pic>
      <p:pic>
        <p:nvPicPr>
          <p:cNvPr id="83" name="Google Shape;83;p3"/>
          <p:cNvPicPr preferRelativeResize="0"/>
          <p:nvPr/>
        </p:nvPicPr>
        <p:blipFill rotWithShape="1">
          <a:blip r:embed="rId5">
            <a:alphaModFix/>
          </a:blip>
          <a:srcRect/>
          <a:stretch/>
        </p:blipFill>
        <p:spPr>
          <a:xfrm>
            <a:off x="2107629" y="14266652"/>
            <a:ext cx="32360740" cy="928128"/>
          </a:xfrm>
          <a:prstGeom prst="rect">
            <a:avLst/>
          </a:prstGeom>
          <a:noFill/>
          <a:ln>
            <a:noFill/>
          </a:ln>
        </p:spPr>
      </p:pic>
    </p:spTree>
  </p:cSld>
  <p:clrMapOvr>
    <a:masterClrMapping/>
  </p:clrMapOvr>
  <p:transition spd="me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4"/>
          <p:cNvSpPr/>
          <p:nvPr/>
        </p:nvSpPr>
        <p:spPr>
          <a:xfrm>
            <a:off x="952498" y="459786"/>
            <a:ext cx="14680301"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What are Expressions?</a:t>
            </a:r>
            <a:endParaRPr/>
          </a:p>
        </p:txBody>
      </p:sp>
      <p:cxnSp>
        <p:nvCxnSpPr>
          <p:cNvPr id="89" name="Google Shape;89;p4"/>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90" name="Google Shape;90;p4"/>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91" name="Google Shape;91;p4"/>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92" name="Google Shape;92;p4"/>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Operators, Operands and Expressions</a:t>
            </a:r>
            <a:endParaRPr/>
          </a:p>
        </p:txBody>
      </p:sp>
      <p:sp>
        <p:nvSpPr>
          <p:cNvPr id="93" name="Google Shape;93;p4"/>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What's an expression?</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An expression is formed by combining variables, literals, method return values, which we haven't covered yet, and operators.</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They are a way of forming and combining those values to produce a result.</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In the line below, 15 plus 12 is the expression, which returns the value of 27.</a:t>
            </a:r>
            <a:endParaRPr dirty="0"/>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dirty="0">
              <a:solidFill>
                <a:srgbClr val="000000"/>
              </a:solidFill>
              <a:latin typeface="Open Sans"/>
              <a:ea typeface="Open Sans"/>
              <a:cs typeface="Open Sans"/>
              <a:sym typeface="Open Sans"/>
            </a:endParaRPr>
          </a:p>
        </p:txBody>
      </p:sp>
      <p:pic>
        <p:nvPicPr>
          <p:cNvPr id="94" name="Google Shape;94;p4"/>
          <p:cNvPicPr preferRelativeResize="0"/>
          <p:nvPr/>
        </p:nvPicPr>
        <p:blipFill rotWithShape="1">
          <a:blip r:embed="rId4">
            <a:alphaModFix/>
          </a:blip>
          <a:srcRect/>
          <a:stretch/>
        </p:blipFill>
        <p:spPr>
          <a:xfrm>
            <a:off x="13789479" y="11833547"/>
            <a:ext cx="8997043" cy="930730"/>
          </a:xfrm>
          <a:prstGeom prst="rect">
            <a:avLst/>
          </a:prstGeom>
          <a:noFill/>
          <a:ln>
            <a:noFill/>
          </a:ln>
        </p:spPr>
      </p:pic>
    </p:spTree>
  </p:cSld>
  <p:clrMapOvr>
    <a:masterClrMapping/>
  </p:clrMapOvr>
  <p:transition spd="me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5"/>
          <p:cNvSpPr/>
          <p:nvPr/>
        </p:nvSpPr>
        <p:spPr>
          <a:xfrm>
            <a:off x="952498" y="459786"/>
            <a:ext cx="14680301"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What are Expressions?</a:t>
            </a:r>
            <a:endParaRPr/>
          </a:p>
        </p:txBody>
      </p:sp>
      <p:cxnSp>
        <p:nvCxnSpPr>
          <p:cNvPr id="100" name="Google Shape;100;p5"/>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01" name="Google Shape;101;p5"/>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02" name="Google Shape;102;p5"/>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03" name="Google Shape;103;p5"/>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Operators, Operands and Expressions</a:t>
            </a:r>
            <a:endParaRPr/>
          </a:p>
        </p:txBody>
      </p:sp>
      <p:sp>
        <p:nvSpPr>
          <p:cNvPr id="104" name="Google Shape;104;p5"/>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In the statement below, </a:t>
            </a:r>
            <a:r>
              <a:rPr lang="en-US" sz="6400" b="0" i="0" u="none" strike="noStrike" cap="none">
                <a:solidFill>
                  <a:srgbClr val="000000"/>
                </a:solidFill>
                <a:latin typeface="Roboto Mono"/>
                <a:ea typeface="Roboto Mono"/>
                <a:cs typeface="Roboto Mono"/>
                <a:sym typeface="Roboto Mono"/>
              </a:rPr>
              <a:t>byteValue + shortValue + intValue</a:t>
            </a:r>
            <a:r>
              <a:rPr lang="en-US" sz="6400" b="0" i="0" u="none" strike="noStrike" cap="none">
                <a:solidFill>
                  <a:srgbClr val="000000"/>
                </a:solidFill>
                <a:latin typeface="Open Sans"/>
                <a:ea typeface="Open Sans"/>
                <a:cs typeface="Open Sans"/>
                <a:sym typeface="Open Sans"/>
              </a:rPr>
              <a:t> is the expression.</a:t>
            </a:r>
            <a:endParaRPr/>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a:solidFill>
                <a:srgbClr val="000000"/>
              </a:solidFill>
              <a:latin typeface="Open Sans"/>
              <a:ea typeface="Open Sans"/>
              <a:cs typeface="Open Sans"/>
              <a:sym typeface="Open Sans"/>
            </a:endParaRPr>
          </a:p>
        </p:txBody>
      </p:sp>
      <p:pic>
        <p:nvPicPr>
          <p:cNvPr id="105" name="Google Shape;105;p5"/>
          <p:cNvPicPr preferRelativeResize="0"/>
          <p:nvPr/>
        </p:nvPicPr>
        <p:blipFill rotWithShape="1">
          <a:blip r:embed="rId4">
            <a:alphaModFix/>
          </a:blip>
          <a:srcRect/>
          <a:stretch/>
        </p:blipFill>
        <p:spPr>
          <a:xfrm>
            <a:off x="5331807" y="6232872"/>
            <a:ext cx="25912387" cy="989022"/>
          </a:xfrm>
          <a:prstGeom prst="rect">
            <a:avLst/>
          </a:prstGeom>
          <a:noFill/>
          <a:ln>
            <a:noFill/>
          </a:ln>
        </p:spPr>
      </p:pic>
    </p:spTree>
  </p:cSld>
  <p:clrMapOvr>
    <a:masterClrMapping/>
  </p:clrMapOvr>
  <p:transition spd="me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6"/>
          <p:cNvSpPr/>
          <p:nvPr/>
        </p:nvSpPr>
        <p:spPr>
          <a:xfrm>
            <a:off x="952498" y="459786"/>
            <a:ext cx="23732459"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How may operators are in this code?</a:t>
            </a:r>
            <a:endParaRPr/>
          </a:p>
        </p:txBody>
      </p:sp>
      <p:cxnSp>
        <p:nvCxnSpPr>
          <p:cNvPr id="111" name="Google Shape;111;p6"/>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12" name="Google Shape;112;p6"/>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13" name="Google Shape;113;p6"/>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14" name="Google Shape;114;p6"/>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Operators, Operands and Expressions</a:t>
            </a:r>
            <a:endParaRPr/>
          </a:p>
        </p:txBody>
      </p:sp>
      <p:sp>
        <p:nvSpPr>
          <p:cNvPr id="115" name="Google Shape;115;p6"/>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How many operators would you say, are in this statement? </a:t>
            </a:r>
            <a:endParaRPr/>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a:solidFill>
                <a:srgbClr val="000000"/>
              </a:solidFill>
              <a:latin typeface="Open Sans"/>
              <a:ea typeface="Open Sans"/>
              <a:cs typeface="Open Sans"/>
              <a:sym typeface="Open Sans"/>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Well, we've actually got two, the equal operator, and the plus operator.</a:t>
            </a:r>
            <a:endParaRPr sz="6400" b="0" i="0" u="none" strike="noStrike" cap="none">
              <a:solidFill>
                <a:srgbClr val="000000"/>
              </a:solidFill>
              <a:latin typeface="Open Sans"/>
              <a:ea typeface="Open Sans"/>
              <a:cs typeface="Open Sans"/>
              <a:sym typeface="Open Sans"/>
            </a:endParaRPr>
          </a:p>
        </p:txBody>
      </p:sp>
      <p:pic>
        <p:nvPicPr>
          <p:cNvPr id="116" name="Google Shape;116;p6"/>
          <p:cNvPicPr preferRelativeResize="0"/>
          <p:nvPr/>
        </p:nvPicPr>
        <p:blipFill rotWithShape="1">
          <a:blip r:embed="rId4">
            <a:alphaModFix/>
          </a:blip>
          <a:srcRect/>
          <a:stretch/>
        </p:blipFill>
        <p:spPr>
          <a:xfrm>
            <a:off x="9313135" y="5857193"/>
            <a:ext cx="17949731" cy="1170127"/>
          </a:xfrm>
          <a:prstGeom prst="rect">
            <a:avLst/>
          </a:prstGeom>
          <a:noFill/>
          <a:ln>
            <a:noFill/>
          </a:ln>
        </p:spPr>
      </p:pic>
    </p:spTree>
  </p:cSld>
  <p:clrMapOvr>
    <a:masterClrMapping/>
  </p:clrMapOvr>
  <p:transition spd="me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7"/>
          <p:cNvSpPr/>
          <p:nvPr/>
        </p:nvSpPr>
        <p:spPr>
          <a:xfrm>
            <a:off x="952498" y="459786"/>
            <a:ext cx="13404310"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What is a Comment?</a:t>
            </a:r>
            <a:endParaRPr/>
          </a:p>
        </p:txBody>
      </p:sp>
      <p:cxnSp>
        <p:nvCxnSpPr>
          <p:cNvPr id="122" name="Google Shape;122;p7"/>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23" name="Google Shape;123;p7"/>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24" name="Google Shape;124;p7"/>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25" name="Google Shape;125;p7"/>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Operators, Operands and Expressions</a:t>
            </a:r>
            <a:endParaRPr/>
          </a:p>
        </p:txBody>
      </p:sp>
      <p:sp>
        <p:nvSpPr>
          <p:cNvPr id="126" name="Google Shape;126;p7"/>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Comments are ignored by the computer, and are added to a program, to help describe something. Comments are there for humans to read.</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We use two forward slashes in front of any code, or on a blank line. Anything after the two forward slashes, right through to the end of the line, is ignored by the computer.</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So aside from describing something about a program, comments can also be used to temporarily disable code.</a:t>
            </a:r>
            <a:endParaRPr/>
          </a:p>
        </p:txBody>
      </p:sp>
    </p:spTree>
  </p:cSld>
  <p:clrMapOvr>
    <a:masterClrMapping/>
  </p:clrMapOvr>
  <p:transition spd="me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p:nvPr/>
        </p:nvSpPr>
        <p:spPr>
          <a:xfrm>
            <a:off x="952498" y="571752"/>
            <a:ext cx="34882947" cy="1615827"/>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9500"/>
              <a:buFont typeface="Open Sans"/>
              <a:buNone/>
            </a:pPr>
            <a:r>
              <a:rPr lang="en-US" sz="9500" b="0" i="0" u="none" strike="noStrike" cap="none">
                <a:solidFill>
                  <a:srgbClr val="000000"/>
                </a:solidFill>
                <a:latin typeface="Open Sans"/>
                <a:ea typeface="Open Sans"/>
                <a:cs typeface="Open Sans"/>
                <a:sym typeface="Open Sans"/>
              </a:rPr>
              <a:t>What is the effect of this code on the value in previousResult?</a:t>
            </a:r>
            <a:endParaRPr/>
          </a:p>
        </p:txBody>
      </p:sp>
      <p:cxnSp>
        <p:nvCxnSpPr>
          <p:cNvPr id="132" name="Google Shape;132;p8"/>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33" name="Google Shape;133;p8"/>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34" name="Google Shape;134;p8"/>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35" name="Google Shape;135;p8"/>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Operators, Operands and Expressions</a:t>
            </a:r>
            <a:endParaRPr/>
          </a:p>
        </p:txBody>
      </p:sp>
      <p:sp>
        <p:nvSpPr>
          <p:cNvPr id="136" name="Google Shape;136;p8"/>
          <p:cNvSpPr/>
          <p:nvPr/>
        </p:nvSpPr>
        <p:spPr>
          <a:xfrm>
            <a:off x="952501" y="6308402"/>
            <a:ext cx="34782670" cy="9857678"/>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Before we move on, some of you may be wondering about the value that is now in the </a:t>
            </a:r>
            <a:r>
              <a:rPr lang="en-US" sz="6400" b="1" i="0" u="none" strike="noStrike" cap="none" dirty="0" err="1">
                <a:solidFill>
                  <a:srgbClr val="000000"/>
                </a:solidFill>
                <a:latin typeface="Open Sans"/>
                <a:ea typeface="Open Sans"/>
                <a:cs typeface="Open Sans"/>
                <a:sym typeface="Open Sans"/>
              </a:rPr>
              <a:t>previousResult</a:t>
            </a:r>
            <a:r>
              <a:rPr lang="en-US" sz="6400" b="0" i="0" u="none" strike="noStrike" cap="none" dirty="0">
                <a:solidFill>
                  <a:srgbClr val="000000"/>
                </a:solidFill>
                <a:latin typeface="Open Sans"/>
                <a:ea typeface="Open Sans"/>
                <a:cs typeface="Open Sans"/>
                <a:sym typeface="Open Sans"/>
              </a:rPr>
              <a:t> variable after the last statement. </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To summarize, we assigned result to </a:t>
            </a:r>
            <a:r>
              <a:rPr lang="en-US" sz="6400" b="1" i="0" u="none" strike="noStrike" cap="none" dirty="0" err="1">
                <a:solidFill>
                  <a:srgbClr val="000000"/>
                </a:solidFill>
                <a:latin typeface="Open Sans"/>
                <a:ea typeface="Open Sans"/>
                <a:cs typeface="Open Sans"/>
                <a:sym typeface="Open Sans"/>
              </a:rPr>
              <a:t>previousResult</a:t>
            </a:r>
            <a:r>
              <a:rPr lang="en-US" sz="6400" b="0" i="0" u="none" strike="noStrike" cap="none" dirty="0">
                <a:solidFill>
                  <a:srgbClr val="000000"/>
                </a:solidFill>
                <a:latin typeface="Open Sans"/>
                <a:ea typeface="Open Sans"/>
                <a:cs typeface="Open Sans"/>
                <a:sym typeface="Open Sans"/>
              </a:rPr>
              <a:t>, and then we changed the value of </a:t>
            </a:r>
            <a:r>
              <a:rPr lang="en-US" sz="6400" b="1" i="0" u="none" strike="noStrike" cap="none" dirty="0">
                <a:solidFill>
                  <a:srgbClr val="000000"/>
                </a:solidFill>
                <a:latin typeface="Open Sans"/>
                <a:ea typeface="Open Sans"/>
                <a:cs typeface="Open Sans"/>
                <a:sym typeface="Open Sans"/>
              </a:rPr>
              <a:t>result</a:t>
            </a:r>
            <a:r>
              <a:rPr lang="en-US" sz="6400" b="0" i="0" u="none" strike="noStrike" cap="none" dirty="0">
                <a:solidFill>
                  <a:srgbClr val="000000"/>
                </a:solidFill>
                <a:latin typeface="Open Sans"/>
                <a:ea typeface="Open Sans"/>
                <a:cs typeface="Open Sans"/>
                <a:sym typeface="Open Sans"/>
              </a:rPr>
              <a:t>.  But, did this also change the value in </a:t>
            </a:r>
            <a:r>
              <a:rPr lang="en-US" sz="6400" b="1" i="0" u="none" strike="noStrike" cap="none" dirty="0" err="1">
                <a:solidFill>
                  <a:srgbClr val="000000"/>
                </a:solidFill>
                <a:latin typeface="Open Sans"/>
                <a:ea typeface="Open Sans"/>
                <a:cs typeface="Open Sans"/>
                <a:sym typeface="Open Sans"/>
              </a:rPr>
              <a:t>previousResult</a:t>
            </a:r>
            <a:r>
              <a:rPr lang="en-US" sz="6400" b="0" i="0" u="none" strike="noStrike" cap="none" dirty="0">
                <a:solidFill>
                  <a:srgbClr val="000000"/>
                </a:solidFill>
                <a:latin typeface="Open Sans"/>
                <a:ea typeface="Open Sans"/>
                <a:cs typeface="Open Sans"/>
                <a:sym typeface="Open Sans"/>
              </a:rPr>
              <a:t>? </a:t>
            </a:r>
            <a:r>
              <a:rPr lang="en-US" sz="6400" b="0" i="0" u="none" strike="noStrike" cap="none">
                <a:solidFill>
                  <a:srgbClr val="000000"/>
                </a:solidFill>
                <a:latin typeface="Open Sans"/>
                <a:ea typeface="Open Sans"/>
                <a:cs typeface="Open Sans"/>
                <a:sym typeface="Open Sans"/>
              </a:rPr>
              <a:t>That is a good question.</a:t>
            </a:r>
            <a:endParaRPr dirty="0"/>
          </a:p>
        </p:txBody>
      </p:sp>
      <p:pic>
        <p:nvPicPr>
          <p:cNvPr id="137" name="Google Shape;137;p8"/>
          <p:cNvPicPr preferRelativeResize="0"/>
          <p:nvPr/>
        </p:nvPicPr>
        <p:blipFill rotWithShape="1">
          <a:blip r:embed="rId4">
            <a:alphaModFix/>
          </a:blip>
          <a:srcRect/>
          <a:stretch/>
        </p:blipFill>
        <p:spPr>
          <a:xfrm>
            <a:off x="11826565" y="2989428"/>
            <a:ext cx="12922870" cy="2887238"/>
          </a:xfrm>
          <a:prstGeom prst="rect">
            <a:avLst/>
          </a:prstGeom>
          <a:noFill/>
          <a:ln>
            <a:noFill/>
          </a:ln>
        </p:spPr>
      </p:pic>
    </p:spTree>
  </p:cSld>
  <p:clrMapOvr>
    <a:masterClrMapping/>
  </p:clrMapOvr>
  <p:transition spd="me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9"/>
          <p:cNvSpPr/>
          <p:nvPr/>
        </p:nvSpPr>
        <p:spPr>
          <a:xfrm>
            <a:off x="952498" y="459786"/>
            <a:ext cx="25571103"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The + Operator on character data types</a:t>
            </a:r>
            <a:endParaRPr/>
          </a:p>
        </p:txBody>
      </p:sp>
      <p:cxnSp>
        <p:nvCxnSpPr>
          <p:cNvPr id="143" name="Google Shape;143;p9"/>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44" name="Google Shape;144;p9"/>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45" name="Google Shape;145;p9"/>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46" name="Google Shape;146;p9"/>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Operators, Operands and Expressions</a:t>
            </a:r>
            <a:endParaRPr/>
          </a:p>
        </p:txBody>
      </p:sp>
      <p:graphicFrame>
        <p:nvGraphicFramePr>
          <p:cNvPr id="8" name="Table 6">
            <a:extLst>
              <a:ext uri="{FF2B5EF4-FFF2-40B4-BE49-F238E27FC236}">
                <a16:creationId xmlns:a16="http://schemas.microsoft.com/office/drawing/2014/main" id="{C8914326-DC50-EFDC-D8B4-931F58A91E44}"/>
              </a:ext>
            </a:extLst>
          </p:cNvPr>
          <p:cNvGraphicFramePr>
            <a:graphicFrameLocks noGrp="1"/>
          </p:cNvGraphicFramePr>
          <p:nvPr/>
        </p:nvGraphicFramePr>
        <p:xfrm>
          <a:off x="2365300" y="6662037"/>
          <a:ext cx="31845400" cy="7249926"/>
        </p:xfrm>
        <a:graphic>
          <a:graphicData uri="http://schemas.openxmlformats.org/drawingml/2006/table">
            <a:tbl>
              <a:tblPr firstRow="1" bandRow="1">
                <a:tableStyleId>{5C22544A-7EE6-4342-B048-85BDC9FD1C3A}</a:tableStyleId>
              </a:tblPr>
              <a:tblGrid>
                <a:gridCol w="15922700">
                  <a:extLst>
                    <a:ext uri="{9D8B030D-6E8A-4147-A177-3AD203B41FA5}">
                      <a16:colId xmlns:a16="http://schemas.microsoft.com/office/drawing/2014/main" val="2398957492"/>
                    </a:ext>
                  </a:extLst>
                </a:gridCol>
                <a:gridCol w="15922700">
                  <a:extLst>
                    <a:ext uri="{9D8B030D-6E8A-4147-A177-3AD203B41FA5}">
                      <a16:colId xmlns:a16="http://schemas.microsoft.com/office/drawing/2014/main" val="1725977642"/>
                    </a:ext>
                  </a:extLst>
                </a:gridCol>
              </a:tblGrid>
              <a:tr h="3374697">
                <a:tc>
                  <a:txBody>
                    <a:bodyPr/>
                    <a:lstStyle/>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char</a:t>
                      </a:r>
                      <a:endParaRPr lang="en-PH" sz="6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String</a:t>
                      </a:r>
                      <a:endParaRPr lang="en-PH" sz="6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3875229">
                <a:tc>
                  <a:txBody>
                    <a:bodyPr/>
                    <a:lstStyle/>
                    <a:p>
                      <a:pPr marL="2127600" marR="0" lvl="0" indent="-68580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Char char="•"/>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Holds one, and only one, character</a:t>
                      </a:r>
                    </a:p>
                    <a:p>
                      <a:pPr marL="2127600" marR="0" lvl="0" indent="-68580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Char char="•"/>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Literal enclosed in Single Quotes</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127600" marR="0" lvl="0" indent="-68580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Char char="•"/>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Can hold multiple characters</a:t>
                      </a:r>
                    </a:p>
                    <a:p>
                      <a:pPr marL="2127600" marR="0" lvl="0" indent="-68580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Char char="•"/>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Literal enclosed in Double Quotes</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7302300"/>
                  </a:ext>
                </a:extLst>
              </a:tr>
            </a:tbl>
          </a:graphicData>
        </a:graphic>
      </p:graphicFrame>
    </p:spTree>
  </p:cSld>
  <p:clrMapOvr>
    <a:masterClrMapping/>
  </p:clrMapOvr>
  <p:transition spd="me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0"/>
          <p:cNvSpPr/>
          <p:nvPr/>
        </p:nvSpPr>
        <p:spPr>
          <a:xfrm>
            <a:off x="952498" y="459786"/>
            <a:ext cx="15239749"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The + Operator on char</a:t>
            </a:r>
            <a:endParaRPr/>
          </a:p>
        </p:txBody>
      </p:sp>
      <p:cxnSp>
        <p:nvCxnSpPr>
          <p:cNvPr id="153" name="Google Shape;153;p10"/>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54" name="Google Shape;154;p10"/>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55" name="Google Shape;155;p10"/>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56" name="Google Shape;156;p10"/>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Operators, Operands and Expressions</a:t>
            </a:r>
            <a:endParaRPr/>
          </a:p>
        </p:txBody>
      </p:sp>
      <p:sp>
        <p:nvSpPr>
          <p:cNvPr id="157" name="Google Shape;157;p10"/>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You might remember that we said chars are stored as 2 byte numbers in memory.</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When you use the addition operator with chars, it is these numbers in memory that get added together.</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The character values don't get concatenated.</a:t>
            </a:r>
            <a:endParaRPr dirty="0"/>
          </a:p>
        </p:txBody>
      </p:sp>
    </p:spTree>
  </p:cSld>
  <p:clrMapOvr>
    <a:masterClrMapping/>
  </p:clrMapOvr>
  <p:transition spd="me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1"/>
          <p:cNvSpPr/>
          <p:nvPr/>
        </p:nvSpPr>
        <p:spPr>
          <a:xfrm>
            <a:off x="952498" y="459786"/>
            <a:ext cx="16283304"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The Remainder Operator</a:t>
            </a:r>
            <a:endParaRPr/>
          </a:p>
        </p:txBody>
      </p:sp>
      <p:cxnSp>
        <p:nvCxnSpPr>
          <p:cNvPr id="163" name="Google Shape;163;p11"/>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64" name="Google Shape;164;p11"/>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65" name="Google Shape;165;p11"/>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66" name="Google Shape;166;p11"/>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Operators, Operands and Expressions</a:t>
            </a:r>
            <a:endParaRPr/>
          </a:p>
        </p:txBody>
      </p:sp>
      <p:sp>
        <p:nvSpPr>
          <p:cNvPr id="167" name="Google Shape;167;p11"/>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The remainder operator is represented in Java by the % sign.</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The remainder operator goes by several other names: modulus, modulo or just plain mod for short.</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The remainder operator returns the remaining value from a division operation. </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If there is no remaining value, the result is 0.</a:t>
            </a:r>
            <a:endParaRPr dirty="0"/>
          </a:p>
        </p:txBody>
      </p:sp>
    </p:spTree>
    <p:extLst>
      <p:ext uri="{BB962C8B-B14F-4D97-AF65-F5344CB8AC3E}">
        <p14:creationId xmlns:p14="http://schemas.microsoft.com/office/powerpoint/2010/main" val="175270732"/>
      </p:ext>
    </p:extLst>
  </p:cSld>
  <p:clrMapOvr>
    <a:masterClrMapping/>
  </p:clrMapOvr>
  <p:transition spd="me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1"/>
          <p:cNvSpPr/>
          <p:nvPr/>
        </p:nvSpPr>
        <p:spPr>
          <a:xfrm>
            <a:off x="952498" y="459786"/>
            <a:ext cx="16283304"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The Remainder Operator</a:t>
            </a:r>
            <a:endParaRPr/>
          </a:p>
        </p:txBody>
      </p:sp>
      <p:cxnSp>
        <p:nvCxnSpPr>
          <p:cNvPr id="163" name="Google Shape;163;p11"/>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64" name="Google Shape;164;p11"/>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65" name="Google Shape;165;p11"/>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66" name="Google Shape;166;p11"/>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Operators, Operands and Expressions</a:t>
            </a:r>
            <a:endParaRPr/>
          </a:p>
        </p:txBody>
      </p:sp>
      <p:sp>
        <p:nvSpPr>
          <p:cNvPr id="9" name="Rectangle 8">
            <a:extLst>
              <a:ext uri="{FF2B5EF4-FFF2-40B4-BE49-F238E27FC236}">
                <a16:creationId xmlns:a16="http://schemas.microsoft.com/office/drawing/2014/main" id="{4277E8CC-B80A-4885-6139-05C950A80D5C}"/>
              </a:ext>
            </a:extLst>
          </p:cNvPr>
          <p:cNvSpPr/>
          <p:nvPr/>
        </p:nvSpPr>
        <p:spPr>
          <a:xfrm>
            <a:off x="952499" y="3220130"/>
            <a:ext cx="34782670" cy="1201374"/>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table shows some examples.</a:t>
            </a:r>
          </a:p>
        </p:txBody>
      </p:sp>
      <p:graphicFrame>
        <p:nvGraphicFramePr>
          <p:cNvPr id="10" name="Table 6">
            <a:extLst>
              <a:ext uri="{FF2B5EF4-FFF2-40B4-BE49-F238E27FC236}">
                <a16:creationId xmlns:a16="http://schemas.microsoft.com/office/drawing/2014/main" id="{F4D8A61C-2AA5-B0D1-1088-75D5527F5214}"/>
              </a:ext>
            </a:extLst>
          </p:cNvPr>
          <p:cNvGraphicFramePr>
            <a:graphicFrameLocks noGrp="1"/>
          </p:cNvGraphicFramePr>
          <p:nvPr/>
        </p:nvGraphicFramePr>
        <p:xfrm>
          <a:off x="4282732" y="4700714"/>
          <a:ext cx="28010537" cy="11363965"/>
        </p:xfrm>
        <a:graphic>
          <a:graphicData uri="http://schemas.openxmlformats.org/drawingml/2006/table">
            <a:tbl>
              <a:tblPr firstRow="1" bandRow="1">
                <a:tableStyleId>{5C22544A-7EE6-4342-B048-85BDC9FD1C3A}</a:tableStyleId>
              </a:tblPr>
              <a:tblGrid>
                <a:gridCol w="6582791">
                  <a:extLst>
                    <a:ext uri="{9D8B030D-6E8A-4147-A177-3AD203B41FA5}">
                      <a16:colId xmlns:a16="http://schemas.microsoft.com/office/drawing/2014/main" val="3877765251"/>
                    </a:ext>
                  </a:extLst>
                </a:gridCol>
                <a:gridCol w="7207893">
                  <a:extLst>
                    <a:ext uri="{9D8B030D-6E8A-4147-A177-3AD203B41FA5}">
                      <a16:colId xmlns:a16="http://schemas.microsoft.com/office/drawing/2014/main" val="3652140810"/>
                    </a:ext>
                  </a:extLst>
                </a:gridCol>
                <a:gridCol w="14219853">
                  <a:extLst>
                    <a:ext uri="{9D8B030D-6E8A-4147-A177-3AD203B41FA5}">
                      <a16:colId xmlns:a16="http://schemas.microsoft.com/office/drawing/2014/main" val="2398957492"/>
                    </a:ext>
                  </a:extLst>
                </a:gridCol>
              </a:tblGrid>
              <a:tr h="1875770">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Division Result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Remainder Result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Explanation</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215398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10 / 5 = 2</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10 % 5 = 0</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Ten can be divided evenly by 5, so there is no remainder.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7302300"/>
                  </a:ext>
                </a:extLst>
              </a:tr>
              <a:tr h="215398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10 / 2 = 5</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10 % 2 = 0</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Ten can be divided evenly by 2, so there is no remainder.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1971115"/>
                  </a:ext>
                </a:extLst>
              </a:tr>
              <a:tr h="3026246">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10 / 3 = 3</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10 % 3 = 1</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Ten cannot be divided evenly by 3, but we get 3 from the division which gives us 9 with 1 remaining.</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697734"/>
                  </a:ext>
                </a:extLst>
              </a:tr>
              <a:tr h="215398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10 / 1 = 10</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10 % 1 = 0</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Using 1 on the right side of the remainder operate will always give a result of 0.</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328808"/>
                  </a:ext>
                </a:extLst>
              </a:tr>
            </a:tbl>
          </a:graphicData>
        </a:graphic>
      </p:graphicFrame>
    </p:spTree>
  </p:cSld>
  <p:clrMapOvr>
    <a:masterClrMapping/>
  </p:clrMapOvr>
  <p:transition spd="me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2"/>
          <p:cNvSpPr/>
          <p:nvPr/>
        </p:nvSpPr>
        <p:spPr>
          <a:xfrm>
            <a:off x="952498" y="459786"/>
            <a:ext cx="14992887"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Summary of Operators</a:t>
            </a:r>
            <a:endParaRPr/>
          </a:p>
        </p:txBody>
      </p:sp>
      <p:cxnSp>
        <p:nvCxnSpPr>
          <p:cNvPr id="174" name="Google Shape;174;p12"/>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75" name="Google Shape;175;p12"/>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76" name="Google Shape;176;p12"/>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77" name="Google Shape;177;p12"/>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Operators, Operands and Expressions</a:t>
            </a:r>
            <a:endParaRPr/>
          </a:p>
        </p:txBody>
      </p:sp>
      <p:graphicFrame>
        <p:nvGraphicFramePr>
          <p:cNvPr id="9" name="Table 6">
            <a:extLst>
              <a:ext uri="{FF2B5EF4-FFF2-40B4-BE49-F238E27FC236}">
                <a16:creationId xmlns:a16="http://schemas.microsoft.com/office/drawing/2014/main" id="{5EDAC96E-0645-47A2-A301-EA1CC0C26ADF}"/>
              </a:ext>
            </a:extLst>
          </p:cNvPr>
          <p:cNvGraphicFramePr>
            <a:graphicFrameLocks noGrp="1"/>
          </p:cNvGraphicFramePr>
          <p:nvPr/>
        </p:nvGraphicFramePr>
        <p:xfrm>
          <a:off x="6550090" y="5234272"/>
          <a:ext cx="23475820" cy="12645685"/>
        </p:xfrm>
        <a:graphic>
          <a:graphicData uri="http://schemas.openxmlformats.org/drawingml/2006/table">
            <a:tbl>
              <a:tblPr firstRow="1" bandRow="1">
                <a:tableStyleId>{5C22544A-7EE6-4342-B048-85BDC9FD1C3A}</a:tableStyleId>
              </a:tblPr>
              <a:tblGrid>
                <a:gridCol w="4695164">
                  <a:extLst>
                    <a:ext uri="{9D8B030D-6E8A-4147-A177-3AD203B41FA5}">
                      <a16:colId xmlns:a16="http://schemas.microsoft.com/office/drawing/2014/main" val="3877765251"/>
                    </a:ext>
                  </a:extLst>
                </a:gridCol>
                <a:gridCol w="4695164">
                  <a:extLst>
                    <a:ext uri="{9D8B030D-6E8A-4147-A177-3AD203B41FA5}">
                      <a16:colId xmlns:a16="http://schemas.microsoft.com/office/drawing/2014/main" val="3652140810"/>
                    </a:ext>
                  </a:extLst>
                </a:gridCol>
                <a:gridCol w="4695164">
                  <a:extLst>
                    <a:ext uri="{9D8B030D-6E8A-4147-A177-3AD203B41FA5}">
                      <a16:colId xmlns:a16="http://schemas.microsoft.com/office/drawing/2014/main" val="2398957492"/>
                    </a:ext>
                  </a:extLst>
                </a:gridCol>
                <a:gridCol w="4695164">
                  <a:extLst>
                    <a:ext uri="{9D8B030D-6E8A-4147-A177-3AD203B41FA5}">
                      <a16:colId xmlns:a16="http://schemas.microsoft.com/office/drawing/2014/main" val="175306719"/>
                    </a:ext>
                  </a:extLst>
                </a:gridCol>
                <a:gridCol w="4695164">
                  <a:extLst>
                    <a:ext uri="{9D8B030D-6E8A-4147-A177-3AD203B41FA5}">
                      <a16:colId xmlns:a16="http://schemas.microsoft.com/office/drawing/2014/main" val="375210585"/>
                    </a:ext>
                  </a:extLst>
                </a:gridCol>
              </a:tblGrid>
              <a:tr h="1875770">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Operator</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Numeric types</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char</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boolean</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String</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215398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Addition</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Addition</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Concatenation</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7302300"/>
                  </a:ext>
                </a:extLst>
              </a:tr>
              <a:tr h="2153983">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Subtraction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Subtraction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3073079"/>
                  </a:ext>
                </a:extLst>
              </a:tr>
              <a:tr h="215398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Multiplication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Multiplication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3062218"/>
                  </a:ext>
                </a:extLst>
              </a:tr>
              <a:tr h="215398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Division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Division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9484247"/>
                  </a:ext>
                </a:extLst>
              </a:tr>
              <a:tr h="215398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Remainder (Modulus)</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Remainder (Modulus)</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0047192"/>
                  </a:ext>
                </a:extLst>
              </a:tr>
            </a:tbl>
          </a:graphicData>
        </a:graphic>
      </p:graphicFrame>
      <p:sp>
        <p:nvSpPr>
          <p:cNvPr id="10" name="Rectangle 9">
            <a:extLst>
              <a:ext uri="{FF2B5EF4-FFF2-40B4-BE49-F238E27FC236}">
                <a16:creationId xmlns:a16="http://schemas.microsoft.com/office/drawing/2014/main" id="{BD31E603-13D6-F650-91D4-E57C3782DFDC}"/>
              </a:ext>
            </a:extLst>
          </p:cNvPr>
          <p:cNvSpPr/>
          <p:nvPr/>
        </p:nvSpPr>
        <p:spPr>
          <a:xfrm>
            <a:off x="952501" y="2689271"/>
            <a:ext cx="34782670" cy="2270557"/>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This tables shows the five operators we just reviewed. For all of the numeric types (whole numbers and decimals), the operators are mathematical operators as shown.</a:t>
            </a:r>
          </a:p>
        </p:txBody>
      </p:sp>
    </p:spTree>
  </p:cSld>
  <p:clrMapOvr>
    <a:masterClrMapping/>
  </p:clrMapOvr>
  <p:transition spd="me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2"/>
          <p:cNvSpPr/>
          <p:nvPr/>
        </p:nvSpPr>
        <p:spPr>
          <a:xfrm>
            <a:off x="952498" y="459786"/>
            <a:ext cx="14992887"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Summary of Operators</a:t>
            </a:r>
            <a:endParaRPr/>
          </a:p>
        </p:txBody>
      </p:sp>
      <p:cxnSp>
        <p:nvCxnSpPr>
          <p:cNvPr id="174" name="Google Shape;174;p12"/>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75" name="Google Shape;175;p12"/>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76" name="Google Shape;176;p12"/>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77" name="Google Shape;177;p12"/>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Operators, Operands and Expressions</a:t>
            </a:r>
            <a:endParaRPr/>
          </a:p>
        </p:txBody>
      </p:sp>
      <p:graphicFrame>
        <p:nvGraphicFramePr>
          <p:cNvPr id="9" name="Table 6">
            <a:extLst>
              <a:ext uri="{FF2B5EF4-FFF2-40B4-BE49-F238E27FC236}">
                <a16:creationId xmlns:a16="http://schemas.microsoft.com/office/drawing/2014/main" id="{5EDAC96E-0645-47A2-A301-EA1CC0C26ADF}"/>
              </a:ext>
            </a:extLst>
          </p:cNvPr>
          <p:cNvGraphicFramePr>
            <a:graphicFrameLocks noGrp="1"/>
          </p:cNvGraphicFramePr>
          <p:nvPr/>
        </p:nvGraphicFramePr>
        <p:xfrm>
          <a:off x="6550090" y="5234272"/>
          <a:ext cx="23475820" cy="12645685"/>
        </p:xfrm>
        <a:graphic>
          <a:graphicData uri="http://schemas.openxmlformats.org/drawingml/2006/table">
            <a:tbl>
              <a:tblPr firstRow="1" bandRow="1">
                <a:tableStyleId>{5C22544A-7EE6-4342-B048-85BDC9FD1C3A}</a:tableStyleId>
              </a:tblPr>
              <a:tblGrid>
                <a:gridCol w="4695164">
                  <a:extLst>
                    <a:ext uri="{9D8B030D-6E8A-4147-A177-3AD203B41FA5}">
                      <a16:colId xmlns:a16="http://schemas.microsoft.com/office/drawing/2014/main" val="3877765251"/>
                    </a:ext>
                  </a:extLst>
                </a:gridCol>
                <a:gridCol w="4695164">
                  <a:extLst>
                    <a:ext uri="{9D8B030D-6E8A-4147-A177-3AD203B41FA5}">
                      <a16:colId xmlns:a16="http://schemas.microsoft.com/office/drawing/2014/main" val="3652140810"/>
                    </a:ext>
                  </a:extLst>
                </a:gridCol>
                <a:gridCol w="4695164">
                  <a:extLst>
                    <a:ext uri="{9D8B030D-6E8A-4147-A177-3AD203B41FA5}">
                      <a16:colId xmlns:a16="http://schemas.microsoft.com/office/drawing/2014/main" val="2398957492"/>
                    </a:ext>
                  </a:extLst>
                </a:gridCol>
                <a:gridCol w="4695164">
                  <a:extLst>
                    <a:ext uri="{9D8B030D-6E8A-4147-A177-3AD203B41FA5}">
                      <a16:colId xmlns:a16="http://schemas.microsoft.com/office/drawing/2014/main" val="175306719"/>
                    </a:ext>
                  </a:extLst>
                </a:gridCol>
                <a:gridCol w="4695164">
                  <a:extLst>
                    <a:ext uri="{9D8B030D-6E8A-4147-A177-3AD203B41FA5}">
                      <a16:colId xmlns:a16="http://schemas.microsoft.com/office/drawing/2014/main" val="375210585"/>
                    </a:ext>
                  </a:extLst>
                </a:gridCol>
              </a:tblGrid>
              <a:tr h="1875770">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Operator</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Numeric types</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char</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boolean</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String</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215398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Addition</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Addition</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Concatenation</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7302300"/>
                  </a:ext>
                </a:extLst>
              </a:tr>
              <a:tr h="2153983">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Subtraction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Subtraction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3073079"/>
                  </a:ext>
                </a:extLst>
              </a:tr>
              <a:tr h="215398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Multiplication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Multiplication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3062218"/>
                  </a:ext>
                </a:extLst>
              </a:tr>
              <a:tr h="215398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Division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Division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9484247"/>
                  </a:ext>
                </a:extLst>
              </a:tr>
              <a:tr h="215398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Remainder (Modulus)</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Remainder (Modulus)</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0047192"/>
                  </a:ext>
                </a:extLst>
              </a:tr>
            </a:tbl>
          </a:graphicData>
        </a:graphic>
      </p:graphicFrame>
      <p:sp>
        <p:nvSpPr>
          <p:cNvPr id="10" name="Rectangle 9">
            <a:extLst>
              <a:ext uri="{FF2B5EF4-FFF2-40B4-BE49-F238E27FC236}">
                <a16:creationId xmlns:a16="http://schemas.microsoft.com/office/drawing/2014/main" id="{BD31E603-13D6-F650-91D4-E57C3782DFDC}"/>
              </a:ext>
            </a:extLst>
          </p:cNvPr>
          <p:cNvSpPr/>
          <p:nvPr/>
        </p:nvSpPr>
        <p:spPr>
          <a:xfrm>
            <a:off x="952501" y="2689271"/>
            <a:ext cx="34782670" cy="2270557"/>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Only one operator, the + operator, is supported by String, but it means concatenation, not addition.</a:t>
            </a:r>
          </a:p>
        </p:txBody>
      </p:sp>
    </p:spTree>
    <p:extLst>
      <p:ext uri="{BB962C8B-B14F-4D97-AF65-F5344CB8AC3E}">
        <p14:creationId xmlns:p14="http://schemas.microsoft.com/office/powerpoint/2010/main" val="1407011239"/>
      </p:ext>
    </p:extLst>
  </p:cSld>
  <p:clrMapOvr>
    <a:masterClrMapping/>
  </p:clrMapOvr>
  <p:transition spd="me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2"/>
          <p:cNvSpPr/>
          <p:nvPr/>
        </p:nvSpPr>
        <p:spPr>
          <a:xfrm>
            <a:off x="952498" y="459786"/>
            <a:ext cx="14992887"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Summary of Operators</a:t>
            </a:r>
            <a:endParaRPr/>
          </a:p>
        </p:txBody>
      </p:sp>
      <p:cxnSp>
        <p:nvCxnSpPr>
          <p:cNvPr id="174" name="Google Shape;174;p12"/>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75" name="Google Shape;175;p12"/>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76" name="Google Shape;176;p12"/>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77" name="Google Shape;177;p12"/>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Operators, Operands and Expressions</a:t>
            </a:r>
            <a:endParaRPr/>
          </a:p>
        </p:txBody>
      </p:sp>
      <p:graphicFrame>
        <p:nvGraphicFramePr>
          <p:cNvPr id="9" name="Table 6">
            <a:extLst>
              <a:ext uri="{FF2B5EF4-FFF2-40B4-BE49-F238E27FC236}">
                <a16:creationId xmlns:a16="http://schemas.microsoft.com/office/drawing/2014/main" id="{5EDAC96E-0645-47A2-A301-EA1CC0C26ADF}"/>
              </a:ext>
            </a:extLst>
          </p:cNvPr>
          <p:cNvGraphicFramePr>
            <a:graphicFrameLocks noGrp="1"/>
          </p:cNvGraphicFramePr>
          <p:nvPr/>
        </p:nvGraphicFramePr>
        <p:xfrm>
          <a:off x="6550090" y="5234272"/>
          <a:ext cx="23475820" cy="12645685"/>
        </p:xfrm>
        <a:graphic>
          <a:graphicData uri="http://schemas.openxmlformats.org/drawingml/2006/table">
            <a:tbl>
              <a:tblPr firstRow="1" bandRow="1">
                <a:tableStyleId>{5C22544A-7EE6-4342-B048-85BDC9FD1C3A}</a:tableStyleId>
              </a:tblPr>
              <a:tblGrid>
                <a:gridCol w="4695164">
                  <a:extLst>
                    <a:ext uri="{9D8B030D-6E8A-4147-A177-3AD203B41FA5}">
                      <a16:colId xmlns:a16="http://schemas.microsoft.com/office/drawing/2014/main" val="3877765251"/>
                    </a:ext>
                  </a:extLst>
                </a:gridCol>
                <a:gridCol w="4695164">
                  <a:extLst>
                    <a:ext uri="{9D8B030D-6E8A-4147-A177-3AD203B41FA5}">
                      <a16:colId xmlns:a16="http://schemas.microsoft.com/office/drawing/2014/main" val="3652140810"/>
                    </a:ext>
                  </a:extLst>
                </a:gridCol>
                <a:gridCol w="4695164">
                  <a:extLst>
                    <a:ext uri="{9D8B030D-6E8A-4147-A177-3AD203B41FA5}">
                      <a16:colId xmlns:a16="http://schemas.microsoft.com/office/drawing/2014/main" val="2398957492"/>
                    </a:ext>
                  </a:extLst>
                </a:gridCol>
                <a:gridCol w="4695164">
                  <a:extLst>
                    <a:ext uri="{9D8B030D-6E8A-4147-A177-3AD203B41FA5}">
                      <a16:colId xmlns:a16="http://schemas.microsoft.com/office/drawing/2014/main" val="175306719"/>
                    </a:ext>
                  </a:extLst>
                </a:gridCol>
                <a:gridCol w="4695164">
                  <a:extLst>
                    <a:ext uri="{9D8B030D-6E8A-4147-A177-3AD203B41FA5}">
                      <a16:colId xmlns:a16="http://schemas.microsoft.com/office/drawing/2014/main" val="375210585"/>
                    </a:ext>
                  </a:extLst>
                </a:gridCol>
              </a:tblGrid>
              <a:tr h="1875770">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Operator</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Numeric types</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char</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boolean</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String</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215398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Addition</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Addition</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Concatenation</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7302300"/>
                  </a:ext>
                </a:extLst>
              </a:tr>
              <a:tr h="2153983">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Subtraction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Subtraction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3073079"/>
                  </a:ext>
                </a:extLst>
              </a:tr>
              <a:tr h="215398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Multiplication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Multiplication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3062218"/>
                  </a:ext>
                </a:extLst>
              </a:tr>
              <a:tr h="215398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Division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Division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9484247"/>
                  </a:ext>
                </a:extLst>
              </a:tr>
              <a:tr h="215398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Remainder (Modulus)</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Remainder (Modulus)</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0047192"/>
                  </a:ext>
                </a:extLst>
              </a:tr>
            </a:tbl>
          </a:graphicData>
        </a:graphic>
      </p:graphicFrame>
      <p:sp>
        <p:nvSpPr>
          <p:cNvPr id="10" name="Rectangle 9">
            <a:extLst>
              <a:ext uri="{FF2B5EF4-FFF2-40B4-BE49-F238E27FC236}">
                <a16:creationId xmlns:a16="http://schemas.microsoft.com/office/drawing/2014/main" id="{BD31E603-13D6-F650-91D4-E57C3782DFDC}"/>
              </a:ext>
            </a:extLst>
          </p:cNvPr>
          <p:cNvSpPr/>
          <p:nvPr/>
        </p:nvSpPr>
        <p:spPr>
          <a:xfrm>
            <a:off x="952501" y="2689271"/>
            <a:ext cx="34782670" cy="2270557"/>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None of the operators are applicable to a </a:t>
            </a:r>
            <a:r>
              <a:rPr lang="en-US" sz="6400" dirty="0" err="1">
                <a:latin typeface="Open Sans" panose="020B0606030504020204" pitchFamily="34" charset="0"/>
                <a:ea typeface="Open Sans" panose="020B0606030504020204" pitchFamily="34" charset="0"/>
                <a:cs typeface="Open Sans" panose="020B0606030504020204" pitchFamily="34" charset="0"/>
              </a:rPr>
              <a:t>boolean</a:t>
            </a:r>
            <a:r>
              <a:rPr lang="en-US" sz="6400" dirty="0">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3488018436"/>
      </p:ext>
    </p:extLst>
  </p:cSld>
  <p:clrMapOvr>
    <a:masterClrMapping/>
  </p:clrMapOvr>
  <p:transition spd="me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2"/>
          <p:cNvSpPr/>
          <p:nvPr/>
        </p:nvSpPr>
        <p:spPr>
          <a:xfrm>
            <a:off x="952498" y="459786"/>
            <a:ext cx="14992887"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Summary of Operators</a:t>
            </a:r>
            <a:endParaRPr/>
          </a:p>
        </p:txBody>
      </p:sp>
      <p:cxnSp>
        <p:nvCxnSpPr>
          <p:cNvPr id="174" name="Google Shape;174;p12"/>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75" name="Google Shape;175;p12"/>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76" name="Google Shape;176;p12"/>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77" name="Google Shape;177;p12"/>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Operators, Operands and Expressions</a:t>
            </a:r>
            <a:endParaRPr/>
          </a:p>
        </p:txBody>
      </p:sp>
      <p:graphicFrame>
        <p:nvGraphicFramePr>
          <p:cNvPr id="9" name="Table 6">
            <a:extLst>
              <a:ext uri="{FF2B5EF4-FFF2-40B4-BE49-F238E27FC236}">
                <a16:creationId xmlns:a16="http://schemas.microsoft.com/office/drawing/2014/main" id="{5EDAC96E-0645-47A2-A301-EA1CC0C26ADF}"/>
              </a:ext>
            </a:extLst>
          </p:cNvPr>
          <p:cNvGraphicFramePr>
            <a:graphicFrameLocks noGrp="1"/>
          </p:cNvGraphicFramePr>
          <p:nvPr/>
        </p:nvGraphicFramePr>
        <p:xfrm>
          <a:off x="6550090" y="5234272"/>
          <a:ext cx="23475820" cy="12645685"/>
        </p:xfrm>
        <a:graphic>
          <a:graphicData uri="http://schemas.openxmlformats.org/drawingml/2006/table">
            <a:tbl>
              <a:tblPr firstRow="1" bandRow="1">
                <a:tableStyleId>{5C22544A-7EE6-4342-B048-85BDC9FD1C3A}</a:tableStyleId>
              </a:tblPr>
              <a:tblGrid>
                <a:gridCol w="4695164">
                  <a:extLst>
                    <a:ext uri="{9D8B030D-6E8A-4147-A177-3AD203B41FA5}">
                      <a16:colId xmlns:a16="http://schemas.microsoft.com/office/drawing/2014/main" val="3877765251"/>
                    </a:ext>
                  </a:extLst>
                </a:gridCol>
                <a:gridCol w="4695164">
                  <a:extLst>
                    <a:ext uri="{9D8B030D-6E8A-4147-A177-3AD203B41FA5}">
                      <a16:colId xmlns:a16="http://schemas.microsoft.com/office/drawing/2014/main" val="3652140810"/>
                    </a:ext>
                  </a:extLst>
                </a:gridCol>
                <a:gridCol w="4695164">
                  <a:extLst>
                    <a:ext uri="{9D8B030D-6E8A-4147-A177-3AD203B41FA5}">
                      <a16:colId xmlns:a16="http://schemas.microsoft.com/office/drawing/2014/main" val="2398957492"/>
                    </a:ext>
                  </a:extLst>
                </a:gridCol>
                <a:gridCol w="4695164">
                  <a:extLst>
                    <a:ext uri="{9D8B030D-6E8A-4147-A177-3AD203B41FA5}">
                      <a16:colId xmlns:a16="http://schemas.microsoft.com/office/drawing/2014/main" val="175306719"/>
                    </a:ext>
                  </a:extLst>
                </a:gridCol>
                <a:gridCol w="4695164">
                  <a:extLst>
                    <a:ext uri="{9D8B030D-6E8A-4147-A177-3AD203B41FA5}">
                      <a16:colId xmlns:a16="http://schemas.microsoft.com/office/drawing/2014/main" val="375210585"/>
                    </a:ext>
                  </a:extLst>
                </a:gridCol>
              </a:tblGrid>
              <a:tr h="1875770">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Operator</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Numeric types</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char</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boolean</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String</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215398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Addition</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Addition</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Concatenation</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7302300"/>
                  </a:ext>
                </a:extLst>
              </a:tr>
              <a:tr h="2153983">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Subtraction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Subtraction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3073079"/>
                  </a:ext>
                </a:extLst>
              </a:tr>
              <a:tr h="215398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Multiplication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Multiplication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3062218"/>
                  </a:ext>
                </a:extLst>
              </a:tr>
              <a:tr h="215398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Division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Division</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9484247"/>
                  </a:ext>
                </a:extLst>
              </a:tr>
              <a:tr h="2153983">
                <a:tc>
                  <a:txBody>
                    <a:bodyPr/>
                    <a:lstStyle/>
                    <a:p>
                      <a:pPr algn="ctr"/>
                      <a:r>
                        <a:rPr lang="en-US" sz="48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en-PH" sz="4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Remainder (Modulus)</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Remainder (Modulus)</a:t>
                      </a:r>
                      <a:endParaRPr lang="en-PH" sz="48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800" b="0" i="0" u="none" strike="noStrike" kern="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n/a</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0047192"/>
                  </a:ext>
                </a:extLst>
              </a:tr>
            </a:tbl>
          </a:graphicData>
        </a:graphic>
      </p:graphicFrame>
      <p:sp>
        <p:nvSpPr>
          <p:cNvPr id="10" name="Rectangle 9">
            <a:extLst>
              <a:ext uri="{FF2B5EF4-FFF2-40B4-BE49-F238E27FC236}">
                <a16:creationId xmlns:a16="http://schemas.microsoft.com/office/drawing/2014/main" id="{BD31E603-13D6-F650-91D4-E57C3782DFDC}"/>
              </a:ext>
            </a:extLst>
          </p:cNvPr>
          <p:cNvSpPr/>
          <p:nvPr/>
        </p:nvSpPr>
        <p:spPr>
          <a:xfrm>
            <a:off x="952501" y="2689271"/>
            <a:ext cx="34782670" cy="2270557"/>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Because the char is stored as a whole number literal, all the operations are applicable to a char.</a:t>
            </a:r>
          </a:p>
        </p:txBody>
      </p:sp>
    </p:spTree>
    <p:extLst>
      <p:ext uri="{BB962C8B-B14F-4D97-AF65-F5344CB8AC3E}">
        <p14:creationId xmlns:p14="http://schemas.microsoft.com/office/powerpoint/2010/main" val="4289063520"/>
      </p:ext>
    </p:extLst>
  </p:cSld>
  <p:clrMapOvr>
    <a:masterClrMapping/>
  </p:clrMapOvr>
  <p:transition spd="me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cxnSp>
        <p:nvCxnSpPr>
          <p:cNvPr id="55" name="Google Shape;55;p1"/>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56" name="Google Shape;56;p1"/>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57" name="Google Shape;57;p1"/>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58" name="Google Shape;58;p1"/>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Abbreviating Operators</a:t>
            </a:r>
            <a:endParaRPr/>
          </a:p>
        </p:txBody>
      </p:sp>
      <p:sp>
        <p:nvSpPr>
          <p:cNvPr id="59" name="Google Shape;59;p1"/>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In the previous video, I talked about operators, operands, and expressions.  In this video, I'll continue the discussion about operators, and you'll see how they can be abbreviated to simplify code.</a:t>
            </a:r>
            <a:endParaRPr lang="en-US"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In the next section of this course, we'll be transitioning to coding in a code editor called IntelliJ. I want to continue to prepare you for that environment by using the curly brace feature in </a:t>
            </a:r>
            <a:r>
              <a:rPr lang="en-US" sz="6400" b="0" i="0" u="none" strike="noStrike" cap="none">
                <a:solidFill>
                  <a:srgbClr val="000000"/>
                </a:solidFill>
                <a:latin typeface="Open Sans"/>
                <a:ea typeface="Open Sans"/>
                <a:cs typeface="Open Sans"/>
                <a:sym typeface="Open Sans"/>
              </a:rPr>
              <a:t>JShell.</a:t>
            </a:r>
            <a:endParaRPr lang="en-US" sz="6400" b="0" i="0" u="none" strike="noStrike" cap="none" dirty="0">
              <a:solidFill>
                <a:srgbClr val="000000"/>
              </a:solidFill>
              <a:latin typeface="Open Sans"/>
              <a:ea typeface="Open Sans"/>
              <a:cs typeface="Open Sans"/>
              <a:sym typeface="Open Sans"/>
            </a:endParaRPr>
          </a:p>
        </p:txBody>
      </p:sp>
      <p:sp>
        <p:nvSpPr>
          <p:cNvPr id="60" name="Google Shape;60;p1"/>
          <p:cNvSpPr/>
          <p:nvPr/>
        </p:nvSpPr>
        <p:spPr>
          <a:xfrm>
            <a:off x="952498" y="459786"/>
            <a:ext cx="15286236"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Abbreviating Operators</a:t>
            </a:r>
            <a:endParaRPr/>
          </a:p>
        </p:txBody>
      </p:sp>
    </p:spTree>
  </p:cSld>
  <p:clrMapOvr>
    <a:masterClrMapping/>
  </p:clrMapOvr>
  <p:transition spd="me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2"/>
          <p:cNvSpPr/>
          <p:nvPr/>
        </p:nvSpPr>
        <p:spPr>
          <a:xfrm>
            <a:off x="952498" y="609074"/>
            <a:ext cx="34902183" cy="1600438"/>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9300"/>
              <a:buFont typeface="Open Sans"/>
              <a:buNone/>
            </a:pPr>
            <a:r>
              <a:rPr lang="en-US" sz="9300" b="0" i="0" u="none" strike="noStrike" cap="none">
                <a:solidFill>
                  <a:srgbClr val="000000"/>
                </a:solidFill>
                <a:latin typeface="Open Sans"/>
                <a:ea typeface="Open Sans"/>
                <a:cs typeface="Open Sans"/>
                <a:sym typeface="Open Sans"/>
              </a:rPr>
              <a:t>Why do we want to use multiple statements in curly braces {}?</a:t>
            </a:r>
            <a:endParaRPr/>
          </a:p>
        </p:txBody>
      </p:sp>
      <p:cxnSp>
        <p:nvCxnSpPr>
          <p:cNvPr id="66" name="Google Shape;66;p2"/>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67" name="Google Shape;67;p2"/>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68" name="Google Shape;68;p2"/>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69" name="Google Shape;69;p2"/>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Abbreviating Operators</a:t>
            </a:r>
            <a:endParaRPr/>
          </a:p>
        </p:txBody>
      </p:sp>
      <p:sp>
        <p:nvSpPr>
          <p:cNvPr id="70" name="Google Shape;70;p2"/>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So, why use multiple statements in curly braces?</a:t>
            </a:r>
            <a:endParaRPr/>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a:solidFill>
                  <a:srgbClr val="000000"/>
                </a:solidFill>
                <a:latin typeface="Open Sans"/>
                <a:ea typeface="Open Sans"/>
                <a:cs typeface="Open Sans"/>
                <a:sym typeface="Open Sans"/>
              </a:rPr>
              <a:t>First, it's a way to group statements together before executing them.</a:t>
            </a:r>
            <a:endParaRPr/>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a:solidFill>
                  <a:srgbClr val="000000"/>
                </a:solidFill>
                <a:latin typeface="Open Sans"/>
                <a:ea typeface="Open Sans"/>
                <a:cs typeface="Open Sans"/>
                <a:sym typeface="Open Sans"/>
              </a:rPr>
              <a:t>It allows us to put statements on multiple lines which is more natural and readable.</a:t>
            </a:r>
            <a:endParaRPr/>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a:solidFill>
                  <a:srgbClr val="000000"/>
                </a:solidFill>
                <a:latin typeface="Open Sans"/>
                <a:ea typeface="Open Sans"/>
                <a:cs typeface="Open Sans"/>
                <a:sym typeface="Open Sans"/>
              </a:rPr>
              <a:t>We can execute the group of statements as a whole, which more closely resembles running code in Java.</a:t>
            </a:r>
            <a:endParaRPr/>
          </a:p>
        </p:txBody>
      </p:sp>
    </p:spTree>
  </p:cSld>
  <p:clrMapOvr>
    <a:masterClrMapping/>
  </p:clrMapOvr>
  <p:transition spd="me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p:nvPr/>
        </p:nvSpPr>
        <p:spPr>
          <a:xfrm>
            <a:off x="952498" y="459786"/>
            <a:ext cx="13724911"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Incrementing by One</a:t>
            </a:r>
            <a:endParaRPr/>
          </a:p>
        </p:txBody>
      </p:sp>
      <p:cxnSp>
        <p:nvCxnSpPr>
          <p:cNvPr id="76" name="Google Shape;76;p3"/>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77" name="Google Shape;77;p3"/>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78" name="Google Shape;78;p3"/>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79" name="Google Shape;79;p3"/>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Abbreviating Operators</a:t>
            </a:r>
            <a:endParaRPr/>
          </a:p>
        </p:txBody>
      </p:sp>
      <p:sp>
        <p:nvSpPr>
          <p:cNvPr id="80" name="Google Shape;80;p3"/>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Incrementing by one is a very common requirement in programming.</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Obviously we can do the following:  </a:t>
            </a:r>
            <a:endParaRPr dirty="0"/>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dirty="0">
              <a:solidFill>
                <a:srgbClr val="000000"/>
              </a:solidFill>
              <a:latin typeface="Open Sans"/>
              <a:ea typeface="Open Sans"/>
              <a:cs typeface="Open Sans"/>
              <a:sym typeface="Open Sans"/>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But we also have two other shorthand ways to do this same thing.</a:t>
            </a:r>
            <a:endParaRPr dirty="0"/>
          </a:p>
        </p:txBody>
      </p:sp>
      <p:pic>
        <p:nvPicPr>
          <p:cNvPr id="81" name="Google Shape;81;p3"/>
          <p:cNvPicPr preferRelativeResize="0"/>
          <p:nvPr/>
        </p:nvPicPr>
        <p:blipFill rotWithShape="1">
          <a:blip r:embed="rId4">
            <a:alphaModFix/>
          </a:blip>
          <a:srcRect/>
          <a:stretch/>
        </p:blipFill>
        <p:spPr>
          <a:xfrm>
            <a:off x="13184761" y="7483152"/>
            <a:ext cx="10206479" cy="967858"/>
          </a:xfrm>
          <a:prstGeom prst="rect">
            <a:avLst/>
          </a:prstGeom>
          <a:noFill/>
          <a:ln>
            <a:noFill/>
          </a:ln>
        </p:spPr>
      </p:pic>
      <p:graphicFrame>
        <p:nvGraphicFramePr>
          <p:cNvPr id="10" name="Table 6">
            <a:extLst>
              <a:ext uri="{FF2B5EF4-FFF2-40B4-BE49-F238E27FC236}">
                <a16:creationId xmlns:a16="http://schemas.microsoft.com/office/drawing/2014/main" id="{AD60D1AB-431F-4DB2-DB08-61649BB2A06E}"/>
              </a:ext>
            </a:extLst>
          </p:cNvPr>
          <p:cNvGraphicFramePr>
            <a:graphicFrameLocks noGrp="1"/>
          </p:cNvGraphicFramePr>
          <p:nvPr/>
        </p:nvGraphicFramePr>
        <p:xfrm>
          <a:off x="2365300" y="10731865"/>
          <a:ext cx="31845400" cy="4583123"/>
        </p:xfrm>
        <a:graphic>
          <a:graphicData uri="http://schemas.openxmlformats.org/drawingml/2006/table">
            <a:tbl>
              <a:tblPr firstRow="1" bandRow="1">
                <a:tableStyleId>{5C22544A-7EE6-4342-B048-85BDC9FD1C3A}</a:tableStyleId>
              </a:tblPr>
              <a:tblGrid>
                <a:gridCol w="19655095">
                  <a:extLst>
                    <a:ext uri="{9D8B030D-6E8A-4147-A177-3AD203B41FA5}">
                      <a16:colId xmlns:a16="http://schemas.microsoft.com/office/drawing/2014/main" val="2398957492"/>
                    </a:ext>
                  </a:extLst>
                </a:gridCol>
                <a:gridCol w="12190305">
                  <a:extLst>
                    <a:ext uri="{9D8B030D-6E8A-4147-A177-3AD203B41FA5}">
                      <a16:colId xmlns:a16="http://schemas.microsoft.com/office/drawing/2014/main" val="1725977642"/>
                    </a:ext>
                  </a:extLst>
                </a:gridCol>
              </a:tblGrid>
              <a:tr h="1372362">
                <a:tc>
                  <a:txBody>
                    <a:bodyPr/>
                    <a:lstStyle/>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Shorthand (or Abbreviating) Operator</a:t>
                      </a:r>
                      <a:endParaRPr lang="en-PH" sz="6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Code Sample</a:t>
                      </a:r>
                      <a:endParaRPr lang="en-PH" sz="6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1369177">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Post-fix Increment Operator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result++;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7302300"/>
                  </a:ext>
                </a:extLst>
              </a:tr>
              <a:tr h="1841584">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Compound Assignment Operator with + sign</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result+=1;</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1693955"/>
                  </a:ext>
                </a:extLst>
              </a:tr>
            </a:tbl>
          </a:graphicData>
        </a:graphic>
      </p:graphicFrame>
    </p:spTree>
  </p:cSld>
  <p:clrMapOvr>
    <a:masterClrMapping/>
  </p:clrMapOvr>
  <p:transition spd="me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4"/>
          <p:cNvSpPr/>
          <p:nvPr/>
        </p:nvSpPr>
        <p:spPr>
          <a:xfrm>
            <a:off x="952498" y="459786"/>
            <a:ext cx="14276344"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Decrementing by One</a:t>
            </a:r>
            <a:endParaRPr/>
          </a:p>
        </p:txBody>
      </p:sp>
      <p:cxnSp>
        <p:nvCxnSpPr>
          <p:cNvPr id="88" name="Google Shape;88;p4"/>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89" name="Google Shape;89;p4"/>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90" name="Google Shape;90;p4"/>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91" name="Google Shape;91;p4"/>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Abbreviating Operators</a:t>
            </a:r>
            <a:endParaRPr/>
          </a:p>
        </p:txBody>
      </p:sp>
      <p:sp>
        <p:nvSpPr>
          <p:cNvPr id="92" name="Google Shape;92;p4"/>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Decrementing by one is also very common.</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We can decrement simply by using the equation:  </a:t>
            </a:r>
            <a:endParaRPr dirty="0"/>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dirty="0">
              <a:solidFill>
                <a:srgbClr val="000000"/>
              </a:solidFill>
              <a:latin typeface="Open Sans"/>
              <a:ea typeface="Open Sans"/>
              <a:cs typeface="Open Sans"/>
              <a:sym typeface="Open Sans"/>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But we also have two other shorthand ways to do this same thing.</a:t>
            </a:r>
            <a:endParaRPr dirty="0"/>
          </a:p>
        </p:txBody>
      </p:sp>
      <p:pic>
        <p:nvPicPr>
          <p:cNvPr id="93" name="Google Shape;93;p4"/>
          <p:cNvPicPr preferRelativeResize="0"/>
          <p:nvPr/>
        </p:nvPicPr>
        <p:blipFill rotWithShape="1">
          <a:blip r:embed="rId4">
            <a:alphaModFix/>
          </a:blip>
          <a:srcRect/>
          <a:stretch/>
        </p:blipFill>
        <p:spPr>
          <a:xfrm>
            <a:off x="13397760" y="7531905"/>
            <a:ext cx="10143344" cy="1012136"/>
          </a:xfrm>
          <a:prstGeom prst="rect">
            <a:avLst/>
          </a:prstGeom>
          <a:noFill/>
          <a:ln>
            <a:noFill/>
          </a:ln>
        </p:spPr>
      </p:pic>
      <p:graphicFrame>
        <p:nvGraphicFramePr>
          <p:cNvPr id="10" name="Table 6">
            <a:extLst>
              <a:ext uri="{FF2B5EF4-FFF2-40B4-BE49-F238E27FC236}">
                <a16:creationId xmlns:a16="http://schemas.microsoft.com/office/drawing/2014/main" id="{421014AB-F772-122D-60B6-2A4BC856F9BA}"/>
              </a:ext>
            </a:extLst>
          </p:cNvPr>
          <p:cNvGraphicFramePr>
            <a:graphicFrameLocks noGrp="1"/>
          </p:cNvGraphicFramePr>
          <p:nvPr/>
        </p:nvGraphicFramePr>
        <p:xfrm>
          <a:off x="2365300" y="10731865"/>
          <a:ext cx="31845400" cy="4583123"/>
        </p:xfrm>
        <a:graphic>
          <a:graphicData uri="http://schemas.openxmlformats.org/drawingml/2006/table">
            <a:tbl>
              <a:tblPr firstRow="1" bandRow="1">
                <a:tableStyleId>{5C22544A-7EE6-4342-B048-85BDC9FD1C3A}</a:tableStyleId>
              </a:tblPr>
              <a:tblGrid>
                <a:gridCol w="19655095">
                  <a:extLst>
                    <a:ext uri="{9D8B030D-6E8A-4147-A177-3AD203B41FA5}">
                      <a16:colId xmlns:a16="http://schemas.microsoft.com/office/drawing/2014/main" val="2398957492"/>
                    </a:ext>
                  </a:extLst>
                </a:gridCol>
                <a:gridCol w="12190305">
                  <a:extLst>
                    <a:ext uri="{9D8B030D-6E8A-4147-A177-3AD203B41FA5}">
                      <a16:colId xmlns:a16="http://schemas.microsoft.com/office/drawing/2014/main" val="1725977642"/>
                    </a:ext>
                  </a:extLst>
                </a:gridCol>
              </a:tblGrid>
              <a:tr h="1372362">
                <a:tc>
                  <a:txBody>
                    <a:bodyPr/>
                    <a:lstStyle/>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Shorthand (or Abbreviating) Operator</a:t>
                      </a:r>
                      <a:endParaRPr lang="en-PH" sz="6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6400" dirty="0">
                          <a:solidFill>
                            <a:schemeClr val="tx1"/>
                          </a:solidFill>
                          <a:latin typeface="Open Sans" panose="020B0606030504020204" pitchFamily="34" charset="0"/>
                          <a:ea typeface="Open Sans" panose="020B0606030504020204" pitchFamily="34" charset="0"/>
                          <a:cs typeface="Open Sans" panose="020B0606030504020204" pitchFamily="34" charset="0"/>
                        </a:rPr>
                        <a:t>Code Sample</a:t>
                      </a:r>
                      <a:endParaRPr lang="en-PH" sz="6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1369177">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Post-fix Decrement Operator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result--;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7302300"/>
                  </a:ext>
                </a:extLst>
              </a:tr>
              <a:tr h="1841584">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Compound Assignment Operator with - sign</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result-=1;</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1693955"/>
                  </a:ext>
                </a:extLst>
              </a:tr>
            </a:tbl>
          </a:graphicData>
        </a:graphic>
      </p:graphicFrame>
    </p:spTree>
  </p:cSld>
  <p:clrMapOvr>
    <a:masterClrMapping/>
  </p:clrMapOvr>
  <p:transition spd="me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5"/>
          <p:cNvSpPr/>
          <p:nvPr/>
        </p:nvSpPr>
        <p:spPr>
          <a:xfrm>
            <a:off x="952498" y="459786"/>
            <a:ext cx="28315444"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Compound Assignment Operator Challenge</a:t>
            </a:r>
            <a:endParaRPr/>
          </a:p>
        </p:txBody>
      </p:sp>
      <p:cxnSp>
        <p:nvCxnSpPr>
          <p:cNvPr id="100" name="Google Shape;100;p5"/>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01" name="Google Shape;101;p5"/>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02" name="Google Shape;102;p5"/>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03" name="Google Shape;103;p5"/>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Abbreviating Operators</a:t>
            </a:r>
            <a:endParaRPr/>
          </a:p>
        </p:txBody>
      </p:sp>
      <p:sp>
        <p:nvSpPr>
          <p:cNvPr id="104" name="Google Shape;104;p5"/>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Using the code we have been using, either by scrolling up and editing the group of statements, or creating a new group.</a:t>
            </a:r>
            <a:endParaRPr dirty="0"/>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dirty="0">
                <a:solidFill>
                  <a:srgbClr val="000000"/>
                </a:solidFill>
                <a:latin typeface="Open Sans"/>
                <a:ea typeface="Open Sans"/>
                <a:cs typeface="Open Sans"/>
                <a:sym typeface="Open Sans"/>
              </a:rPr>
              <a:t>Initialize an </a:t>
            </a:r>
            <a:r>
              <a:rPr lang="en-US" sz="6400" b="1" i="0" u="none" strike="noStrike" cap="none" dirty="0">
                <a:solidFill>
                  <a:srgbClr val="000000"/>
                </a:solidFill>
                <a:latin typeface="Open Sans"/>
                <a:ea typeface="Open Sans"/>
                <a:cs typeface="Open Sans"/>
                <a:sym typeface="Open Sans"/>
              </a:rPr>
              <a:t>int</a:t>
            </a:r>
            <a:r>
              <a:rPr lang="en-US" sz="6400" b="0" i="0" u="none" strike="noStrike" cap="none" dirty="0">
                <a:solidFill>
                  <a:srgbClr val="000000"/>
                </a:solidFill>
                <a:latin typeface="Open Sans"/>
                <a:ea typeface="Open Sans"/>
                <a:cs typeface="Open Sans"/>
                <a:sym typeface="Open Sans"/>
              </a:rPr>
              <a:t> variable, named </a:t>
            </a:r>
            <a:r>
              <a:rPr lang="en-US" sz="6400" b="1" i="0" u="none" strike="noStrike" cap="none" dirty="0">
                <a:solidFill>
                  <a:srgbClr val="000000"/>
                </a:solidFill>
                <a:latin typeface="Open Sans"/>
                <a:ea typeface="Open Sans"/>
                <a:cs typeface="Open Sans"/>
                <a:sym typeface="Open Sans"/>
              </a:rPr>
              <a:t>result</a:t>
            </a:r>
            <a:r>
              <a:rPr lang="en-US" sz="6400" b="0" i="0" u="none" strike="noStrike" cap="none" dirty="0">
                <a:solidFill>
                  <a:srgbClr val="000000"/>
                </a:solidFill>
                <a:latin typeface="Open Sans"/>
                <a:ea typeface="Open Sans"/>
                <a:cs typeface="Open Sans"/>
                <a:sym typeface="Open Sans"/>
              </a:rPr>
              <a:t>, to the value of 10, rather than 1.</a:t>
            </a:r>
            <a:endParaRPr dirty="0"/>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dirty="0">
                <a:solidFill>
                  <a:srgbClr val="000000"/>
                </a:solidFill>
                <a:latin typeface="Open Sans"/>
                <a:ea typeface="Open Sans"/>
                <a:cs typeface="Open Sans"/>
                <a:sym typeface="Open Sans"/>
              </a:rPr>
              <a:t>Next, use the compound assignment operator, with the minus sign, to subtract a number from </a:t>
            </a:r>
            <a:r>
              <a:rPr lang="en-US" sz="6400" b="1" i="0" u="none" strike="noStrike" cap="none" dirty="0">
                <a:solidFill>
                  <a:srgbClr val="000000"/>
                </a:solidFill>
                <a:latin typeface="Open Sans"/>
                <a:ea typeface="Open Sans"/>
                <a:cs typeface="Open Sans"/>
                <a:sym typeface="Open Sans"/>
              </a:rPr>
              <a:t>result</a:t>
            </a:r>
            <a:r>
              <a:rPr lang="en-US" sz="6400" b="0" i="0" u="none" strike="noStrike" cap="none" dirty="0">
                <a:solidFill>
                  <a:srgbClr val="000000"/>
                </a:solidFill>
                <a:latin typeface="Open Sans"/>
                <a:ea typeface="Open Sans"/>
                <a:cs typeface="Open Sans"/>
                <a:sym typeface="Open Sans"/>
              </a:rPr>
              <a:t>, using a value of your choice.</a:t>
            </a:r>
            <a:endParaRPr dirty="0"/>
          </a:p>
          <a:p>
            <a:pPr marL="1936800" marR="0" lvl="0" indent="-857250" algn="l" rtl="0">
              <a:lnSpc>
                <a:spcPct val="100000"/>
              </a:lnSpc>
              <a:spcBef>
                <a:spcPts val="5022"/>
              </a:spcBef>
              <a:spcAft>
                <a:spcPts val="0"/>
              </a:spcAft>
              <a:buClr>
                <a:srgbClr val="000000"/>
              </a:buClr>
              <a:buSzPts val="6400"/>
              <a:buFont typeface="Arial"/>
              <a:buChar char="•"/>
            </a:pPr>
            <a:r>
              <a:rPr lang="en-US" sz="6400" b="0" i="0" u="none" strike="noStrike" cap="none" dirty="0">
                <a:solidFill>
                  <a:srgbClr val="000000"/>
                </a:solidFill>
                <a:latin typeface="Open Sans"/>
                <a:ea typeface="Open Sans"/>
                <a:cs typeface="Open Sans"/>
                <a:sym typeface="Open Sans"/>
              </a:rPr>
              <a:t>Print the result out, using the </a:t>
            </a:r>
            <a:r>
              <a:rPr lang="en-US" sz="6400" b="0" i="0" u="none" strike="noStrike" cap="none" dirty="0" err="1">
                <a:solidFill>
                  <a:srgbClr val="000000"/>
                </a:solidFill>
                <a:latin typeface="Open Sans"/>
                <a:ea typeface="Open Sans"/>
                <a:cs typeface="Open Sans"/>
                <a:sym typeface="Open Sans"/>
              </a:rPr>
              <a:t>System.out.print</a:t>
            </a:r>
            <a:r>
              <a:rPr lang="en-US" sz="6400" b="0" i="0" u="none" strike="noStrike" cap="none" dirty="0">
                <a:solidFill>
                  <a:srgbClr val="000000"/>
                </a:solidFill>
                <a:latin typeface="Open Sans"/>
                <a:ea typeface="Open Sans"/>
                <a:cs typeface="Open Sans"/>
                <a:sym typeface="Open Sans"/>
              </a:rPr>
              <a:t> statement.</a:t>
            </a:r>
            <a:endParaRPr dirty="0"/>
          </a:p>
        </p:txBody>
      </p:sp>
    </p:spTree>
  </p:cSld>
  <p:clrMapOvr>
    <a:masterClrMapping/>
  </p:clrMapOvr>
  <p:transition spd="me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6"/>
          <p:cNvSpPr/>
          <p:nvPr/>
        </p:nvSpPr>
        <p:spPr>
          <a:xfrm>
            <a:off x="952498" y="459786"/>
            <a:ext cx="21597259"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Compound Operator Assignment</a:t>
            </a:r>
            <a:endParaRPr/>
          </a:p>
        </p:txBody>
      </p:sp>
      <p:cxnSp>
        <p:nvCxnSpPr>
          <p:cNvPr id="110" name="Google Shape;110;p6"/>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11" name="Google Shape;111;p6"/>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12" name="Google Shape;112;p6"/>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13" name="Google Shape;113;p6"/>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Abbreviating Operators</a:t>
            </a:r>
            <a:endParaRPr/>
          </a:p>
        </p:txBody>
      </p:sp>
      <p:sp>
        <p:nvSpPr>
          <p:cNvPr id="114" name="Google Shape;114;p6"/>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When </a:t>
            </a:r>
            <a:r>
              <a:rPr lang="en-US" sz="6400" b="1" i="0" u="none" strike="noStrike" cap="none">
                <a:solidFill>
                  <a:srgbClr val="000000"/>
                </a:solidFill>
                <a:latin typeface="Open Sans"/>
                <a:ea typeface="Open Sans"/>
                <a:cs typeface="Open Sans"/>
                <a:sym typeface="Open Sans"/>
              </a:rPr>
              <a:t>result</a:t>
            </a:r>
            <a:r>
              <a:rPr lang="en-US" sz="6400" b="0" i="0" u="none" strike="noStrike" cap="none">
                <a:solidFill>
                  <a:srgbClr val="000000"/>
                </a:solidFill>
                <a:latin typeface="Open Sans"/>
                <a:ea typeface="Open Sans"/>
                <a:cs typeface="Open Sans"/>
                <a:sym typeface="Open Sans"/>
              </a:rPr>
              <a:t> is an </a:t>
            </a:r>
            <a:r>
              <a:rPr lang="en-US" sz="6400" b="1" i="0" u="none" strike="noStrike" cap="none">
                <a:solidFill>
                  <a:srgbClr val="000000"/>
                </a:solidFill>
                <a:latin typeface="Open Sans"/>
                <a:ea typeface="Open Sans"/>
                <a:cs typeface="Open Sans"/>
                <a:sym typeface="Open Sans"/>
              </a:rPr>
              <a:t>int</a:t>
            </a:r>
            <a:r>
              <a:rPr lang="en-US" sz="6400" b="0" i="0" u="none" strike="noStrike" cap="none">
                <a:solidFill>
                  <a:srgbClr val="000000"/>
                </a:solidFill>
                <a:latin typeface="Open Sans"/>
                <a:ea typeface="Open Sans"/>
                <a:cs typeface="Open Sans"/>
                <a:sym typeface="Open Sans"/>
              </a:rPr>
              <a:t>, the compound operator assignment</a:t>
            </a:r>
            <a:endParaRPr/>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a:solidFill>
                <a:srgbClr val="000000"/>
              </a:solidFill>
              <a:latin typeface="Open Sans"/>
              <a:ea typeface="Open Sans"/>
              <a:cs typeface="Open Sans"/>
              <a:sym typeface="Open Sans"/>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give us a different result from what we expected, which was</a:t>
            </a:r>
            <a:endParaRPr/>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a:solidFill>
                <a:srgbClr val="000000"/>
              </a:solidFill>
              <a:latin typeface="Open Sans"/>
              <a:ea typeface="Open Sans"/>
              <a:cs typeface="Open Sans"/>
              <a:sym typeface="Open Sans"/>
            </a:endParaRPr>
          </a:p>
        </p:txBody>
      </p:sp>
      <p:pic>
        <p:nvPicPr>
          <p:cNvPr id="115" name="Google Shape;115;p6"/>
          <p:cNvPicPr preferRelativeResize="0"/>
          <p:nvPr/>
        </p:nvPicPr>
        <p:blipFill rotWithShape="1">
          <a:blip r:embed="rId4">
            <a:alphaModFix/>
          </a:blip>
          <a:srcRect/>
          <a:stretch/>
        </p:blipFill>
        <p:spPr>
          <a:xfrm>
            <a:off x="14723529" y="5878234"/>
            <a:ext cx="7128942" cy="1078142"/>
          </a:xfrm>
          <a:prstGeom prst="rect">
            <a:avLst/>
          </a:prstGeom>
          <a:noFill/>
          <a:ln>
            <a:noFill/>
          </a:ln>
        </p:spPr>
      </p:pic>
      <p:pic>
        <p:nvPicPr>
          <p:cNvPr id="116" name="Google Shape;116;p6"/>
          <p:cNvPicPr preferRelativeResize="0"/>
          <p:nvPr/>
        </p:nvPicPr>
        <p:blipFill rotWithShape="1">
          <a:blip r:embed="rId5">
            <a:alphaModFix/>
          </a:blip>
          <a:srcRect/>
          <a:stretch/>
        </p:blipFill>
        <p:spPr>
          <a:xfrm>
            <a:off x="12699260" y="9186853"/>
            <a:ext cx="11177480" cy="1100147"/>
          </a:xfrm>
          <a:prstGeom prst="rect">
            <a:avLst/>
          </a:prstGeom>
          <a:noFill/>
          <a:ln>
            <a:noFill/>
          </a:ln>
        </p:spPr>
      </p:pic>
    </p:spTree>
  </p:cSld>
  <p:clrMapOvr>
    <a:masterClrMapping/>
  </p:clrMapOvr>
  <p:transition spd="me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7"/>
          <p:cNvSpPr/>
          <p:nvPr/>
        </p:nvSpPr>
        <p:spPr>
          <a:xfrm>
            <a:off x="952498" y="459786"/>
            <a:ext cx="21597259"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Compound Assignment Operator</a:t>
            </a:r>
            <a:endParaRPr/>
          </a:p>
        </p:txBody>
      </p:sp>
      <p:cxnSp>
        <p:nvCxnSpPr>
          <p:cNvPr id="122" name="Google Shape;122;p7"/>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23" name="Google Shape;123;p7"/>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24" name="Google Shape;124;p7"/>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25" name="Google Shape;125;p7"/>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Abbreviating Operators</a:t>
            </a:r>
            <a:endParaRPr/>
          </a:p>
        </p:txBody>
      </p:sp>
      <p:sp>
        <p:nvSpPr>
          <p:cNvPr id="126" name="Google Shape;126;p7"/>
          <p:cNvSpPr/>
          <p:nvPr/>
        </p:nvSpPr>
        <p:spPr>
          <a:xfrm>
            <a:off x="952501" y="4285904"/>
            <a:ext cx="34782670" cy="1347958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The compound assignment operator</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     </a:t>
            </a:r>
            <a:r>
              <a:rPr lang="en-US" sz="6400" b="0" i="0" u="none" strike="noStrike" cap="none">
                <a:solidFill>
                  <a:srgbClr val="000000"/>
                </a:solidFill>
                <a:latin typeface="Roboto Mono"/>
                <a:ea typeface="Roboto Mono"/>
                <a:cs typeface="Roboto Mono"/>
                <a:sym typeface="Roboto Mono"/>
              </a:rPr>
              <a:t>x -= y </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is often said to be</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     </a:t>
            </a:r>
            <a:r>
              <a:rPr lang="en-US" sz="6400" b="0" i="0" u="none" strike="noStrike" cap="none">
                <a:solidFill>
                  <a:srgbClr val="000000"/>
                </a:solidFill>
                <a:latin typeface="Roboto Mono"/>
                <a:ea typeface="Roboto Mono"/>
                <a:cs typeface="Roboto Mono"/>
                <a:sym typeface="Roboto Mono"/>
              </a:rPr>
              <a:t>x = x – y</a:t>
            </a:r>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but that's not entirely true if y is not the same data type as x.</a:t>
            </a:r>
            <a:endParaRPr/>
          </a:p>
        </p:txBody>
      </p:sp>
    </p:spTree>
  </p:cSld>
  <p:clrMapOvr>
    <a:masterClrMapping/>
  </p:clrMapOvr>
  <p:transition spd="me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p:nvPr/>
        </p:nvSpPr>
        <p:spPr>
          <a:xfrm>
            <a:off x="952498" y="459786"/>
            <a:ext cx="21597259"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Compound Assignment Operator</a:t>
            </a:r>
            <a:endParaRPr/>
          </a:p>
        </p:txBody>
      </p:sp>
      <p:cxnSp>
        <p:nvCxnSpPr>
          <p:cNvPr id="132" name="Google Shape;132;p8"/>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33" name="Google Shape;133;p8"/>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34" name="Google Shape;134;p8"/>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35" name="Google Shape;135;p8"/>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Abbreviating Operators</a:t>
            </a:r>
            <a:endParaRPr/>
          </a:p>
        </p:txBody>
      </p:sp>
      <p:sp>
        <p:nvSpPr>
          <p:cNvPr id="136" name="Google Shape;136;p8"/>
          <p:cNvSpPr/>
          <p:nvPr/>
        </p:nvSpPr>
        <p:spPr>
          <a:xfrm>
            <a:off x="952501" y="4285904"/>
            <a:ext cx="34782670" cy="1347958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     </a:t>
            </a:r>
            <a:r>
              <a:rPr lang="en-US" sz="6400" b="0" i="0" u="none" strike="noStrike" cap="none" dirty="0">
                <a:solidFill>
                  <a:srgbClr val="000000"/>
                </a:solidFill>
                <a:latin typeface="Roboto Mono"/>
                <a:ea typeface="Roboto Mono"/>
                <a:cs typeface="Roboto Mono"/>
                <a:sym typeface="Roboto Mono"/>
              </a:rPr>
              <a:t>x -= y</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 is really</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     </a:t>
            </a:r>
            <a:r>
              <a:rPr lang="en-US" sz="6400" b="0" i="0" u="none" strike="noStrike" cap="none" dirty="0">
                <a:solidFill>
                  <a:srgbClr val="000000"/>
                </a:solidFill>
                <a:latin typeface="Roboto Mono"/>
                <a:ea typeface="Roboto Mono"/>
                <a:cs typeface="Roboto Mono"/>
                <a:sym typeface="Roboto Mono"/>
              </a:rPr>
              <a:t>x = (data type of x) (x - y)</a:t>
            </a:r>
            <a:endParaRPr dirty="0"/>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An implicit cast is done when using this operator, so no error occurs, but unexpected results may happen, as we have seen.</a:t>
            </a:r>
          </a:p>
          <a:p>
            <a:pPr marL="0" marR="0" lvl="0" indent="0" algn="l" rtl="0">
              <a:lnSpc>
                <a:spcPct val="100000"/>
              </a:lnSpc>
              <a:spcBef>
                <a:spcPts val="5022"/>
              </a:spcBef>
              <a:spcAft>
                <a:spcPts val="0"/>
              </a:spcAft>
              <a:buClr>
                <a:srgbClr val="000000"/>
              </a:buClr>
              <a:buSzPts val="6400"/>
              <a:buFont typeface="Open Sans"/>
              <a:buNone/>
            </a:pPr>
            <a:endParaRPr dirty="0"/>
          </a:p>
        </p:txBody>
      </p:sp>
    </p:spTree>
  </p:cSld>
  <p:clrMapOvr>
    <a:masterClrMapping/>
  </p:clrMapOvr>
  <p:transition spd="me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cxnSp>
        <p:nvCxnSpPr>
          <p:cNvPr id="141" name="Google Shape;141;p9"/>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42" name="Google Shape;142;p9"/>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43" name="Google Shape;143;p9"/>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44" name="Google Shape;144;p9"/>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Abbreviating Operators</a:t>
            </a:r>
            <a:endParaRPr/>
          </a:p>
        </p:txBody>
      </p:sp>
      <p:sp>
        <p:nvSpPr>
          <p:cNvPr id="145" name="Google Shape;145;p9"/>
          <p:cNvSpPr/>
          <p:nvPr/>
        </p:nvSpPr>
        <p:spPr>
          <a:xfrm>
            <a:off x="952501" y="4285904"/>
            <a:ext cx="34782670" cy="11880176"/>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So, summarizing, for our own sample of code:</a:t>
            </a:r>
            <a:endParaRPr/>
          </a:p>
          <a:p>
            <a:pPr marL="0" marR="0" lvl="0" indent="0" algn="l" rtl="0">
              <a:lnSpc>
                <a:spcPct val="100000"/>
              </a:lnSpc>
              <a:spcBef>
                <a:spcPts val="5022"/>
              </a:spcBef>
              <a:spcAft>
                <a:spcPts val="0"/>
              </a:spcAft>
              <a:buClr>
                <a:srgbClr val="000000"/>
              </a:buClr>
              <a:buSzPts val="6400"/>
              <a:buFont typeface="Helvetica Neue Light"/>
              <a:buNone/>
            </a:pPr>
            <a:endParaRPr sz="6400" b="0" i="0" u="none" strike="noStrike" cap="none">
              <a:solidFill>
                <a:srgbClr val="000000"/>
              </a:solidFill>
              <a:latin typeface="Open Sans"/>
              <a:ea typeface="Open Sans"/>
              <a:cs typeface="Open Sans"/>
              <a:sym typeface="Open Sans"/>
            </a:endParaRPr>
          </a:p>
          <a:p>
            <a:pPr marL="0" marR="0" lvl="0" indent="0" algn="l" rtl="0">
              <a:lnSpc>
                <a:spcPct val="100000"/>
              </a:lnSpc>
              <a:spcBef>
                <a:spcPts val="5022"/>
              </a:spcBef>
              <a:spcAft>
                <a:spcPts val="0"/>
              </a:spcAft>
              <a:buClr>
                <a:srgbClr val="000000"/>
              </a:buClr>
              <a:buSzPts val="6400"/>
              <a:buFont typeface="Open Sans"/>
              <a:buNone/>
            </a:pPr>
            <a:r>
              <a:rPr lang="en-US" sz="6400" b="0" i="0" u="none" strike="noStrike" cap="none">
                <a:solidFill>
                  <a:srgbClr val="000000"/>
                </a:solidFill>
                <a:latin typeface="Open Sans"/>
                <a:ea typeface="Open Sans"/>
                <a:cs typeface="Open Sans"/>
                <a:sym typeface="Open Sans"/>
              </a:rPr>
              <a:t>is really</a:t>
            </a:r>
            <a:endParaRPr/>
          </a:p>
        </p:txBody>
      </p:sp>
      <p:pic>
        <p:nvPicPr>
          <p:cNvPr id="146" name="Google Shape;146;p9"/>
          <p:cNvPicPr preferRelativeResize="0"/>
          <p:nvPr/>
        </p:nvPicPr>
        <p:blipFill rotWithShape="1">
          <a:blip r:embed="rId4">
            <a:alphaModFix/>
          </a:blip>
          <a:srcRect/>
          <a:stretch/>
        </p:blipFill>
        <p:spPr>
          <a:xfrm>
            <a:off x="14745532" y="5899279"/>
            <a:ext cx="7084936" cy="1056141"/>
          </a:xfrm>
          <a:prstGeom prst="rect">
            <a:avLst/>
          </a:prstGeom>
          <a:noFill/>
          <a:ln>
            <a:noFill/>
          </a:ln>
        </p:spPr>
      </p:pic>
      <p:pic>
        <p:nvPicPr>
          <p:cNvPr id="147" name="Google Shape;147;p9"/>
          <p:cNvPicPr preferRelativeResize="0"/>
          <p:nvPr/>
        </p:nvPicPr>
        <p:blipFill rotWithShape="1">
          <a:blip r:embed="rId5">
            <a:alphaModFix/>
          </a:blip>
          <a:srcRect/>
          <a:stretch/>
        </p:blipFill>
        <p:spPr>
          <a:xfrm>
            <a:off x="10674993" y="8999852"/>
            <a:ext cx="15226014" cy="1100147"/>
          </a:xfrm>
          <a:prstGeom prst="rect">
            <a:avLst/>
          </a:prstGeom>
          <a:noFill/>
          <a:ln>
            <a:noFill/>
          </a:ln>
        </p:spPr>
      </p:pic>
      <p:sp>
        <p:nvSpPr>
          <p:cNvPr id="148" name="Google Shape;148;p9"/>
          <p:cNvSpPr/>
          <p:nvPr/>
        </p:nvSpPr>
        <p:spPr>
          <a:xfrm>
            <a:off x="952498" y="459786"/>
            <a:ext cx="21597259"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Compound Assignment Operator</a:t>
            </a:r>
            <a:endParaRPr/>
          </a:p>
        </p:txBody>
      </p:sp>
    </p:spTree>
  </p:cSld>
  <p:clrMapOvr>
    <a:masterClrMapping/>
  </p:clrMapOvr>
  <p:transition spd="me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cxnSp>
        <p:nvCxnSpPr>
          <p:cNvPr id="153" name="Google Shape;153;p10"/>
          <p:cNvCxnSpPr/>
          <p:nvPr/>
        </p:nvCxnSpPr>
        <p:spPr>
          <a:xfrm>
            <a:off x="952500" y="18210515"/>
            <a:ext cx="34782668" cy="2"/>
          </a:xfrm>
          <a:prstGeom prst="straightConnector1">
            <a:avLst/>
          </a:prstGeom>
          <a:noFill/>
          <a:ln w="76200" cap="flat" cmpd="sng">
            <a:solidFill>
              <a:srgbClr val="50A7F9"/>
            </a:solidFill>
            <a:prstDash val="solid"/>
            <a:miter lim="400000"/>
            <a:headEnd type="none" w="sm" len="sm"/>
            <a:tailEnd type="none" w="sm" len="sm"/>
          </a:ln>
        </p:spPr>
      </p:cxnSp>
      <p:pic>
        <p:nvPicPr>
          <p:cNvPr id="154" name="Google Shape;154;p10"/>
          <p:cNvPicPr preferRelativeResize="0"/>
          <p:nvPr/>
        </p:nvPicPr>
        <p:blipFill rotWithShape="1">
          <a:blip r:embed="rId3">
            <a:alphaModFix/>
          </a:blip>
          <a:srcRect/>
          <a:stretch/>
        </p:blipFill>
        <p:spPr>
          <a:xfrm>
            <a:off x="14650974" y="18489726"/>
            <a:ext cx="6321552" cy="1392336"/>
          </a:xfrm>
          <a:prstGeom prst="rect">
            <a:avLst/>
          </a:prstGeom>
          <a:noFill/>
          <a:ln>
            <a:noFill/>
          </a:ln>
        </p:spPr>
      </p:pic>
      <p:cxnSp>
        <p:nvCxnSpPr>
          <p:cNvPr id="155" name="Google Shape;155;p10"/>
          <p:cNvCxnSpPr/>
          <p:nvPr/>
        </p:nvCxnSpPr>
        <p:spPr>
          <a:xfrm rot="10800000" flipH="1">
            <a:off x="952499" y="2203340"/>
            <a:ext cx="34782670" cy="38132"/>
          </a:xfrm>
          <a:prstGeom prst="straightConnector1">
            <a:avLst/>
          </a:prstGeom>
          <a:noFill/>
          <a:ln w="152400" cap="flat" cmpd="sng">
            <a:solidFill>
              <a:srgbClr val="50A7F9"/>
            </a:solidFill>
            <a:prstDash val="solid"/>
            <a:miter lim="400000"/>
            <a:headEnd type="none" w="sm" len="sm"/>
            <a:tailEnd type="none" w="sm" len="sm"/>
          </a:ln>
        </p:spPr>
      </p:cxnSp>
      <p:sp>
        <p:nvSpPr>
          <p:cNvPr id="156" name="Google Shape;156;p10"/>
          <p:cNvSpPr/>
          <p:nvPr/>
        </p:nvSpPr>
        <p:spPr>
          <a:xfrm>
            <a:off x="952500" y="18489726"/>
            <a:ext cx="16008688" cy="1308050"/>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3000"/>
              <a:buFont typeface="Open Sans"/>
              <a:buNone/>
            </a:pPr>
            <a:r>
              <a:rPr lang="en-US" sz="3000" b="0" i="0" u="none" strike="noStrike" cap="none">
                <a:solidFill>
                  <a:srgbClr val="000000"/>
                </a:solidFill>
                <a:latin typeface="Open Sans"/>
                <a:ea typeface="Open Sans"/>
                <a:cs typeface="Open Sans"/>
                <a:sym typeface="Open Sans"/>
              </a:rPr>
              <a:t>COMPLETE JAVA MASTERCLASS</a:t>
            </a:r>
            <a:endParaRPr/>
          </a:p>
          <a:p>
            <a:pPr marL="0" marR="0" lvl="0" indent="0" algn="l" rtl="0">
              <a:lnSpc>
                <a:spcPct val="100000"/>
              </a:lnSpc>
              <a:spcBef>
                <a:spcPts val="0"/>
              </a:spcBef>
              <a:spcAft>
                <a:spcPts val="0"/>
              </a:spcAft>
              <a:buClr>
                <a:srgbClr val="000000"/>
              </a:buClr>
              <a:buSzPts val="4500"/>
              <a:buFont typeface="Open Sans"/>
              <a:buNone/>
            </a:pPr>
            <a:r>
              <a:rPr lang="en-US" sz="4500" b="0" i="0" u="none" strike="noStrike" cap="none">
                <a:solidFill>
                  <a:srgbClr val="000000"/>
                </a:solidFill>
                <a:latin typeface="Open Sans"/>
                <a:ea typeface="Open Sans"/>
                <a:cs typeface="Open Sans"/>
                <a:sym typeface="Open Sans"/>
              </a:rPr>
              <a:t>Abbreviating Operators</a:t>
            </a:r>
            <a:endParaRPr/>
          </a:p>
        </p:txBody>
      </p:sp>
      <p:sp>
        <p:nvSpPr>
          <p:cNvPr id="157" name="Google Shape;157;p10"/>
          <p:cNvSpPr/>
          <p:nvPr/>
        </p:nvSpPr>
        <p:spPr>
          <a:xfrm>
            <a:off x="952501" y="3340359"/>
            <a:ext cx="34782670" cy="1228681"/>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6400"/>
              <a:buFont typeface="Open Sans"/>
              <a:buNone/>
            </a:pPr>
            <a:r>
              <a:rPr lang="en-US" sz="6400" b="0" i="0" u="none" strike="noStrike" cap="none" dirty="0">
                <a:solidFill>
                  <a:srgbClr val="000000"/>
                </a:solidFill>
                <a:latin typeface="Open Sans"/>
                <a:ea typeface="Open Sans"/>
                <a:cs typeface="Open Sans"/>
                <a:sym typeface="Open Sans"/>
              </a:rPr>
              <a:t>The abbreviating operators we've discussed so far are:</a:t>
            </a:r>
            <a:endParaRPr dirty="0"/>
          </a:p>
        </p:txBody>
      </p:sp>
      <p:sp>
        <p:nvSpPr>
          <p:cNvPr id="158" name="Google Shape;158;p10"/>
          <p:cNvSpPr/>
          <p:nvPr/>
        </p:nvSpPr>
        <p:spPr>
          <a:xfrm>
            <a:off x="952498" y="459786"/>
            <a:ext cx="17690740" cy="1815882"/>
          </a:xfrm>
          <a:prstGeom prst="rect">
            <a:avLst/>
          </a:prstGeom>
          <a:noFill/>
          <a:ln>
            <a:noFill/>
          </a:ln>
        </p:spPr>
        <p:txBody>
          <a:bodyPr spcFirstLastPara="1" wrap="square" lIns="76200" tIns="76200" rIns="76200" bIns="76200" anchor="t" anchorCtr="0">
            <a:spAutoFit/>
          </a:bodyPr>
          <a:lstStyle/>
          <a:p>
            <a:pPr marL="0" marR="0" lvl="0" indent="0" algn="l" rtl="0">
              <a:lnSpc>
                <a:spcPct val="100000"/>
              </a:lnSpc>
              <a:spcBef>
                <a:spcPts val="0"/>
              </a:spcBef>
              <a:spcAft>
                <a:spcPts val="0"/>
              </a:spcAft>
              <a:buClr>
                <a:srgbClr val="000000"/>
              </a:buClr>
              <a:buSzPts val="10800"/>
              <a:buFont typeface="Open Sans"/>
              <a:buNone/>
            </a:pPr>
            <a:r>
              <a:rPr lang="en-US" sz="10800" b="0" i="0" u="none" strike="noStrike" cap="none">
                <a:solidFill>
                  <a:srgbClr val="000000"/>
                </a:solidFill>
                <a:latin typeface="Open Sans"/>
                <a:ea typeface="Open Sans"/>
                <a:cs typeface="Open Sans"/>
                <a:sym typeface="Open Sans"/>
              </a:rPr>
              <a:t>The abbreviating operators</a:t>
            </a:r>
            <a:endParaRPr/>
          </a:p>
        </p:txBody>
      </p:sp>
      <p:graphicFrame>
        <p:nvGraphicFramePr>
          <p:cNvPr id="9" name="Table 6">
            <a:extLst>
              <a:ext uri="{FF2B5EF4-FFF2-40B4-BE49-F238E27FC236}">
                <a16:creationId xmlns:a16="http://schemas.microsoft.com/office/drawing/2014/main" id="{73BF5CFD-ED7B-2790-C919-CD5D6C2A81B8}"/>
              </a:ext>
            </a:extLst>
          </p:cNvPr>
          <p:cNvGraphicFramePr>
            <a:graphicFrameLocks noGrp="1"/>
          </p:cNvGraphicFramePr>
          <p:nvPr/>
        </p:nvGraphicFramePr>
        <p:xfrm>
          <a:off x="5981762" y="4695712"/>
          <a:ext cx="24612477" cy="11373970"/>
        </p:xfrm>
        <a:graphic>
          <a:graphicData uri="http://schemas.openxmlformats.org/drawingml/2006/table">
            <a:tbl>
              <a:tblPr firstRow="1" bandRow="1">
                <a:tableStyleId>{5C22544A-7EE6-4342-B048-85BDC9FD1C3A}</a:tableStyleId>
              </a:tblPr>
              <a:tblGrid>
                <a:gridCol w="16830748">
                  <a:extLst>
                    <a:ext uri="{9D8B030D-6E8A-4147-A177-3AD203B41FA5}">
                      <a16:colId xmlns:a16="http://schemas.microsoft.com/office/drawing/2014/main" val="2398957492"/>
                    </a:ext>
                  </a:extLst>
                </a:gridCol>
                <a:gridCol w="7781729">
                  <a:extLst>
                    <a:ext uri="{9D8B030D-6E8A-4147-A177-3AD203B41FA5}">
                      <a16:colId xmlns:a16="http://schemas.microsoft.com/office/drawing/2014/main" val="1725977642"/>
                    </a:ext>
                  </a:extLst>
                </a:gridCol>
              </a:tblGrid>
              <a:tr h="1628092">
                <a:tc>
                  <a:txBody>
                    <a:bodyPr/>
                    <a:lstStyle/>
                    <a:p>
                      <a:pPr algn="ctr"/>
                      <a:r>
                        <a:rPr lang="en-US" sz="6000" dirty="0">
                          <a:solidFill>
                            <a:schemeClr val="tx1"/>
                          </a:solidFill>
                          <a:latin typeface="Open Sans" panose="020B0606030504020204" pitchFamily="34" charset="0"/>
                          <a:ea typeface="Open Sans" panose="020B0606030504020204" pitchFamily="34" charset="0"/>
                          <a:cs typeface="Open Sans" panose="020B0606030504020204" pitchFamily="34" charset="0"/>
                        </a:rPr>
                        <a:t>Shorthand Operator</a:t>
                      </a:r>
                      <a:endParaRPr lang="en-PH" sz="60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tc>
                  <a:txBody>
                    <a:bodyPr/>
                    <a:lstStyle/>
                    <a:p>
                      <a:pPr algn="ctr"/>
                      <a:r>
                        <a:rPr lang="en-US" sz="6000" dirty="0">
                          <a:solidFill>
                            <a:schemeClr val="tx1"/>
                          </a:solidFill>
                          <a:latin typeface="Open Sans" panose="020B0606030504020204" pitchFamily="34" charset="0"/>
                          <a:ea typeface="Open Sans" panose="020B0606030504020204" pitchFamily="34" charset="0"/>
                          <a:cs typeface="Open Sans" panose="020B0606030504020204" pitchFamily="34" charset="0"/>
                        </a:rPr>
                        <a:t>Code Sample</a:t>
                      </a:r>
                      <a:endParaRPr lang="en-PH" sz="60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BE4D5"/>
                    </a:solidFill>
                  </a:tcPr>
                </a:tc>
                <a:extLst>
                  <a:ext uri="{0D108BD9-81ED-4DB2-BD59-A6C34878D82A}">
                    <a16:rowId xmlns:a16="http://schemas.microsoft.com/office/drawing/2014/main" val="2642865938"/>
                  </a:ext>
                </a:extLst>
              </a:tr>
              <a:tr h="1624313">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Post-fix Increment Operator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result++;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7302300"/>
                  </a:ext>
                </a:extLst>
              </a:tr>
              <a:tr h="1624313">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Post-fix Decrement Operator</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result--;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6031747"/>
                  </a:ext>
                </a:extLst>
              </a:tr>
              <a:tr h="1624313">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Addition Compound Assignment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result += 5;</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3642535"/>
                  </a:ext>
                </a:extLst>
              </a:tr>
              <a:tr h="1624313">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Subtraction Compound Assignment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result -= 5;</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9973082"/>
                  </a:ext>
                </a:extLst>
              </a:tr>
              <a:tr h="1624313">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Multiplication Compound Assignment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result *= 5;</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17369"/>
                  </a:ext>
                </a:extLst>
              </a:tr>
              <a:tr h="1624313">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Division Compound Assignment</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60000" marR="0" lvl="0" indent="0" algn="l" defTabSz="914400" rtl="0" eaLnBrk="1" fontAlgn="auto" latinLnBrk="0" hangingPunct="1">
                        <a:lnSpc>
                          <a:spcPct val="100000"/>
                        </a:lnSpc>
                        <a:spcBef>
                          <a:spcPts val="0"/>
                        </a:spcBef>
                        <a:spcAft>
                          <a:spcPts val="1000"/>
                        </a:spcAft>
                        <a:buClr>
                          <a:srgbClr val="000000"/>
                        </a:buClr>
                        <a:buSzTx/>
                        <a:buFont typeface="Arial" panose="020B0604020202020204" pitchFamily="34" charset="0"/>
                        <a:buNone/>
                        <a:tabLst/>
                        <a:defRPr/>
                      </a:pPr>
                      <a:r>
                        <a:rPr lang="en-US" sz="6000" b="0" dirty="0">
                          <a:solidFill>
                            <a:schemeClr val="tx1"/>
                          </a:solidFill>
                          <a:latin typeface="Open Sans" panose="020B0606030504020204" pitchFamily="34" charset="0"/>
                          <a:ea typeface="Open Sans" panose="020B0606030504020204" pitchFamily="34" charset="0"/>
                          <a:cs typeface="Open Sans" panose="020B0606030504020204" pitchFamily="34" charset="0"/>
                        </a:rPr>
                        <a:t>result /= 5;</a:t>
                      </a:r>
                    </a:p>
                  </a:txBody>
                  <a:tcPr marL="86794" marR="86794" marT="43397" marB="43397"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6882593"/>
                  </a:ext>
                </a:extLst>
              </a:tr>
            </a:tbl>
          </a:graphicData>
        </a:graphic>
      </p:graphicFrame>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930</TotalTime>
  <Words>9659</Words>
  <Application>Microsoft Office PowerPoint</Application>
  <PresentationFormat>Custom</PresentationFormat>
  <Paragraphs>1135</Paragraphs>
  <Slides>124</Slides>
  <Notes>124</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124</vt:i4>
      </vt:variant>
    </vt:vector>
  </HeadingPairs>
  <TitlesOfParts>
    <vt:vector size="132" baseType="lpstr">
      <vt:lpstr>Arial</vt:lpstr>
      <vt:lpstr>Helvetica</vt:lpstr>
      <vt:lpstr>Helvetica Light</vt:lpstr>
      <vt:lpstr>Helvetica Neue</vt:lpstr>
      <vt:lpstr>Helvetica Neue Light</vt:lpstr>
      <vt:lpstr>Open Sans</vt:lpstr>
      <vt:lpstr>Roboto Mono</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Gigabyte</dc:creator>
  <cp:lastModifiedBy>Vargas, Antonio</cp:lastModifiedBy>
  <cp:revision>190</cp:revision>
  <dcterms:modified xsi:type="dcterms:W3CDTF">2024-12-26T01:56:26Z</dcterms:modified>
</cp:coreProperties>
</file>