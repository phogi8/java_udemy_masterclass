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2"/>
  </p:notesMasterIdLst>
  <p:sldIdLst>
    <p:sldId id="585" r:id="rId2"/>
    <p:sldId id="586" r:id="rId3"/>
    <p:sldId id="587" r:id="rId4"/>
    <p:sldId id="588" r:id="rId5"/>
    <p:sldId id="589" r:id="rId6"/>
    <p:sldId id="590" r:id="rId7"/>
    <p:sldId id="591" r:id="rId8"/>
    <p:sldId id="592" r:id="rId9"/>
    <p:sldId id="593" r:id="rId10"/>
    <p:sldId id="594" r:id="rId11"/>
    <p:sldId id="595" r:id="rId12"/>
    <p:sldId id="596" r:id="rId13"/>
    <p:sldId id="597" r:id="rId14"/>
    <p:sldId id="598" r:id="rId15"/>
    <p:sldId id="599" r:id="rId16"/>
    <p:sldId id="600" r:id="rId17"/>
    <p:sldId id="601" r:id="rId18"/>
    <p:sldId id="602" r:id="rId19"/>
    <p:sldId id="603" r:id="rId20"/>
    <p:sldId id="604" r:id="rId21"/>
    <p:sldId id="605" r:id="rId22"/>
    <p:sldId id="606" r:id="rId23"/>
    <p:sldId id="607" r:id="rId24"/>
    <p:sldId id="608" r:id="rId25"/>
    <p:sldId id="609" r:id="rId26"/>
    <p:sldId id="610" r:id="rId27"/>
    <p:sldId id="611" r:id="rId28"/>
    <p:sldId id="612" r:id="rId29"/>
    <p:sldId id="613" r:id="rId30"/>
    <p:sldId id="614" r:id="rId31"/>
    <p:sldId id="615" r:id="rId32"/>
    <p:sldId id="616" r:id="rId33"/>
    <p:sldId id="617" r:id="rId34"/>
    <p:sldId id="618" r:id="rId35"/>
    <p:sldId id="619" r:id="rId36"/>
    <p:sldId id="620" r:id="rId37"/>
    <p:sldId id="621" r:id="rId38"/>
    <p:sldId id="622" r:id="rId39"/>
    <p:sldId id="623" r:id="rId40"/>
    <p:sldId id="624" r:id="rId41"/>
    <p:sldId id="625" r:id="rId42"/>
    <p:sldId id="626" r:id="rId43"/>
    <p:sldId id="627" r:id="rId44"/>
    <p:sldId id="628" r:id="rId45"/>
    <p:sldId id="629" r:id="rId46"/>
    <p:sldId id="630" r:id="rId47"/>
    <p:sldId id="631" r:id="rId48"/>
    <p:sldId id="632" r:id="rId49"/>
    <p:sldId id="633" r:id="rId50"/>
    <p:sldId id="634" r:id="rId51"/>
    <p:sldId id="635" r:id="rId52"/>
    <p:sldId id="636" r:id="rId53"/>
    <p:sldId id="637" r:id="rId54"/>
    <p:sldId id="638" r:id="rId55"/>
    <p:sldId id="639" r:id="rId56"/>
    <p:sldId id="640" r:id="rId57"/>
    <p:sldId id="641" r:id="rId58"/>
    <p:sldId id="642" r:id="rId59"/>
    <p:sldId id="643" r:id="rId60"/>
    <p:sldId id="644" r:id="rId61"/>
    <p:sldId id="645" r:id="rId62"/>
    <p:sldId id="646" r:id="rId63"/>
    <p:sldId id="647" r:id="rId64"/>
    <p:sldId id="648" r:id="rId65"/>
    <p:sldId id="649" r:id="rId66"/>
    <p:sldId id="650" r:id="rId67"/>
    <p:sldId id="651" r:id="rId68"/>
    <p:sldId id="652" r:id="rId69"/>
    <p:sldId id="653" r:id="rId70"/>
    <p:sldId id="654" r:id="rId71"/>
    <p:sldId id="655" r:id="rId72"/>
    <p:sldId id="656" r:id="rId73"/>
    <p:sldId id="657" r:id="rId74"/>
    <p:sldId id="658" r:id="rId75"/>
    <p:sldId id="659" r:id="rId76"/>
    <p:sldId id="660" r:id="rId77"/>
    <p:sldId id="661" r:id="rId78"/>
    <p:sldId id="662" r:id="rId79"/>
    <p:sldId id="663" r:id="rId80"/>
    <p:sldId id="664" r:id="rId81"/>
    <p:sldId id="665" r:id="rId82"/>
    <p:sldId id="666" r:id="rId83"/>
    <p:sldId id="667" r:id="rId84"/>
    <p:sldId id="668" r:id="rId85"/>
    <p:sldId id="669" r:id="rId86"/>
    <p:sldId id="670" r:id="rId87"/>
    <p:sldId id="671" r:id="rId88"/>
    <p:sldId id="672" r:id="rId89"/>
    <p:sldId id="673" r:id="rId90"/>
    <p:sldId id="674" r:id="rId91"/>
    <p:sldId id="675" r:id="rId92"/>
    <p:sldId id="676" r:id="rId93"/>
    <p:sldId id="677" r:id="rId94"/>
    <p:sldId id="678" r:id="rId95"/>
    <p:sldId id="679" r:id="rId96"/>
    <p:sldId id="680" r:id="rId97"/>
    <p:sldId id="681" r:id="rId98"/>
    <p:sldId id="682" r:id="rId99"/>
    <p:sldId id="683" r:id="rId100"/>
    <p:sldId id="684" r:id="rId101"/>
    <p:sldId id="685" r:id="rId102"/>
    <p:sldId id="686" r:id="rId103"/>
    <p:sldId id="687" r:id="rId104"/>
    <p:sldId id="688" r:id="rId105"/>
    <p:sldId id="689" r:id="rId106"/>
    <p:sldId id="690" r:id="rId107"/>
    <p:sldId id="691" r:id="rId108"/>
    <p:sldId id="692" r:id="rId109"/>
    <p:sldId id="693" r:id="rId110"/>
    <p:sldId id="694" r:id="rId111"/>
    <p:sldId id="695" r:id="rId112"/>
    <p:sldId id="696" r:id="rId113"/>
    <p:sldId id="697" r:id="rId114"/>
    <p:sldId id="698" r:id="rId115"/>
    <p:sldId id="699" r:id="rId116"/>
    <p:sldId id="700" r:id="rId117"/>
    <p:sldId id="701" r:id="rId118"/>
    <p:sldId id="702" r:id="rId119"/>
    <p:sldId id="703" r:id="rId120"/>
    <p:sldId id="704" r:id="rId121"/>
    <p:sldId id="705" r:id="rId122"/>
    <p:sldId id="706" r:id="rId123"/>
    <p:sldId id="707" r:id="rId124"/>
    <p:sldId id="708" r:id="rId125"/>
    <p:sldId id="709" r:id="rId126"/>
    <p:sldId id="710" r:id="rId127"/>
    <p:sldId id="711" r:id="rId128"/>
    <p:sldId id="712" r:id="rId129"/>
    <p:sldId id="713" r:id="rId130"/>
    <p:sldId id="714" r:id="rId131"/>
    <p:sldId id="715" r:id="rId132"/>
    <p:sldId id="716" r:id="rId133"/>
    <p:sldId id="717" r:id="rId134"/>
    <p:sldId id="718" r:id="rId135"/>
    <p:sldId id="719" r:id="rId136"/>
    <p:sldId id="720" r:id="rId137"/>
    <p:sldId id="721" r:id="rId138"/>
    <p:sldId id="722" r:id="rId139"/>
    <p:sldId id="723" r:id="rId140"/>
    <p:sldId id="724" r:id="rId141"/>
    <p:sldId id="725" r:id="rId142"/>
    <p:sldId id="726" r:id="rId143"/>
    <p:sldId id="727" r:id="rId144"/>
    <p:sldId id="728" r:id="rId145"/>
    <p:sldId id="729" r:id="rId146"/>
    <p:sldId id="730" r:id="rId147"/>
    <p:sldId id="731" r:id="rId148"/>
    <p:sldId id="732" r:id="rId149"/>
    <p:sldId id="733" r:id="rId150"/>
    <p:sldId id="734" r:id="rId151"/>
    <p:sldId id="735" r:id="rId152"/>
    <p:sldId id="736" r:id="rId153"/>
    <p:sldId id="737" r:id="rId154"/>
    <p:sldId id="738" r:id="rId155"/>
    <p:sldId id="739" r:id="rId156"/>
    <p:sldId id="740" r:id="rId157"/>
    <p:sldId id="741" r:id="rId158"/>
    <p:sldId id="742" r:id="rId159"/>
    <p:sldId id="743" r:id="rId160"/>
    <p:sldId id="744" r:id="rId161"/>
  </p:sldIdLst>
  <p:sldSz cx="36576000" cy="20574000"/>
  <p:notesSz cx="6858000" cy="9144000"/>
  <p:defaultTextStyle>
    <a:defPPr marL="0" marR="0" indent="0" algn="l" defTabSz="1369222" rtl="0" fontAlgn="auto" latinLnBrk="1" hangingPunct="0">
      <a:lnSpc>
        <a:spcPct val="100000"/>
      </a:lnSpc>
      <a:spcBef>
        <a:spcPts val="0"/>
      </a:spcBef>
      <a:spcAft>
        <a:spcPts val="0"/>
      </a:spcAft>
      <a:buClrTx/>
      <a:buSzTx/>
      <a:buFontTx/>
      <a:buNone/>
      <a:tabLst/>
      <a:defRPr kumimoji="0" sz="2696" b="0" i="0" u="none" strike="noStrike" cap="none" spc="0" normalizeH="0" baseline="0">
        <a:ln>
          <a:noFill/>
        </a:ln>
        <a:solidFill>
          <a:srgbClr val="000000"/>
        </a:solidFill>
        <a:effectLst/>
        <a:uFillTx/>
      </a:defRPr>
    </a:defPPr>
    <a:lvl1pPr marL="0" marR="0" indent="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1pPr>
    <a:lvl2pPr marL="0" marR="0" indent="34230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2pPr>
    <a:lvl3pPr marL="0" marR="0" indent="68461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3pPr>
    <a:lvl4pPr marL="0" marR="0" indent="102691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4pPr>
    <a:lvl5pPr marL="0" marR="0" indent="136922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5pPr>
    <a:lvl6pPr marL="0" marR="0" indent="1711528"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6pPr>
    <a:lvl7pPr marL="0" marR="0" indent="2053834"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7pPr>
    <a:lvl8pPr marL="0" marR="0" indent="239614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8pPr>
    <a:lvl9pPr marL="0" marR="0" indent="273844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A8F9"/>
    <a:srgbClr val="FFFFFF"/>
    <a:srgbClr val="C1E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32" autoAdjust="0"/>
    <p:restoredTop sz="94660"/>
  </p:normalViewPr>
  <p:slideViewPr>
    <p:cSldViewPr snapToGrid="0">
      <p:cViewPr varScale="1">
        <p:scale>
          <a:sx n="26" d="100"/>
          <a:sy n="26" d="100"/>
        </p:scale>
        <p:origin x="36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8303747"/>
      </p:ext>
    </p:extLst>
  </p:cSld>
  <p:clrMap bg1="lt1" tx1="dk1" bg2="lt2" tx2="dk2" accent1="accent1" accent2="accent2" accent3="accent3" accent4="accent4" accent5="accent5" accent6="accent6" hlink="hlink" folHlink="folHlink"/>
  <p:notesStyle>
    <a:lvl1pPr defTabSz="684612" latinLnBrk="0">
      <a:lnSpc>
        <a:spcPct val="117999"/>
      </a:lnSpc>
      <a:defRPr sz="3294">
        <a:latin typeface="Helvetica Neue"/>
        <a:ea typeface="Helvetica Neue"/>
        <a:cs typeface="Helvetica Neue"/>
        <a:sym typeface="Helvetica Neue"/>
      </a:defRPr>
    </a:lvl1pPr>
    <a:lvl2pPr indent="342306" defTabSz="684612" latinLnBrk="0">
      <a:lnSpc>
        <a:spcPct val="117999"/>
      </a:lnSpc>
      <a:defRPr sz="3294">
        <a:latin typeface="Helvetica Neue"/>
        <a:ea typeface="Helvetica Neue"/>
        <a:cs typeface="Helvetica Neue"/>
        <a:sym typeface="Helvetica Neue"/>
      </a:defRPr>
    </a:lvl2pPr>
    <a:lvl3pPr indent="684612" defTabSz="684612" latinLnBrk="0">
      <a:lnSpc>
        <a:spcPct val="117999"/>
      </a:lnSpc>
      <a:defRPr sz="3294">
        <a:latin typeface="Helvetica Neue"/>
        <a:ea typeface="Helvetica Neue"/>
        <a:cs typeface="Helvetica Neue"/>
        <a:sym typeface="Helvetica Neue"/>
      </a:defRPr>
    </a:lvl3pPr>
    <a:lvl4pPr indent="1026916" defTabSz="684612" latinLnBrk="0">
      <a:lnSpc>
        <a:spcPct val="117999"/>
      </a:lnSpc>
      <a:defRPr sz="3294">
        <a:latin typeface="Helvetica Neue"/>
        <a:ea typeface="Helvetica Neue"/>
        <a:cs typeface="Helvetica Neue"/>
        <a:sym typeface="Helvetica Neue"/>
      </a:defRPr>
    </a:lvl4pPr>
    <a:lvl5pPr indent="1369222" defTabSz="684612" latinLnBrk="0">
      <a:lnSpc>
        <a:spcPct val="117999"/>
      </a:lnSpc>
      <a:defRPr sz="3294">
        <a:latin typeface="Helvetica Neue"/>
        <a:ea typeface="Helvetica Neue"/>
        <a:cs typeface="Helvetica Neue"/>
        <a:sym typeface="Helvetica Neue"/>
      </a:defRPr>
    </a:lvl5pPr>
    <a:lvl6pPr indent="1711528" defTabSz="684612" latinLnBrk="0">
      <a:lnSpc>
        <a:spcPct val="117999"/>
      </a:lnSpc>
      <a:defRPr sz="3294">
        <a:latin typeface="Helvetica Neue"/>
        <a:ea typeface="Helvetica Neue"/>
        <a:cs typeface="Helvetica Neue"/>
        <a:sym typeface="Helvetica Neue"/>
      </a:defRPr>
    </a:lvl6pPr>
    <a:lvl7pPr indent="2053834" defTabSz="684612" latinLnBrk="0">
      <a:lnSpc>
        <a:spcPct val="117999"/>
      </a:lnSpc>
      <a:defRPr sz="3294">
        <a:latin typeface="Helvetica Neue"/>
        <a:ea typeface="Helvetica Neue"/>
        <a:cs typeface="Helvetica Neue"/>
        <a:sym typeface="Helvetica Neue"/>
      </a:defRPr>
    </a:lvl7pPr>
    <a:lvl8pPr indent="2396140" defTabSz="684612" latinLnBrk="0">
      <a:lnSpc>
        <a:spcPct val="117999"/>
      </a:lnSpc>
      <a:defRPr sz="3294">
        <a:latin typeface="Helvetica Neue"/>
        <a:ea typeface="Helvetica Neue"/>
        <a:cs typeface="Helvetica Neue"/>
        <a:sym typeface="Helvetica Neue"/>
      </a:defRPr>
    </a:lvl8pPr>
    <a:lvl9pPr indent="2738446" defTabSz="684612" latinLnBrk="0">
      <a:lnSpc>
        <a:spcPct val="117999"/>
      </a:lnSpc>
      <a:defRPr sz="3294">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90541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57634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78176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35621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76644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54882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72435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8726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062530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1661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14689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94879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959833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10000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721181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261627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59267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239825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698640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738948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400649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398311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196046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294145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070668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761803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184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435730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72528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405666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587239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264310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395088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198166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097731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626884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837085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518737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028316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316246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561546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89209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314525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612513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52071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803553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766604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124028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347565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771343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495566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377152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7071082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705814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676374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40349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561652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4929326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0067503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5576384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530597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826224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667268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0277515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782914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538622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136801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041761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132665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732088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3723158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9223426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8853063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3854631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4889466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9855447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898084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4283561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1411245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8581725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215914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3031059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7992057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2950957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206857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5127877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9696095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0151626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1479411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1392276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7132518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8659964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5756094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5700429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0233595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247350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70490877"/>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6351075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6181120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7765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3684589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2578852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3183345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356061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1795825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2244327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623740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9868808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951424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2898191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36986704"/>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5964960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8938293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8258045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60962764"/>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5646575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99667620"/>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9057537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0628365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45477136"/>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93799007"/>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40370107"/>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11694348"/>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37977628"/>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59962116"/>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1648813"/>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6369638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4549755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11165459"/>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30500947"/>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4400270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2736334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72658032"/>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26864513"/>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2686451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21445822"/>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96001560"/>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1281225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10462919"/>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81176066"/>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27910189"/>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23928939"/>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66624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4688955" y="1009652"/>
            <a:ext cx="27203402" cy="131064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952500" y="14173202"/>
            <a:ext cx="34671000" cy="3009900"/>
          </a:xfrm>
          <a:prstGeom prst="rect">
            <a:avLst/>
          </a:prstGeom>
        </p:spPr>
        <p:txBody>
          <a:bodyPr anchor="b"/>
          <a:lstStyle/>
          <a:p>
            <a:r>
              <a:t>Title Text</a:t>
            </a:r>
          </a:p>
        </p:txBody>
      </p:sp>
      <p:sp>
        <p:nvSpPr>
          <p:cNvPr id="22" name="Shape 22"/>
          <p:cNvSpPr>
            <a:spLocks noGrp="1"/>
          </p:cNvSpPr>
          <p:nvPr>
            <p:ph type="body" sz="quarter" idx="1"/>
          </p:nvPr>
        </p:nvSpPr>
        <p:spPr>
          <a:xfrm>
            <a:off x="952500" y="17278351"/>
            <a:ext cx="34671000" cy="238125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2667000" y="6800852"/>
            <a:ext cx="31242000" cy="69723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19748973" y="1657352"/>
            <a:ext cx="14287502" cy="172593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2476503" y="1657350"/>
            <a:ext cx="15335250" cy="8420100"/>
          </a:xfrm>
          <a:prstGeom prst="rect">
            <a:avLst/>
          </a:prstGeom>
        </p:spPr>
        <p:txBody>
          <a:bodyPr anchor="b"/>
          <a:lstStyle>
            <a:lvl1pPr>
              <a:defRPr sz="12598"/>
            </a:lvl1pPr>
          </a:lstStyle>
          <a:p>
            <a:r>
              <a:t>Title Text</a:t>
            </a:r>
          </a:p>
        </p:txBody>
      </p:sp>
      <p:sp>
        <p:nvSpPr>
          <p:cNvPr id="40" name="Shape 40"/>
          <p:cNvSpPr>
            <a:spLocks noGrp="1"/>
          </p:cNvSpPr>
          <p:nvPr>
            <p:ph type="body" sz="quarter" idx="1"/>
          </p:nvPr>
        </p:nvSpPr>
        <p:spPr>
          <a:xfrm>
            <a:off x="2476503" y="10267950"/>
            <a:ext cx="15335250" cy="864870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19754850" y="4857753"/>
            <a:ext cx="14287500" cy="1381125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Title Text</a:t>
            </a:r>
          </a:p>
        </p:txBody>
      </p:sp>
      <p:sp>
        <p:nvSpPr>
          <p:cNvPr id="67" name="Shape 67"/>
          <p:cNvSpPr>
            <a:spLocks noGrp="1"/>
          </p:cNvSpPr>
          <p:nvPr>
            <p:ph type="body" sz="half" idx="1"/>
          </p:nvPr>
        </p:nvSpPr>
        <p:spPr>
          <a:xfrm>
            <a:off x="2533650" y="4857753"/>
            <a:ext cx="15011400" cy="13811250"/>
          </a:xfrm>
          <a:prstGeom prst="rect">
            <a:avLst/>
          </a:prstGeom>
        </p:spPr>
        <p:txBody>
          <a:bodyPr/>
          <a:lstStyle>
            <a:lvl1pPr marL="838154" indent="-838154">
              <a:spcBef>
                <a:spcPts val="6750"/>
              </a:spcBef>
              <a:defRPr sz="6750"/>
            </a:lvl1pPr>
            <a:lvl2pPr marL="1676310" indent="-838154">
              <a:spcBef>
                <a:spcPts val="6750"/>
              </a:spcBef>
              <a:defRPr sz="6750"/>
            </a:lvl2pPr>
            <a:lvl3pPr marL="2514464" indent="-838154">
              <a:spcBef>
                <a:spcPts val="6750"/>
              </a:spcBef>
              <a:defRPr sz="6750"/>
            </a:lvl3pPr>
            <a:lvl4pPr marL="3352620" indent="-838154">
              <a:spcBef>
                <a:spcPts val="6750"/>
              </a:spcBef>
              <a:defRPr sz="6750"/>
            </a:lvl4pPr>
            <a:lvl5pPr marL="4190774" indent="-838154">
              <a:spcBef>
                <a:spcPts val="6750"/>
              </a:spcBef>
              <a:defRPr sz="6750"/>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2533650" y="2667001"/>
            <a:ext cx="31508700" cy="152209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23641053" y="10572751"/>
            <a:ext cx="11106150" cy="832485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23641053" y="1695451"/>
            <a:ext cx="11106150" cy="8324850"/>
          </a:xfrm>
          <a:prstGeom prst="rect">
            <a:avLst/>
          </a:prstGeom>
        </p:spPr>
        <p:txBody>
          <a:bodyPr lIns="91439" tIns="45719" rIns="91439" bIns="45719" anchor="t">
            <a:noAutofit/>
          </a:bodyPr>
          <a:lstStyle/>
          <a:p>
            <a:endParaRPr/>
          </a:p>
        </p:txBody>
      </p:sp>
      <p:sp>
        <p:nvSpPr>
          <p:cNvPr id="85" name="Shape 85"/>
          <p:cNvSpPr>
            <a:spLocks noGrp="1"/>
          </p:cNvSpPr>
          <p:nvPr>
            <p:ph type="pic" idx="15"/>
          </p:nvPr>
        </p:nvSpPr>
        <p:spPr>
          <a:xfrm>
            <a:off x="1809750" y="1695451"/>
            <a:ext cx="21259800" cy="1720215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3581403" y="13430251"/>
            <a:ext cx="29432250" cy="979755"/>
          </a:xfrm>
          <a:prstGeom prst="rect">
            <a:avLst/>
          </a:prstGeom>
        </p:spPr>
        <p:txBody>
          <a:bodyPr anchor="t">
            <a:spAutoFit/>
          </a:bodyPr>
          <a:lstStyle>
            <a:lvl1pPr marL="0" indent="0" algn="ctr">
              <a:spcBef>
                <a:spcPts val="0"/>
              </a:spcBef>
              <a:buSzTx/>
              <a:buNone/>
              <a:defRPr sz="5700">
                <a:latin typeface="Helvetica"/>
                <a:ea typeface="Helvetica"/>
                <a:cs typeface="Helvetica"/>
                <a:sym typeface="Helvetica"/>
              </a:defRPr>
            </a:lvl1pPr>
          </a:lstStyle>
          <a:p>
            <a:r>
              <a:t>–Johnny Appleseed</a:t>
            </a:r>
          </a:p>
        </p:txBody>
      </p:sp>
      <p:sp>
        <p:nvSpPr>
          <p:cNvPr id="94" name="Shape 94"/>
          <p:cNvSpPr>
            <a:spLocks noGrp="1"/>
          </p:cNvSpPr>
          <p:nvPr>
            <p:ph type="body" sz="quarter" idx="14"/>
          </p:nvPr>
        </p:nvSpPr>
        <p:spPr>
          <a:xfrm>
            <a:off x="3581403" y="9083251"/>
            <a:ext cx="29432250" cy="1302601"/>
          </a:xfrm>
          <a:prstGeom prst="rect">
            <a:avLst/>
          </a:prstGeom>
        </p:spPr>
        <p:txBody>
          <a:bodyPr>
            <a:spAutoFit/>
          </a:bodyPr>
          <a:lstStyle>
            <a:lvl1pPr marL="0" indent="0" algn="ctr">
              <a:spcBef>
                <a:spcPts val="0"/>
              </a:spcBef>
              <a:buSzTx/>
              <a:buNone/>
            </a:lvl1pPr>
          </a:lstStyle>
          <a:p>
            <a:r>
              <a:t>“Type a quote here.” </a:t>
            </a: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0" y="2"/>
            <a:ext cx="36576000" cy="205740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2533650" y="1428750"/>
            <a:ext cx="31508700" cy="3429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2533650" y="4857753"/>
            <a:ext cx="31508700" cy="1381125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7880931" y="19621502"/>
            <a:ext cx="795089" cy="656590"/>
          </a:xfrm>
          <a:prstGeom prst="rect">
            <a:avLst/>
          </a:prstGeom>
          <a:ln w="12700">
            <a:miter lim="400000"/>
          </a:ln>
        </p:spPr>
        <p:txBody>
          <a:bodyPr wrap="none" lIns="50800" tIns="50800" rIns="50800" bIns="50800">
            <a:spAutoFit/>
          </a:bodyPr>
          <a:lstStyle>
            <a:lvl1pPr>
              <a:defRPr sz="36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txStyles>
    <p:titleStyle>
      <a:lvl1pPr marL="0" marR="0" indent="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9pPr>
    </p:titleStyle>
    <p:bodyStyle>
      <a:lvl1pPr marL="95244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1pPr>
      <a:lvl2pPr marL="190489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2pPr>
      <a:lvl3pPr marL="285734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3pPr>
      <a:lvl4pPr marL="380979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4pPr>
      <a:lvl5pPr marL="4762244"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5pPr>
      <a:lvl6pPr marL="571469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6pPr>
      <a:lvl7pPr marL="666714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7pPr>
      <a:lvl8pPr marL="761959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8pPr>
      <a:lvl9pPr marL="857204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8.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7.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9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0.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3.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4.xml"/><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5.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6.xml"/><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7.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9.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10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0.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3.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4.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10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5.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6.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7.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0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8.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9.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0.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1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1.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2.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3.xml"/><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4.xml"/><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5.xml"/><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6.xml"/><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7.xml"/><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8.xml"/><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9.xml"/><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0.xml"/><Relationship Id="rId1" Type="http://schemas.openxmlformats.org/officeDocument/2006/relationships/slideLayout" Target="../slideLayouts/slideLayout5.xml"/><Relationship Id="rId4" Type="http://schemas.openxmlformats.org/officeDocument/2006/relationships/image" Target="../media/image41.png"/></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1.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2.xml"/><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3.xml"/><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4.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5.xml"/><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6.xml"/><Relationship Id="rId1" Type="http://schemas.openxmlformats.org/officeDocument/2006/relationships/slideLayout" Target="../slideLayouts/slideLayout5.xml"/><Relationship Id="rId5" Type="http://schemas.openxmlformats.org/officeDocument/2006/relationships/image" Target="../media/image43.png"/><Relationship Id="rId4" Type="http://schemas.openxmlformats.org/officeDocument/2006/relationships/image" Target="../media/image44.png"/></Relationships>
</file>

<file path=ppt/slides/_rels/slide1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7.xml"/><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1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8.xml"/><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9.xml"/><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0.xml"/><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1.xml"/><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2.xml"/><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3.xml"/><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4.xml"/><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5.xml"/><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6.xml"/><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7.xml"/><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47.png"/></Relationships>
</file>

<file path=ppt/slides/_rels/slide1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8.xml"/><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9.xml"/><Relationship Id="rId1" Type="http://schemas.openxmlformats.org/officeDocument/2006/relationships/slideLayout" Target="../slideLayouts/slideLayout5.xml"/></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0.xml"/><Relationship Id="rId1" Type="http://schemas.openxmlformats.org/officeDocument/2006/relationships/slideLayout" Target="../slideLayouts/slideLayout5.xml"/><Relationship Id="rId5" Type="http://schemas.openxmlformats.org/officeDocument/2006/relationships/image" Target="../media/image49.png"/><Relationship Id="rId4" Type="http://schemas.openxmlformats.org/officeDocument/2006/relationships/image" Target="../media/image48.png"/></Relationships>
</file>

<file path=ppt/slides/_rels/slide1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1.xml"/><Relationship Id="rId1" Type="http://schemas.openxmlformats.org/officeDocument/2006/relationships/slideLayout" Target="../slideLayouts/slideLayout5.xml"/></Relationships>
</file>

<file path=ppt/slides/_rels/slide1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2.xml"/><Relationship Id="rId1" Type="http://schemas.openxmlformats.org/officeDocument/2006/relationships/slideLayout" Target="../slideLayouts/slideLayout5.xml"/><Relationship Id="rId5" Type="http://schemas.openxmlformats.org/officeDocument/2006/relationships/image" Target="../media/image50.png"/><Relationship Id="rId4" Type="http://schemas.openxmlformats.org/officeDocument/2006/relationships/image" Target="../media/image49.png"/></Relationships>
</file>

<file path=ppt/slides/_rels/slide1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3.xml"/><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4.xml"/><Relationship Id="rId1" Type="http://schemas.openxmlformats.org/officeDocument/2006/relationships/slideLayout" Target="../slideLayouts/slideLayout5.xml"/></Relationships>
</file>

<file path=ppt/slides/_rels/slide1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5.xml"/><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6.xml"/><Relationship Id="rId1" Type="http://schemas.openxmlformats.org/officeDocument/2006/relationships/slideLayout" Target="../slideLayouts/slideLayout5.xml"/></Relationships>
</file>

<file path=ppt/slides/_rels/slide1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7.xml"/><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8.xml"/><Relationship Id="rId1" Type="http://schemas.openxmlformats.org/officeDocument/2006/relationships/slideLayout" Target="../slideLayouts/slideLayout5.xml"/></Relationships>
</file>

<file path=ppt/slides/_rels/slide1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9.xml"/><Relationship Id="rId1" Type="http://schemas.openxmlformats.org/officeDocument/2006/relationships/slideLayout" Target="../slideLayouts/slideLayout5.xml"/></Relationships>
</file>

<file path=ppt/slides/_rels/slide1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0.xml"/><Relationship Id="rId1" Type="http://schemas.openxmlformats.org/officeDocument/2006/relationships/slideLayout" Target="../slideLayouts/slideLayout5.xml"/></Relationships>
</file>

<file path=ppt/slides/_rels/slide1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1.xml"/><Relationship Id="rId1" Type="http://schemas.openxmlformats.org/officeDocument/2006/relationships/slideLayout" Target="../slideLayouts/slideLayout5.xml"/></Relationships>
</file>

<file path=ppt/slides/_rels/slide1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2.xml"/><Relationship Id="rId1" Type="http://schemas.openxmlformats.org/officeDocument/2006/relationships/slideLayout" Target="../slideLayouts/slideLayout5.xml"/></Relationships>
</file>

<file path=ppt/slides/_rels/slide1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3.xml"/><Relationship Id="rId1" Type="http://schemas.openxmlformats.org/officeDocument/2006/relationships/slideLayout" Target="../slideLayouts/slideLayout5.xml"/></Relationships>
</file>

<file path=ppt/slides/_rels/slide1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4.xml"/><Relationship Id="rId1" Type="http://schemas.openxmlformats.org/officeDocument/2006/relationships/slideLayout" Target="../slideLayouts/slideLayout5.xml"/><Relationship Id="rId5" Type="http://schemas.openxmlformats.org/officeDocument/2006/relationships/image" Target="../media/image52.png"/><Relationship Id="rId4" Type="http://schemas.openxmlformats.org/officeDocument/2006/relationships/image" Target="../media/image51.png"/></Relationships>
</file>

<file path=ppt/slides/_rels/slide1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5.xml"/><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54.png"/></Relationships>
</file>

<file path=ppt/slides/_rels/slide1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6.xml"/><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54.png"/></Relationships>
</file>

<file path=ppt/slides/_rels/slide15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7.xml"/><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56.png"/></Relationships>
</file>

<file path=ppt/slides/_rels/slide1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8.xml"/><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image" Target="../media/image56.png"/></Relationships>
</file>

<file path=ppt/slides/_rels/slide1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9.xml"/><Relationship Id="rId1" Type="http://schemas.openxmlformats.org/officeDocument/2006/relationships/slideLayout" Target="../slideLayouts/slideLayout5.xml"/></Relationships>
</file>

<file path=ppt/slides/_rels/slide1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8164094"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Introduction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Welcome to section 7 of this course.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Tim </a:t>
            </a:r>
            <a:r>
              <a:rPr lang="en-US" sz="6400" dirty="0" err="1">
                <a:latin typeface="Open Sans" panose="020B0606030504020204" pitchFamily="34" charset="0"/>
                <a:ea typeface="Open Sans" panose="020B0606030504020204" pitchFamily="34" charset="0"/>
                <a:cs typeface="Open Sans" panose="020B0606030504020204" pitchFamily="34" charset="0"/>
              </a:rPr>
              <a:t>Buchalka</a:t>
            </a:r>
            <a:r>
              <a:rPr lang="en-US" sz="6400" dirty="0">
                <a:latin typeface="Open Sans" panose="020B0606030504020204" pitchFamily="34" charset="0"/>
                <a:ea typeface="Open Sans" panose="020B0606030504020204" pitchFamily="34" charset="0"/>
                <a:cs typeface="Open Sans" panose="020B0606030504020204" pitchFamily="34" charset="0"/>
              </a:rPr>
              <a:t> here, and this is part one of a two-part section, about Object-Oriented Programming.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part one, you're going to learn the fundamentals of Object-Oriented Programming, starting with the structures you'll be using, specifically Classes, Objects, and Constructors.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Along with these structures, you'll be learning some fundamental features of Object-Oriented Programming.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Namely Inheritance, Encapsulation, Polymorphism, and Composition.</a:t>
            </a:r>
          </a:p>
        </p:txBody>
      </p:sp>
    </p:spTree>
    <p:extLst>
      <p:ext uri="{BB962C8B-B14F-4D97-AF65-F5344CB8AC3E}">
        <p14:creationId xmlns:p14="http://schemas.microsoft.com/office/powerpoint/2010/main" val="1102418031"/>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8164094"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Introduction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section, I'll cover Inheritance, and in the next one, we'll explore the other 3 features.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let's make a start on Object-Oriented Programming.</a:t>
            </a:r>
          </a:p>
        </p:txBody>
      </p:sp>
    </p:spTree>
    <p:extLst>
      <p:ext uri="{BB962C8B-B14F-4D97-AF65-F5344CB8AC3E}">
        <p14:creationId xmlns:p14="http://schemas.microsoft.com/office/powerpoint/2010/main" val="1519912629"/>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3012710"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video, I'm going to start talking about </a:t>
            </a:r>
            <a:r>
              <a:rPr lang="en-US" sz="6400" b="1" dirty="0">
                <a:latin typeface="Open Sans" panose="020B0606030504020204" pitchFamily="34" charset="0"/>
                <a:ea typeface="Open Sans" panose="020B0606030504020204" pitchFamily="34" charset="0"/>
                <a:cs typeface="Open Sans" panose="020B0606030504020204" pitchFamily="34" charset="0"/>
              </a:rPr>
              <a:t>Object-Oriented Programming</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44628400"/>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480166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What is Object Oriented Programming</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What is Object-Oriented Programming?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Object-Oriented Programming is a way to model real-world objects as software objects which contain both data and code.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OOP is a common acronym for Object-Oriented Programming.</a:t>
            </a:r>
          </a:p>
        </p:txBody>
      </p:sp>
    </p:spTree>
    <p:extLst>
      <p:ext uri="{BB962C8B-B14F-4D97-AF65-F5344CB8AC3E}">
        <p14:creationId xmlns:p14="http://schemas.microsoft.com/office/powerpoint/2010/main" val="3758301264"/>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04793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Class-based Programming</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Class-based programming starts with classes which become the blueprints for objects.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what does this really mean?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To start, we need to understand what objects are.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They're really the key to understanding this object-oriented terminology.</a:t>
            </a:r>
          </a:p>
        </p:txBody>
      </p:sp>
    </p:spTree>
    <p:extLst>
      <p:ext uri="{BB962C8B-B14F-4D97-AF65-F5344CB8AC3E}">
        <p14:creationId xmlns:p14="http://schemas.microsoft.com/office/powerpoint/2010/main" val="1373171711"/>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36212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Real World Object Exercise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3"/>
            <a:ext cx="34782670" cy="13442259"/>
          </a:xfrm>
          <a:prstGeom prst="rect">
            <a:avLst/>
          </a:prstGeom>
        </p:spPr>
        <p:txBody>
          <a:bodyPr wrap="square">
            <a:normAutofit lnSpcReduction="10000"/>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What I'd like you to do is just have a look around in the area you're sitting in right now.</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And if you do that, you'll find that there's many examples of real-world objects.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example, I'm sitting here, and I can see: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 computer.</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I can see a keyboard.</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I can see a microphone.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I can see shelves on the wall.</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I can see a door.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All of these are examples of real-world objects.</a:t>
            </a:r>
          </a:p>
        </p:txBody>
      </p:sp>
    </p:spTree>
    <p:extLst>
      <p:ext uri="{BB962C8B-B14F-4D97-AF65-F5344CB8AC3E}">
        <p14:creationId xmlns:p14="http://schemas.microsoft.com/office/powerpoint/2010/main" val="3300529292"/>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37037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State and Behavior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3"/>
            <a:ext cx="34782670" cy="13442259"/>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Real-world objects have two major components: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state.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and behavior.</a:t>
            </a:r>
          </a:p>
        </p:txBody>
      </p:sp>
    </p:spTree>
    <p:extLst>
      <p:ext uri="{BB962C8B-B14F-4D97-AF65-F5344CB8AC3E}">
        <p14:creationId xmlns:p14="http://schemas.microsoft.com/office/powerpoint/2010/main" val="379310119"/>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93408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State (computer)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3"/>
            <a:ext cx="34782670" cy="13442259"/>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State, in terms of a computer object, might be: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 amount of RAM it has.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 operating system it's running.</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 hard drive size.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 size of the monitor.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are characteristics about the item that can describe it.</a:t>
            </a:r>
          </a:p>
        </p:txBody>
      </p:sp>
    </p:spTree>
    <p:extLst>
      <p:ext uri="{BB962C8B-B14F-4D97-AF65-F5344CB8AC3E}">
        <p14:creationId xmlns:p14="http://schemas.microsoft.com/office/powerpoint/2010/main" val="298958734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672940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State (ant)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3"/>
            <a:ext cx="34782670" cy="13442259"/>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 could also describe animate objects like people, or animals, or even insects like an ant.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an ant, the state might be: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 age.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 number of legs.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 conscious state.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Whether the ant is sleeping or is awake.</a:t>
            </a:r>
          </a:p>
        </p:txBody>
      </p:sp>
    </p:spTree>
    <p:extLst>
      <p:ext uri="{BB962C8B-B14F-4D97-AF65-F5344CB8AC3E}">
        <p14:creationId xmlns:p14="http://schemas.microsoft.com/office/powerpoint/2010/main" val="3728768789"/>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339148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Behavior (computer)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3"/>
            <a:ext cx="34782670" cy="13442259"/>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addition to state, objects may also have behavior or actions that can be performed by the object, or upon the object.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Behavior, for a computer, might be things like: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Booting up.</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Shutting down.</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Beeping or outputting some form of sound.</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Drawing something on the screen, and so on.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All of these could be described as behaviors for a computer.</a:t>
            </a:r>
          </a:p>
        </p:txBody>
      </p:sp>
    </p:spTree>
    <p:extLst>
      <p:ext uri="{BB962C8B-B14F-4D97-AF65-F5344CB8AC3E}">
        <p14:creationId xmlns:p14="http://schemas.microsoft.com/office/powerpoint/2010/main" val="3729014381"/>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186810"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Behavior (ant)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3"/>
            <a:ext cx="34782670" cy="13442259"/>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an ant, behavior might be: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Eating.</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Drinking.</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Fighting.</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Carrying food, those types of things.</a:t>
            </a:r>
          </a:p>
        </p:txBody>
      </p:sp>
    </p:spTree>
    <p:extLst>
      <p:ext uri="{BB962C8B-B14F-4D97-AF65-F5344CB8AC3E}">
        <p14:creationId xmlns:p14="http://schemas.microsoft.com/office/powerpoint/2010/main" val="367298660"/>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370374"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State and Behavior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3"/>
            <a:ext cx="34782670" cy="13442259"/>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Modelling real-world objects as software objects is a fundamental part of Object-Oriented Programming.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software object stores its state in fields, which can also be called variables or attributes.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Objects expose their behavior with methods which I've talked about before.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where does a class fit in?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Well, think of a class as a template or a blueprint for creating objects.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Let's take another look at the class.</a:t>
            </a:r>
          </a:p>
        </p:txBody>
      </p:sp>
    </p:spTree>
    <p:extLst>
      <p:ext uri="{BB962C8B-B14F-4D97-AF65-F5344CB8AC3E}">
        <p14:creationId xmlns:p14="http://schemas.microsoft.com/office/powerpoint/2010/main" val="2762079065"/>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047937"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class as the blueprint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3265716"/>
            <a:ext cx="34782670" cy="14665590"/>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class describes the data (fields), and the behavior (methods), that are relevant to the real-world object we want to describe.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are called class members.</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class member can be a field or a method, or some other type of dependent element.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a field is static, there is only one copy in memory, and this value is associated with the class or template itself. </a:t>
            </a:r>
          </a:p>
        </p:txBody>
      </p:sp>
      <p:pic>
        <p:nvPicPr>
          <p:cNvPr id="3" name="Picture 2" descr="Graphical user interface, application&#10;&#10;Description automatically generated">
            <a:extLst>
              <a:ext uri="{FF2B5EF4-FFF2-40B4-BE49-F238E27FC236}">
                <a16:creationId xmlns:a16="http://schemas.microsoft.com/office/drawing/2014/main" id="{92D7C8A5-15DF-8E73-3ADB-1266B8914D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71309" y="7050393"/>
            <a:ext cx="17033383" cy="6473213"/>
          </a:xfrm>
          <a:prstGeom prst="rect">
            <a:avLst/>
          </a:prstGeom>
        </p:spPr>
      </p:pic>
    </p:spTree>
    <p:extLst>
      <p:ext uri="{BB962C8B-B14F-4D97-AF65-F5344CB8AC3E}">
        <p14:creationId xmlns:p14="http://schemas.microsoft.com/office/powerpoint/2010/main" val="2510555399"/>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047937"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class as the blueprint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10101862"/>
            <a:ext cx="34782670" cy="7279355"/>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a field is not static, it's called an instance field, and each object may have a different value stored for this field.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static method can't be dependent on any one object's state, so it can't reference any instance members.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other words, any method that operates on instance fields needs to be non-static.</a:t>
            </a:r>
          </a:p>
        </p:txBody>
      </p:sp>
      <p:pic>
        <p:nvPicPr>
          <p:cNvPr id="3" name="Picture 2" descr="Graphical user interface, application&#10;&#10;Description automatically generated">
            <a:extLst>
              <a:ext uri="{FF2B5EF4-FFF2-40B4-BE49-F238E27FC236}">
                <a16:creationId xmlns:a16="http://schemas.microsoft.com/office/drawing/2014/main" id="{92D7C8A5-15DF-8E73-3ADB-1266B8914D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71309" y="3078387"/>
            <a:ext cx="17033383" cy="6473213"/>
          </a:xfrm>
          <a:prstGeom prst="rect">
            <a:avLst/>
          </a:prstGeom>
        </p:spPr>
      </p:pic>
    </p:spTree>
    <p:extLst>
      <p:ext uri="{BB962C8B-B14F-4D97-AF65-F5344CB8AC3E}">
        <p14:creationId xmlns:p14="http://schemas.microsoft.com/office/powerpoint/2010/main" val="2466542040"/>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03374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Organizing classes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Classes can be organized into logical groupings which are called packages.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declare a package name in the class using the package statement.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don't declare a package, the class implicitly belongs to the default package.</a:t>
            </a:r>
          </a:p>
        </p:txBody>
      </p:sp>
    </p:spTree>
    <p:extLst>
      <p:ext uri="{BB962C8B-B14F-4D97-AF65-F5344CB8AC3E}">
        <p14:creationId xmlns:p14="http://schemas.microsoft.com/office/powerpoint/2010/main" val="1771818849"/>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912222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Access modifiers for the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a:latin typeface="Open Sans" panose="020B0606030504020204" pitchFamily="34" charset="0"/>
                <a:ea typeface="Open Sans" panose="020B0606030504020204" pitchFamily="34" charset="0"/>
                <a:cs typeface="Open Sans" panose="020B0606030504020204" pitchFamily="34" charset="0"/>
              </a:rPr>
              <a:t>A </a:t>
            </a:r>
            <a:r>
              <a:rPr lang="en-US" sz="6400" dirty="0">
                <a:latin typeface="Open Sans" panose="020B0606030504020204" pitchFamily="34" charset="0"/>
                <a:ea typeface="Open Sans" panose="020B0606030504020204" pitchFamily="34" charset="0"/>
                <a:cs typeface="Open Sans" panose="020B0606030504020204" pitchFamily="34" charset="0"/>
              </a:rPr>
              <a:t>class is said to be a top-level class if it is defined in the source code file and not enclosed in the code block of another class, type, or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top-level class has only two valid access modifier options: public or none.</a:t>
            </a:r>
          </a:p>
        </p:txBody>
      </p:sp>
      <p:graphicFrame>
        <p:nvGraphicFramePr>
          <p:cNvPr id="3" name="Table 2">
            <a:extLst>
              <a:ext uri="{FF2B5EF4-FFF2-40B4-BE49-F238E27FC236}">
                <a16:creationId xmlns:a16="http://schemas.microsoft.com/office/drawing/2014/main" id="{32C54FA2-FD06-DDA7-24E4-D17A54A332A9}"/>
              </a:ext>
            </a:extLst>
          </p:cNvPr>
          <p:cNvGraphicFramePr>
            <a:graphicFrameLocks noGrp="1"/>
          </p:cNvGraphicFramePr>
          <p:nvPr/>
        </p:nvGraphicFramePr>
        <p:xfrm>
          <a:off x="3865645" y="8735586"/>
          <a:ext cx="28844711" cy="6112520"/>
        </p:xfrm>
        <a:graphic>
          <a:graphicData uri="http://schemas.openxmlformats.org/drawingml/2006/table">
            <a:tbl>
              <a:tblPr firstRow="1" bandRow="1">
                <a:tableStyleId>{5C22544A-7EE6-4342-B048-85BDC9FD1C3A}</a:tableStyleId>
              </a:tblPr>
              <a:tblGrid>
                <a:gridCol w="3675757">
                  <a:extLst>
                    <a:ext uri="{9D8B030D-6E8A-4147-A177-3AD203B41FA5}">
                      <a16:colId xmlns:a16="http://schemas.microsoft.com/office/drawing/2014/main" val="2844207666"/>
                    </a:ext>
                  </a:extLst>
                </a:gridCol>
                <a:gridCol w="25168954">
                  <a:extLst>
                    <a:ext uri="{9D8B030D-6E8A-4147-A177-3AD203B41FA5}">
                      <a16:colId xmlns:a16="http://schemas.microsoft.com/office/drawing/2014/main" val="1891655341"/>
                    </a:ext>
                  </a:extLst>
                </a:gridCol>
              </a:tblGrid>
              <a:tr h="1617011">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Access keyword</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218990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public</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public</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means any other class in any package can access this class.</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218990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When the modifier is omitted, this has special meaning, called package access, meaning the class is accessible only to classes in the same package.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90637126"/>
                  </a:ext>
                </a:extLst>
              </a:tr>
            </a:tbl>
          </a:graphicData>
        </a:graphic>
      </p:graphicFrame>
    </p:spTree>
    <p:extLst>
      <p:ext uri="{BB962C8B-B14F-4D97-AF65-F5344CB8AC3E}">
        <p14:creationId xmlns:p14="http://schemas.microsoft.com/office/powerpoint/2010/main" val="1785334661"/>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321308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Access modifiers for class members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2783669"/>
            <a:ext cx="34782670" cy="13382411"/>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 access modifier at the member level allows granular control over class members.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valid access modifiers are shown in this table from the least restrictive to the most restrictive.</a:t>
            </a:r>
          </a:p>
        </p:txBody>
      </p:sp>
      <p:graphicFrame>
        <p:nvGraphicFramePr>
          <p:cNvPr id="3" name="Table 2">
            <a:extLst>
              <a:ext uri="{FF2B5EF4-FFF2-40B4-BE49-F238E27FC236}">
                <a16:creationId xmlns:a16="http://schemas.microsoft.com/office/drawing/2014/main" id="{32C54FA2-FD06-DDA7-24E4-D17A54A332A9}"/>
              </a:ext>
            </a:extLst>
          </p:cNvPr>
          <p:cNvGraphicFramePr>
            <a:graphicFrameLocks noGrp="1"/>
          </p:cNvGraphicFramePr>
          <p:nvPr/>
        </p:nvGraphicFramePr>
        <p:xfrm>
          <a:off x="3921478" y="6840350"/>
          <a:ext cx="28844711" cy="10166943"/>
        </p:xfrm>
        <a:graphic>
          <a:graphicData uri="http://schemas.openxmlformats.org/drawingml/2006/table">
            <a:tbl>
              <a:tblPr firstRow="1" bandRow="1">
                <a:tableStyleId>{5C22544A-7EE6-4342-B048-85BDC9FD1C3A}</a:tableStyleId>
              </a:tblPr>
              <a:tblGrid>
                <a:gridCol w="3675757">
                  <a:extLst>
                    <a:ext uri="{9D8B030D-6E8A-4147-A177-3AD203B41FA5}">
                      <a16:colId xmlns:a16="http://schemas.microsoft.com/office/drawing/2014/main" val="2844207666"/>
                    </a:ext>
                  </a:extLst>
                </a:gridCol>
                <a:gridCol w="25168954">
                  <a:extLst>
                    <a:ext uri="{9D8B030D-6E8A-4147-A177-3AD203B41FA5}">
                      <a16:colId xmlns:a16="http://schemas.microsoft.com/office/drawing/2014/main" val="1891655341"/>
                    </a:ext>
                  </a:extLst>
                </a:gridCol>
              </a:tblGrid>
              <a:tr h="1658623">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Access keyword</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37032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public</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public</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means any other class in any package can access this class.</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198500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protected</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protected</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allows classes in the same package, and any subclasses in other packages, to have access to the member.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90637126"/>
                  </a:ext>
                </a:extLst>
              </a:tr>
              <a:tr h="3093892">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When the modifier is omitted, this has special meaning, called package access, meaning the member is accessible only to classes in the same package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0938823"/>
                  </a:ext>
                </a:extLst>
              </a:tr>
              <a:tr h="198500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private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private</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means that no other class can access this member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7061894"/>
                  </a:ext>
                </a:extLst>
              </a:tr>
            </a:tbl>
          </a:graphicData>
        </a:graphic>
      </p:graphicFrame>
    </p:spTree>
    <p:extLst>
      <p:ext uri="{BB962C8B-B14F-4D97-AF65-F5344CB8AC3E}">
        <p14:creationId xmlns:p14="http://schemas.microsoft.com/office/powerpoint/2010/main" val="3221150133"/>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21085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Encapsulation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and Objects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Encapsulation in Object-Oriented Programming usually has two meanings.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One is the bundling of behavior and attributes on a single object.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other is the practice of hiding fields and some methods from public access.</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596977016"/>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827149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What is null?</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Using Getter Methods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Roboto Mono" panose="00000009000000000000" pitchFamily="49" charset="0"/>
                <a:ea typeface="Roboto Mono" panose="00000009000000000000" pitchFamily="49" charset="0"/>
                <a:cs typeface="Open Sans" panose="020B0606030504020204" pitchFamily="34" charset="0"/>
              </a:rPr>
              <a:t>null</a:t>
            </a:r>
            <a:r>
              <a:rPr lang="en-US" sz="6400" dirty="0">
                <a:latin typeface="Open Sans" panose="020B0606030504020204" pitchFamily="34" charset="0"/>
                <a:ea typeface="Open Sans" panose="020B0606030504020204" pitchFamily="34" charset="0"/>
                <a:cs typeface="Open Sans" panose="020B0606030504020204" pitchFamily="34" charset="0"/>
              </a:rPr>
              <a:t> is a special keyword in Java, meaning, the variable or attribute has a type but no reference to an object.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means that no instance or object is assigned to the variable or field.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Fields with primitive data types are never null.</a:t>
            </a:r>
          </a:p>
        </p:txBody>
      </p:sp>
    </p:spTree>
    <p:extLst>
      <p:ext uri="{BB962C8B-B14F-4D97-AF65-F5344CB8AC3E}">
        <p14:creationId xmlns:p14="http://schemas.microsoft.com/office/powerpoint/2010/main" val="329912915"/>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232662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Default values for fields on classes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Using Getter Methods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3558748"/>
            <a:ext cx="34782670" cy="1260733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Fields on classes are assigned default values automatically by Java, if you don't assign values yourself.</a:t>
            </a:r>
          </a:p>
        </p:txBody>
      </p:sp>
      <p:graphicFrame>
        <p:nvGraphicFramePr>
          <p:cNvPr id="3" name="Table 2">
            <a:extLst>
              <a:ext uri="{FF2B5EF4-FFF2-40B4-BE49-F238E27FC236}">
                <a16:creationId xmlns:a16="http://schemas.microsoft.com/office/drawing/2014/main" id="{EBF9B517-D415-C21D-CFB4-12A8C14AEB08}"/>
              </a:ext>
            </a:extLst>
          </p:cNvPr>
          <p:cNvGraphicFramePr>
            <a:graphicFrameLocks noGrp="1"/>
          </p:cNvGraphicFramePr>
          <p:nvPr/>
        </p:nvGraphicFramePr>
        <p:xfrm>
          <a:off x="11714827" y="5883758"/>
          <a:ext cx="13146346" cy="11599673"/>
        </p:xfrm>
        <a:graphic>
          <a:graphicData uri="http://schemas.openxmlformats.org/drawingml/2006/table">
            <a:tbl>
              <a:tblPr firstRow="1" bandRow="1">
                <a:tableStyleId>{5C22544A-7EE6-4342-B048-85BDC9FD1C3A}</a:tableStyleId>
              </a:tblPr>
              <a:tblGrid>
                <a:gridCol w="5174880">
                  <a:extLst>
                    <a:ext uri="{9D8B030D-6E8A-4147-A177-3AD203B41FA5}">
                      <a16:colId xmlns:a16="http://schemas.microsoft.com/office/drawing/2014/main" val="2844207666"/>
                    </a:ext>
                  </a:extLst>
                </a:gridCol>
                <a:gridCol w="7971466">
                  <a:extLst>
                    <a:ext uri="{9D8B030D-6E8A-4147-A177-3AD203B41FA5}">
                      <a16:colId xmlns:a16="http://schemas.microsoft.com/office/drawing/2014/main" val="1891655341"/>
                    </a:ext>
                  </a:extLst>
                </a:gridCol>
              </a:tblGrid>
              <a:tr h="2082974">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Data type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Default value assigned</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2269736">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false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497722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byte</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int</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long</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0</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86191026"/>
                  </a:ext>
                </a:extLst>
              </a:tr>
              <a:tr h="2269736">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double</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0.0</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78940203"/>
                  </a:ext>
                </a:extLst>
              </a:tr>
            </a:tbl>
          </a:graphicData>
        </a:graphic>
      </p:graphicFrame>
    </p:spTree>
    <p:extLst>
      <p:ext uri="{BB962C8B-B14F-4D97-AF65-F5344CB8AC3E}">
        <p14:creationId xmlns:p14="http://schemas.microsoft.com/office/powerpoint/2010/main" val="3330082665"/>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590413"/>
            <a:ext cx="32254022" cy="1631216"/>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9600" dirty="0">
                <a:latin typeface="Open Sans" panose="020B0606030504020204" pitchFamily="34" charset="0"/>
                <a:ea typeface="Open Sans" panose="020B0606030504020204" pitchFamily="34" charset="0"/>
                <a:cs typeface="Open Sans" panose="020B0606030504020204" pitchFamily="34" charset="0"/>
              </a:rPr>
              <a:t>What are getters and setters? Why should we use them?</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Introduction to Classes, Using Getter Methods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What are getters and </a:t>
            </a:r>
            <a:r>
              <a:rPr lang="en-US" sz="6400">
                <a:latin typeface="Open Sans" panose="020B0606030504020204" pitchFamily="34" charset="0"/>
                <a:ea typeface="Open Sans" panose="020B0606030504020204" pitchFamily="34" charset="0"/>
                <a:cs typeface="Open Sans" panose="020B0606030504020204" pitchFamily="34" charset="0"/>
              </a:rPr>
              <a:t>setters?</a:t>
            </a: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getter is a method on a class that retrieves the value of a private field and returns it.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setter is a method on a class that sets the value of a private field.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purpose of these methods is to control and protect access to private fields.</a:t>
            </a:r>
          </a:p>
        </p:txBody>
      </p:sp>
    </p:spTree>
    <p:extLst>
      <p:ext uri="{BB962C8B-B14F-4D97-AF65-F5344CB8AC3E}">
        <p14:creationId xmlns:p14="http://schemas.microsoft.com/office/powerpoint/2010/main" val="1396582376"/>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50389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this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Kotlin Variables and Datatypes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b="1"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is a special keyword in Java.</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What it really refers to is the instance that was created when the object was instantiated.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a:t>
            </a:r>
            <a:r>
              <a:rPr lang="en-US" sz="6400" b="1"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is a special reference name for the object or instance, which it can use to describe itself.</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And we can use </a:t>
            </a:r>
            <a:r>
              <a:rPr lang="en-US" sz="6400" b="1"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to access fields on the class.</a:t>
            </a:r>
          </a:p>
        </p:txBody>
      </p:sp>
    </p:spTree>
    <p:extLst>
      <p:ext uri="{BB962C8B-B14F-4D97-AF65-F5344CB8AC3E}">
        <p14:creationId xmlns:p14="http://schemas.microsoft.com/office/powerpoint/2010/main" val="1398519215"/>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27396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Classes Challenge Exercise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Classes Challenge Exercise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the previous videos, I've been talking about classes.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now challenge time. I want to challenge your understanding of those previous videos.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here's what I want you to do.</a:t>
            </a:r>
          </a:p>
        </p:txBody>
      </p:sp>
    </p:spTree>
    <p:extLst>
      <p:ext uri="{BB962C8B-B14F-4D97-AF65-F5344CB8AC3E}">
        <p14:creationId xmlns:p14="http://schemas.microsoft.com/office/powerpoint/2010/main" val="237822288"/>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273960"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Object Oriented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Classes Challenge Exercise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Create a new class for a bank account.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Create fields for account characteristics like: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account number.</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account balance.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customer name.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email.</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phone number.</a:t>
            </a:r>
          </a:p>
        </p:txBody>
      </p:sp>
    </p:spTree>
    <p:extLst>
      <p:ext uri="{BB962C8B-B14F-4D97-AF65-F5344CB8AC3E}">
        <p14:creationId xmlns:p14="http://schemas.microsoft.com/office/powerpoint/2010/main" val="268479235"/>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27396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Object Oriented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Classes Challenge Exercise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Create getters and setters for each field.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Create two additional methods: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one for depositing funds into the account.</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one for withdrawing funds from the account.</a:t>
            </a:r>
          </a:p>
        </p:txBody>
      </p:sp>
    </p:spTree>
    <p:extLst>
      <p:ext uri="{BB962C8B-B14F-4D97-AF65-F5344CB8AC3E}">
        <p14:creationId xmlns:p14="http://schemas.microsoft.com/office/powerpoint/2010/main" val="724189623"/>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273960"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Object Oriented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Classes Challenge Exercise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customer should not be allowed to withdraw funds if that withdrawal takes their balance negative.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Create a new project called </a:t>
            </a:r>
            <a:r>
              <a:rPr lang="en-US" sz="6400" dirty="0" err="1">
                <a:latin typeface="Open Sans" panose="020B0606030504020204" pitchFamily="34" charset="0"/>
                <a:ea typeface="Open Sans" panose="020B0606030504020204" pitchFamily="34" charset="0"/>
                <a:cs typeface="Open Sans" panose="020B0606030504020204" pitchFamily="34" charset="0"/>
              </a:rPr>
              <a:t>ClassesChallenge</a:t>
            </a:r>
            <a:r>
              <a:rPr lang="en-US" sz="6400" dirty="0">
                <a:latin typeface="Open Sans" panose="020B0606030504020204" pitchFamily="34" charset="0"/>
                <a:ea typeface="Open Sans" panose="020B0606030504020204" pitchFamily="34" charset="0"/>
                <a:cs typeface="Open Sans" panose="020B0606030504020204" pitchFamily="34" charset="0"/>
              </a:rPr>
              <a:t> with the usual Main class with the usual main method.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You'll create an instance of an Account class and then test your withdraw and deposit methods.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You'll print information to the console that confirms what the balance is after the methods are called.</a:t>
            </a:r>
          </a:p>
        </p:txBody>
      </p:sp>
    </p:spTree>
    <p:extLst>
      <p:ext uri="{BB962C8B-B14F-4D97-AF65-F5344CB8AC3E}">
        <p14:creationId xmlns:p14="http://schemas.microsoft.com/office/powerpoint/2010/main" val="4007996506"/>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27396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Object Oriented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Classes Challenge Exercise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want to make this class encapsulated, so you'll make all your fields private and set up getter and setter methods for your fields.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addition, you'll have two behavioral methods. One for depositing funds, the other for withdrawing funds.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addition to this class, you'll set up a main class with a main method that creates at least one instance of the bank account class and simulates depositing and withdrawing money from the account.</a:t>
            </a:r>
          </a:p>
        </p:txBody>
      </p:sp>
    </p:spTree>
    <p:extLst>
      <p:ext uri="{BB962C8B-B14F-4D97-AF65-F5344CB8AC3E}">
        <p14:creationId xmlns:p14="http://schemas.microsoft.com/office/powerpoint/2010/main" val="11201852"/>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782906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Constructor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Constructors Part 1</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2793006"/>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a:t>
            </a:r>
            <a:r>
              <a:rPr lang="en-US" sz="6400" b="1" dirty="0">
                <a:latin typeface="Open Sans" panose="020B0606030504020204" pitchFamily="34" charset="0"/>
                <a:ea typeface="Open Sans" panose="020B0606030504020204" pitchFamily="34" charset="0"/>
                <a:cs typeface="Open Sans" panose="020B0606030504020204" pitchFamily="34" charset="0"/>
              </a:rPr>
              <a:t>constructor</a:t>
            </a:r>
            <a:r>
              <a:rPr lang="en-US" sz="6400" dirty="0">
                <a:latin typeface="Open Sans" panose="020B0606030504020204" pitchFamily="34" charset="0"/>
                <a:ea typeface="Open Sans" panose="020B0606030504020204" pitchFamily="34" charset="0"/>
                <a:cs typeface="Open Sans" panose="020B0606030504020204" pitchFamily="34" charset="0"/>
              </a:rPr>
              <a:t> is used in the creation of an object.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 is a special type of code block that has a specific name and parameters, much like a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 has the same name as the class itself, and it doesn't return any values.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never include a return type from a constructor, not even void.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can, and should, specify an appropriate access modifier to control who should be able to create new instances of the class, using this constructor.</a:t>
            </a:r>
          </a:p>
        </p:txBody>
      </p:sp>
      <p:pic>
        <p:nvPicPr>
          <p:cNvPr id="3" name="Picture 2">
            <a:extLst>
              <a:ext uri="{FF2B5EF4-FFF2-40B4-BE49-F238E27FC236}">
                <a16:creationId xmlns:a16="http://schemas.microsoft.com/office/drawing/2014/main" id="{5B7A6B8A-0D7D-AECF-051A-4A22F143EA00}"/>
              </a:ext>
            </a:extLst>
          </p:cNvPr>
          <p:cNvPicPr>
            <a:picLocks noChangeAspect="1"/>
          </p:cNvPicPr>
          <p:nvPr/>
        </p:nvPicPr>
        <p:blipFill>
          <a:blip r:embed="rId4"/>
          <a:stretch>
            <a:fillRect/>
          </a:stretch>
        </p:blipFill>
        <p:spPr>
          <a:xfrm>
            <a:off x="2334748" y="12590467"/>
            <a:ext cx="31906503" cy="5210214"/>
          </a:xfrm>
          <a:prstGeom prst="rect">
            <a:avLst/>
          </a:prstGeom>
        </p:spPr>
      </p:pic>
    </p:spTree>
    <p:extLst>
      <p:ext uri="{BB962C8B-B14F-4D97-AF65-F5344CB8AC3E}">
        <p14:creationId xmlns:p14="http://schemas.microsoft.com/office/powerpoint/2010/main" val="205304983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528142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default constructor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Constructors Part 1</a:t>
            </a:r>
          </a:p>
        </p:txBody>
      </p:sp>
      <p:sp>
        <p:nvSpPr>
          <p:cNvPr id="4" name="Rectangle 3">
            <a:extLst>
              <a:ext uri="{FF2B5EF4-FFF2-40B4-BE49-F238E27FC236}">
                <a16:creationId xmlns:a16="http://schemas.microsoft.com/office/drawing/2014/main" id="{6E24FDBC-E6BD-C465-442F-E39BBDC4BC72}"/>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a class contains no constructor declarations, then a default constructor is implicitly declared.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constructor has no parameters and is often called the no-</a:t>
            </a:r>
            <a:r>
              <a:rPr lang="en-US" sz="6400" dirty="0" err="1">
                <a:latin typeface="Open Sans" panose="020B0606030504020204" pitchFamily="34" charset="0"/>
                <a:ea typeface="Open Sans" panose="020B0606030504020204" pitchFamily="34" charset="0"/>
                <a:cs typeface="Open Sans" panose="020B0606030504020204" pitchFamily="34" charset="0"/>
              </a:rPr>
              <a:t>args</a:t>
            </a:r>
            <a:r>
              <a:rPr lang="en-US" sz="6400" dirty="0">
                <a:latin typeface="Open Sans" panose="020B0606030504020204" pitchFamily="34" charset="0"/>
                <a:ea typeface="Open Sans" panose="020B0606030504020204" pitchFamily="34" charset="0"/>
                <a:cs typeface="Open Sans" panose="020B0606030504020204" pitchFamily="34" charset="0"/>
              </a:rPr>
              <a:t> (no arguments) constructor.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a class contains any other constructor declarations, then a default constructor is NOT implicitly declared.</a:t>
            </a:r>
          </a:p>
        </p:txBody>
      </p:sp>
    </p:spTree>
    <p:extLst>
      <p:ext uri="{BB962C8B-B14F-4D97-AF65-F5344CB8AC3E}">
        <p14:creationId xmlns:p14="http://schemas.microsoft.com/office/powerpoint/2010/main" val="3198053148"/>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582805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Constructor overloading</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Constructors Part 1</a:t>
            </a:r>
          </a:p>
        </p:txBody>
      </p:sp>
      <p:sp>
        <p:nvSpPr>
          <p:cNvPr id="4" name="Rectangle 3">
            <a:extLst>
              <a:ext uri="{FF2B5EF4-FFF2-40B4-BE49-F238E27FC236}">
                <a16:creationId xmlns:a16="http://schemas.microsoft.com/office/drawing/2014/main" id="{6E24FDBC-E6BD-C465-442F-E39BBDC4BC72}"/>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Constructor overloading is declaring multiple constructors with different parameters.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number of parameters can be different between constructors.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Or if the number of parameters is the same between two constructors, their types, or order of the types must differ.</a:t>
            </a:r>
          </a:p>
        </p:txBody>
      </p:sp>
    </p:spTree>
    <p:extLst>
      <p:ext uri="{BB962C8B-B14F-4D97-AF65-F5344CB8AC3E}">
        <p14:creationId xmlns:p14="http://schemas.microsoft.com/office/powerpoint/2010/main" val="3978754698"/>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028279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Constructor chaining with this()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Constructors Part 2</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Constructor chaining is when one constructor explicitly calls another overloaded constructor.</a:t>
            </a:r>
          </a:p>
          <a:p>
            <a:pPr algn="l">
              <a:spcAft>
                <a:spcPts val="5022"/>
              </a:spcAft>
            </a:pPr>
            <a:r>
              <a:rPr lang="en-US" sz="6400">
                <a:latin typeface="Open Sans" panose="020B0606030504020204" pitchFamily="34" charset="0"/>
                <a:ea typeface="Open Sans" panose="020B0606030504020204" pitchFamily="34" charset="0"/>
                <a:cs typeface="Open Sans" panose="020B0606030504020204" pitchFamily="34" charset="0"/>
              </a:rPr>
              <a:t>You can only use constructor chaining, within constructors.</a:t>
            </a: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must use the special statement </a:t>
            </a:r>
            <a:r>
              <a:rPr lang="en-US" sz="6400"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to execute another constructor, passing it arguments if required.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And </a:t>
            </a:r>
            <a:r>
              <a:rPr lang="en-US" sz="6400"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must be the first executable statement if it's used from another constructor.</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669882118"/>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019463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Constructor Challenge Exercise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Constructor Challenge Exercise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video, I'm going to give you a challenge, to review what you learned about constructors so far.</a:t>
            </a:r>
          </a:p>
        </p:txBody>
      </p:sp>
    </p:spTree>
    <p:extLst>
      <p:ext uri="{BB962C8B-B14F-4D97-AF65-F5344CB8AC3E}">
        <p14:creationId xmlns:p14="http://schemas.microsoft.com/office/powerpoint/2010/main" val="47155905"/>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547252"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Constructor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Constructor Challenge Exercise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for this challenge, you'll want to:</a:t>
            </a:r>
          </a:p>
          <a:p>
            <a:pPr marL="1143000" indent="-1143000" algn="l">
              <a:spcAft>
                <a:spcPts val="5022"/>
              </a:spcAft>
              <a:buFont typeface="+mj-lt"/>
              <a:buAutoNum type="arabicPeriod"/>
            </a:pPr>
            <a:r>
              <a:rPr lang="en-US" sz="6400" dirty="0">
                <a:latin typeface="Open Sans" panose="020B0606030504020204" pitchFamily="34" charset="0"/>
                <a:ea typeface="Open Sans" panose="020B0606030504020204" pitchFamily="34" charset="0"/>
                <a:cs typeface="Open Sans" panose="020B0606030504020204" pitchFamily="34" charset="0"/>
              </a:rPr>
              <a:t>Create a new class, called Customer, with three fields:</a:t>
            </a:r>
          </a:p>
          <a:p>
            <a:pPr marL="1864800" indent="-114300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name</a:t>
            </a:r>
          </a:p>
          <a:p>
            <a:pPr marL="1864800" indent="-114300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credit limit</a:t>
            </a:r>
          </a:p>
          <a:p>
            <a:pPr marL="1864800" indent="-114300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email address.</a:t>
            </a:r>
          </a:p>
          <a:p>
            <a:pPr marL="1143000" indent="-1143000" algn="l">
              <a:spcAft>
                <a:spcPts val="5022"/>
              </a:spcAft>
              <a:buFont typeface="+mj-lt"/>
              <a:buAutoNum type="arabicPeriod" startAt="2"/>
            </a:pPr>
            <a:r>
              <a:rPr lang="en-US" sz="6400" dirty="0">
                <a:latin typeface="Open Sans" panose="020B0606030504020204" pitchFamily="34" charset="0"/>
                <a:ea typeface="Open Sans" panose="020B0606030504020204" pitchFamily="34" charset="0"/>
                <a:cs typeface="Open Sans" panose="020B0606030504020204" pitchFamily="34" charset="0"/>
              </a:rPr>
              <a:t>Create the getter methods only, for each field.  You don't need to create the setters.</a:t>
            </a:r>
          </a:p>
        </p:txBody>
      </p:sp>
    </p:spTree>
    <p:extLst>
      <p:ext uri="{BB962C8B-B14F-4D97-AF65-F5344CB8AC3E}">
        <p14:creationId xmlns:p14="http://schemas.microsoft.com/office/powerpoint/2010/main" val="2230899874"/>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54725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Constructor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Constructor Challenge Exercise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marL="1143000" indent="-1143000" algn="l">
              <a:spcAft>
                <a:spcPts val="5022"/>
              </a:spcAft>
              <a:buFont typeface="+mj-lt"/>
              <a:buAutoNum type="arabicPeriod" startAt="3"/>
            </a:pPr>
            <a:r>
              <a:rPr lang="en-US" sz="6400" dirty="0">
                <a:latin typeface="Open Sans" panose="020B0606030504020204" pitchFamily="34" charset="0"/>
                <a:ea typeface="Open Sans" panose="020B0606030504020204" pitchFamily="34" charset="0"/>
                <a:cs typeface="Open Sans" panose="020B0606030504020204" pitchFamily="34" charset="0"/>
              </a:rPr>
              <a:t>Create three constructors for this class:</a:t>
            </a:r>
          </a:p>
          <a:p>
            <a:pPr marL="1864800" indent="-114300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First, create a constructor for all three fields which should assign the arguments directly to the instance fields.</a:t>
            </a:r>
          </a:p>
          <a:p>
            <a:pPr marL="1864800" indent="-114300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Second, create a no </a:t>
            </a:r>
            <a:r>
              <a:rPr lang="en-US" sz="6400" dirty="0" err="1">
                <a:latin typeface="Open Sans" panose="020B0606030504020204" pitchFamily="34" charset="0"/>
                <a:ea typeface="Open Sans" panose="020B0606030504020204" pitchFamily="34" charset="0"/>
                <a:cs typeface="Open Sans" panose="020B0606030504020204" pitchFamily="34" charset="0"/>
              </a:rPr>
              <a:t>args</a:t>
            </a:r>
            <a:r>
              <a:rPr lang="en-US" sz="6400" dirty="0">
                <a:latin typeface="Open Sans" panose="020B0606030504020204" pitchFamily="34" charset="0"/>
                <a:ea typeface="Open Sans" panose="020B0606030504020204" pitchFamily="34" charset="0"/>
                <a:cs typeface="Open Sans" panose="020B0606030504020204" pitchFamily="34" charset="0"/>
              </a:rPr>
              <a:t> constructor that calls another constructor, passing some literal values for each argument.</a:t>
            </a:r>
          </a:p>
          <a:p>
            <a:pPr marL="1864800" indent="-114300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And lastly, create a constructor with just the name and email parameters, which also calls another constructor.</a:t>
            </a:r>
          </a:p>
        </p:txBody>
      </p:sp>
    </p:spTree>
    <p:extLst>
      <p:ext uri="{BB962C8B-B14F-4D97-AF65-F5344CB8AC3E}">
        <p14:creationId xmlns:p14="http://schemas.microsoft.com/office/powerpoint/2010/main" val="3074455058"/>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584361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video, we're going to talk about references, vs. objects, vs. instances, vs. classes.</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3690711"/>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584361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use the words, </a:t>
            </a:r>
            <a:r>
              <a:rPr lang="en-US" sz="6400" b="1" dirty="0">
                <a:latin typeface="Open Sans" panose="020B0606030504020204" pitchFamily="34" charset="0"/>
                <a:ea typeface="Open Sans" panose="020B0606030504020204" pitchFamily="34" charset="0"/>
                <a:cs typeface="Open Sans" panose="020B0606030504020204" pitchFamily="34" charset="0"/>
              </a:rPr>
              <a:t>reference</a:t>
            </a:r>
            <a:r>
              <a:rPr lang="en-US" sz="6400" dirty="0">
                <a:latin typeface="Open Sans" panose="020B0606030504020204" pitchFamily="34" charset="0"/>
                <a:ea typeface="Open Sans" panose="020B0606030504020204" pitchFamily="34" charset="0"/>
                <a:cs typeface="Open Sans" panose="020B0606030504020204" pitchFamily="34" charset="0"/>
              </a:rPr>
              <a:t>, </a:t>
            </a:r>
            <a:r>
              <a:rPr lang="en-US" sz="6400" b="1" dirty="0">
                <a:latin typeface="Open Sans" panose="020B0606030504020204" pitchFamily="34" charset="0"/>
                <a:ea typeface="Open Sans" panose="020B0606030504020204" pitchFamily="34" charset="0"/>
                <a:cs typeface="Open Sans" panose="020B0606030504020204" pitchFamily="34" charset="0"/>
              </a:rPr>
              <a:t>object</a:t>
            </a:r>
            <a:r>
              <a:rPr lang="en-US" sz="6400" dirty="0">
                <a:latin typeface="Open Sans" panose="020B0606030504020204" pitchFamily="34" charset="0"/>
                <a:ea typeface="Open Sans" panose="020B0606030504020204" pitchFamily="34" charset="0"/>
                <a:cs typeface="Open Sans" panose="020B0606030504020204" pitchFamily="34" charset="0"/>
              </a:rPr>
              <a:t>, </a:t>
            </a:r>
            <a:r>
              <a:rPr lang="en-US" sz="6400" b="1" dirty="0">
                <a:latin typeface="Open Sans" panose="020B0606030504020204" pitchFamily="34" charset="0"/>
                <a:ea typeface="Open Sans" panose="020B0606030504020204" pitchFamily="34" charset="0"/>
                <a:cs typeface="Open Sans" panose="020B0606030504020204" pitchFamily="34" charset="0"/>
              </a:rPr>
              <a:t>instance</a:t>
            </a:r>
            <a:r>
              <a:rPr lang="en-US" sz="6400" dirty="0">
                <a:latin typeface="Open Sans" panose="020B0606030504020204" pitchFamily="34" charset="0"/>
                <a:ea typeface="Open Sans" panose="020B0606030504020204" pitchFamily="34" charset="0"/>
                <a:cs typeface="Open Sans" panose="020B0606030504020204" pitchFamily="34" charset="0"/>
              </a:rPr>
              <a:t> and </a:t>
            </a:r>
            <a:r>
              <a:rPr lang="en-US" sz="6400" b="1" dirty="0">
                <a:latin typeface="Open Sans" panose="020B0606030504020204" pitchFamily="34" charset="0"/>
                <a:ea typeface="Open Sans" panose="020B0606030504020204" pitchFamily="34" charset="0"/>
                <a:cs typeface="Open Sans" panose="020B0606030504020204" pitchFamily="34" charset="0"/>
              </a:rPr>
              <a:t>class</a:t>
            </a:r>
            <a:r>
              <a:rPr lang="en-US" sz="6400" dirty="0">
                <a:latin typeface="Open Sans" panose="020B0606030504020204" pitchFamily="34" charset="0"/>
                <a:ea typeface="Open Sans" panose="020B0606030504020204" pitchFamily="34" charset="0"/>
                <a:cs typeface="Open Sans" panose="020B0606030504020204" pitchFamily="34" charset="0"/>
              </a:rPr>
              <a:t>, quite a lot when talking about Java code.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new concepts may well be confusing at first.</a:t>
            </a:r>
          </a:p>
        </p:txBody>
      </p:sp>
    </p:spTree>
    <p:extLst>
      <p:ext uri="{BB962C8B-B14F-4D97-AF65-F5344CB8AC3E}">
        <p14:creationId xmlns:p14="http://schemas.microsoft.com/office/powerpoint/2010/main" val="866224358"/>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26113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cxnSp>
        <p:nvCxnSpPr>
          <p:cNvPr id="2" name="Connector: Elbow 1">
            <a:extLst>
              <a:ext uri="{FF2B5EF4-FFF2-40B4-BE49-F238E27FC236}">
                <a16:creationId xmlns:a16="http://schemas.microsoft.com/office/drawing/2014/main" id="{0009A8DD-FE65-262C-7FAE-788C3C05E91C}"/>
              </a:ext>
            </a:extLst>
          </p:cNvPr>
          <p:cNvCxnSpPr>
            <a:cxnSpLocks/>
            <a:stCxn id="4" idx="2"/>
            <a:endCxn id="5" idx="1"/>
          </p:cNvCxnSpPr>
          <p:nvPr/>
        </p:nvCxnSpPr>
        <p:spPr>
          <a:xfrm rot="5400000">
            <a:off x="12611793" y="4827097"/>
            <a:ext cx="5864589" cy="5487826"/>
          </a:xfrm>
          <a:prstGeom prst="bentConnector3">
            <a:avLst>
              <a:gd name="adj1" fmla="val 11498"/>
            </a:avLst>
          </a:prstGeom>
          <a:noFill/>
          <a:ln w="76200" cap="flat">
            <a:solidFill>
              <a:schemeClr val="accent1"/>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 name="Connector: Elbow 2">
            <a:extLst>
              <a:ext uri="{FF2B5EF4-FFF2-40B4-BE49-F238E27FC236}">
                <a16:creationId xmlns:a16="http://schemas.microsoft.com/office/drawing/2014/main" id="{188BDD57-E784-E646-E3EE-1780407A3373}"/>
              </a:ext>
            </a:extLst>
          </p:cNvPr>
          <p:cNvCxnSpPr>
            <a:cxnSpLocks/>
            <a:stCxn id="4" idx="2"/>
            <a:endCxn id="6" idx="7"/>
          </p:cNvCxnSpPr>
          <p:nvPr/>
        </p:nvCxnSpPr>
        <p:spPr>
          <a:xfrm rot="16200000" flipH="1">
            <a:off x="17992229" y="4934487"/>
            <a:ext cx="5700839" cy="5109296"/>
          </a:xfrm>
          <a:prstGeom prst="bentConnector3">
            <a:avLst>
              <a:gd name="adj1" fmla="val 11701"/>
            </a:avLst>
          </a:prstGeom>
          <a:noFill/>
          <a:ln w="76200" cap="flat">
            <a:solidFill>
              <a:schemeClr val="accent1"/>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 name="Rectangle 3">
            <a:extLst>
              <a:ext uri="{FF2B5EF4-FFF2-40B4-BE49-F238E27FC236}">
                <a16:creationId xmlns:a16="http://schemas.microsoft.com/office/drawing/2014/main" id="{5F42A791-B8D4-6662-C99A-9FF01A13FC28}"/>
              </a:ext>
            </a:extLst>
          </p:cNvPr>
          <p:cNvSpPr/>
          <p:nvPr/>
        </p:nvSpPr>
        <p:spPr>
          <a:xfrm>
            <a:off x="14630400" y="2781797"/>
            <a:ext cx="7315200" cy="1856919"/>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spcBef>
                <a:spcPts val="3000"/>
              </a:spcBef>
              <a:spcAft>
                <a:spcPts val="3000"/>
              </a:spcAft>
              <a:buClrTx/>
              <a:buSzTx/>
              <a:buFontTx/>
              <a:buNone/>
              <a:tabLst/>
            </a:pPr>
            <a:r>
              <a:rPr kumimoji="0" lang="en-US" sz="64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rPr>
              <a:t>Class</a:t>
            </a:r>
            <a:endParaRPr kumimoji="0" lang="en-PH" sz="64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5" name="Oval 4">
            <a:extLst>
              <a:ext uri="{FF2B5EF4-FFF2-40B4-BE49-F238E27FC236}">
                <a16:creationId xmlns:a16="http://schemas.microsoft.com/office/drawing/2014/main" id="{B2A7AE9D-5902-34D9-8E52-572A249B19FC}"/>
              </a:ext>
            </a:extLst>
          </p:cNvPr>
          <p:cNvSpPr/>
          <p:nvPr/>
        </p:nvSpPr>
        <p:spPr>
          <a:xfrm>
            <a:off x="11928387" y="10082878"/>
            <a:ext cx="5952931" cy="2870855"/>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3600"/>
              </a:spcBef>
              <a:spcAft>
                <a:spcPts val="3600"/>
              </a:spcAft>
              <a:buClrTx/>
              <a:buSzTx/>
              <a:buFontTx/>
              <a:buNone/>
              <a:tabLst/>
            </a:pPr>
            <a:r>
              <a:rPr kumimoji="0" lang="en-US" sz="64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rPr>
              <a:t>Object</a:t>
            </a:r>
            <a:endParaRPr kumimoji="0" lang="en-PH" sz="64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6" name="Oval 5">
            <a:extLst>
              <a:ext uri="{FF2B5EF4-FFF2-40B4-BE49-F238E27FC236}">
                <a16:creationId xmlns:a16="http://schemas.microsoft.com/office/drawing/2014/main" id="{6581BDFD-1B04-E4EA-4FFB-EF1C739BC071}"/>
              </a:ext>
            </a:extLst>
          </p:cNvPr>
          <p:cNvSpPr/>
          <p:nvPr/>
        </p:nvSpPr>
        <p:spPr>
          <a:xfrm>
            <a:off x="18316152" y="9919128"/>
            <a:ext cx="5952931" cy="2870855"/>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3600"/>
              </a:spcBef>
              <a:spcAft>
                <a:spcPts val="3600"/>
              </a:spcAft>
              <a:buClrTx/>
              <a:buSzTx/>
              <a:buFontTx/>
              <a:buNone/>
              <a:tabLst/>
            </a:pPr>
            <a:r>
              <a:rPr lang="en-US" sz="6400">
                <a:solidFill>
                  <a:srgbClr val="FFFFFF"/>
                </a:solidFill>
                <a:latin typeface="Open Sans" panose="020B0606030504020204" pitchFamily="34" charset="0"/>
                <a:ea typeface="Open Sans" panose="020B0606030504020204" pitchFamily="34" charset="0"/>
                <a:cs typeface="Open Sans" panose="020B0606030504020204" pitchFamily="34" charset="0"/>
              </a:rPr>
              <a:t>I</a:t>
            </a:r>
            <a:r>
              <a:rPr kumimoji="0" lang="en-US" sz="64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rPr>
              <a:t>nstance</a:t>
            </a:r>
            <a:endParaRPr kumimoji="0" lang="en-PH" sz="64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7" name="Oval 6">
            <a:extLst>
              <a:ext uri="{FF2B5EF4-FFF2-40B4-BE49-F238E27FC236}">
                <a16:creationId xmlns:a16="http://schemas.microsoft.com/office/drawing/2014/main" id="{8B56BD33-70B3-00E8-E2D5-379A452BC113}"/>
              </a:ext>
            </a:extLst>
          </p:cNvPr>
          <p:cNvSpPr/>
          <p:nvPr/>
        </p:nvSpPr>
        <p:spPr>
          <a:xfrm>
            <a:off x="15138642" y="11969771"/>
            <a:ext cx="5952931" cy="2870855"/>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3600"/>
              </a:spcBef>
              <a:spcAft>
                <a:spcPts val="3600"/>
              </a:spcAft>
              <a:buClrTx/>
              <a:buSzTx/>
              <a:buFontTx/>
              <a:buNone/>
              <a:tabLst/>
            </a:pPr>
            <a:r>
              <a:rPr kumimoji="0" lang="en-US" sz="64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rPr>
              <a:t>Object</a:t>
            </a:r>
            <a:endParaRPr kumimoji="0" lang="en-PH" sz="64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11" name="Oval 10">
            <a:extLst>
              <a:ext uri="{FF2B5EF4-FFF2-40B4-BE49-F238E27FC236}">
                <a16:creationId xmlns:a16="http://schemas.microsoft.com/office/drawing/2014/main" id="{0A8FE4C0-640C-6F7D-C964-CC15181E5243}"/>
              </a:ext>
            </a:extLst>
          </p:cNvPr>
          <p:cNvSpPr/>
          <p:nvPr/>
        </p:nvSpPr>
        <p:spPr>
          <a:xfrm>
            <a:off x="16961188" y="14401197"/>
            <a:ext cx="5952931" cy="2870855"/>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3600"/>
              </a:spcBef>
              <a:spcAft>
                <a:spcPts val="3600"/>
              </a:spcAft>
              <a:buClrTx/>
              <a:buSzTx/>
              <a:buFontTx/>
              <a:buNone/>
              <a:tabLst/>
            </a:pPr>
            <a:r>
              <a:rPr kumimoji="0" lang="en-US" sz="64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rPr>
              <a:t>Instance</a:t>
            </a:r>
            <a:endParaRPr kumimoji="0" lang="en-PH" sz="64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12" name="Oval 11">
            <a:extLst>
              <a:ext uri="{FF2B5EF4-FFF2-40B4-BE49-F238E27FC236}">
                <a16:creationId xmlns:a16="http://schemas.microsoft.com/office/drawing/2014/main" id="{FFD0F831-ADDD-C9A6-1415-027C3F66F825}"/>
              </a:ext>
            </a:extLst>
          </p:cNvPr>
          <p:cNvSpPr/>
          <p:nvPr/>
        </p:nvSpPr>
        <p:spPr>
          <a:xfrm>
            <a:off x="20316213" y="12300210"/>
            <a:ext cx="5952931" cy="2870855"/>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3600"/>
              </a:spcBef>
              <a:spcAft>
                <a:spcPts val="3600"/>
              </a:spcAft>
              <a:buClrTx/>
              <a:buSzTx/>
              <a:buFontTx/>
              <a:buNone/>
              <a:tabLst/>
            </a:pPr>
            <a:r>
              <a:rPr kumimoji="0" lang="en-US" sz="64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rPr>
              <a:t>Object</a:t>
            </a:r>
            <a:endParaRPr kumimoji="0" lang="en-PH" sz="64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13" name="Rectangle 12">
            <a:extLst>
              <a:ext uri="{FF2B5EF4-FFF2-40B4-BE49-F238E27FC236}">
                <a16:creationId xmlns:a16="http://schemas.microsoft.com/office/drawing/2014/main" id="{9F173C03-48B2-F9CC-5556-BD4DF9CD8CE0}"/>
              </a:ext>
            </a:extLst>
          </p:cNvPr>
          <p:cNvSpPr/>
          <p:nvPr/>
        </p:nvSpPr>
        <p:spPr>
          <a:xfrm>
            <a:off x="13381556" y="5577179"/>
            <a:ext cx="9467102" cy="2172757"/>
          </a:xfrm>
          <a:prstGeom prst="rect">
            <a:avLst/>
          </a:prstGeom>
        </p:spPr>
        <p:txBody>
          <a:bodyPr wrap="square">
            <a:normAutofit/>
          </a:bodyPr>
          <a:lstStyle/>
          <a:p>
            <a:pPr algn="l">
              <a:spcAft>
                <a:spcPts val="5022"/>
              </a:spcAft>
            </a:pPr>
            <a:r>
              <a:rPr lang="en-US" sz="6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You create an object by ‘instantiating a </a:t>
            </a:r>
            <a:r>
              <a:rPr lang="en-US" sz="6400"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class’</a:t>
            </a:r>
            <a:endParaRPr lang="en-US" sz="6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B2921B2-791C-FDAA-EF87-7207DC9B444E}"/>
              </a:ext>
            </a:extLst>
          </p:cNvPr>
          <p:cNvSpPr/>
          <p:nvPr/>
        </p:nvSpPr>
        <p:spPr>
          <a:xfrm>
            <a:off x="26951866" y="9323623"/>
            <a:ext cx="8430304" cy="5292295"/>
          </a:xfrm>
          <a:prstGeom prst="rect">
            <a:avLst/>
          </a:prstGeom>
        </p:spPr>
        <p:txBody>
          <a:bodyPr wrap="square">
            <a:normAutofit/>
          </a:bodyPr>
          <a:lstStyle/>
          <a:p>
            <a:pPr algn="l">
              <a:spcAft>
                <a:spcPts val="5022"/>
              </a:spcAft>
            </a:pPr>
            <a:r>
              <a:rPr lang="en-US" sz="6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You can create many objects using a single class. Each may have unique attributes or values</a:t>
            </a:r>
          </a:p>
        </p:txBody>
      </p:sp>
      <p:sp>
        <p:nvSpPr>
          <p:cNvPr id="15" name="Rectangle 14">
            <a:extLst>
              <a:ext uri="{FF2B5EF4-FFF2-40B4-BE49-F238E27FC236}">
                <a16:creationId xmlns:a16="http://schemas.microsoft.com/office/drawing/2014/main" id="{0F1FFA59-1452-88D5-2FE9-2234C133C4DF}"/>
              </a:ext>
            </a:extLst>
          </p:cNvPr>
          <p:cNvSpPr/>
          <p:nvPr/>
        </p:nvSpPr>
        <p:spPr>
          <a:xfrm>
            <a:off x="2588709" y="14436626"/>
            <a:ext cx="9425094" cy="2290995"/>
          </a:xfrm>
          <a:prstGeom prst="rect">
            <a:avLst/>
          </a:prstGeom>
        </p:spPr>
        <p:txBody>
          <a:bodyPr wrap="square">
            <a:normAutofit/>
          </a:bodyPr>
          <a:lstStyle/>
          <a:p>
            <a:pPr algn="l">
              <a:spcAft>
                <a:spcPts val="5022"/>
              </a:spcAft>
            </a:pPr>
            <a:r>
              <a:rPr lang="en-US" sz="6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Object and instance are interchangeable terms</a:t>
            </a:r>
          </a:p>
        </p:txBody>
      </p:sp>
    </p:spTree>
    <p:extLst>
      <p:ext uri="{BB962C8B-B14F-4D97-AF65-F5344CB8AC3E}">
        <p14:creationId xmlns:p14="http://schemas.microsoft.com/office/powerpoint/2010/main" val="548029457"/>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584361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lnSpcReduction="10000"/>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Let's use the analogy of building a house to understand classes.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class is basically a blueprint for the house.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Using the blueprint, we can build as many houses as we like, based on those plans.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Each house we build (in other words using the new operator) is an object.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object can also be known as an instance, often we'll say it's an instance of the class.  So we would have an instance of house in this example.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Each house we build has an address (a physical location).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other words, if we want to tell someone where we live, we give them our address (perhaps written on a piece of paper). This is known as a reference.</a:t>
            </a:r>
          </a:p>
        </p:txBody>
      </p:sp>
    </p:spTree>
    <p:extLst>
      <p:ext uri="{BB962C8B-B14F-4D97-AF65-F5344CB8AC3E}">
        <p14:creationId xmlns:p14="http://schemas.microsoft.com/office/powerpoint/2010/main" val="3780322292"/>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584361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can copy that reference as many times as we like, but there is still just one house that we're referring to.</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other words, we're copying the paper that has the address on it, not the house itself.</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can pass references as parameters to constructors and methods.</a:t>
            </a:r>
          </a:p>
        </p:txBody>
      </p:sp>
    </p:spTree>
    <p:extLst>
      <p:ext uri="{BB962C8B-B14F-4D97-AF65-F5344CB8AC3E}">
        <p14:creationId xmlns:p14="http://schemas.microsoft.com/office/powerpoint/2010/main" val="1262332716"/>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584361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pic>
        <p:nvPicPr>
          <p:cNvPr id="3" name="Picture 2">
            <a:extLst>
              <a:ext uri="{FF2B5EF4-FFF2-40B4-BE49-F238E27FC236}">
                <a16:creationId xmlns:a16="http://schemas.microsoft.com/office/drawing/2014/main" id="{98AA9A4A-BB44-1238-31FF-D50F5124BA98}"/>
              </a:ext>
            </a:extLst>
          </p:cNvPr>
          <p:cNvPicPr>
            <a:picLocks noChangeAspect="1"/>
          </p:cNvPicPr>
          <p:nvPr/>
        </p:nvPicPr>
        <p:blipFill>
          <a:blip r:embed="rId4"/>
          <a:stretch>
            <a:fillRect/>
          </a:stretch>
        </p:blipFill>
        <p:spPr>
          <a:xfrm>
            <a:off x="15917640" y="3020810"/>
            <a:ext cx="19817528" cy="14016698"/>
          </a:xfrm>
          <a:prstGeom prst="rect">
            <a:avLst/>
          </a:prstGeom>
        </p:spPr>
      </p:pic>
      <p:pic>
        <p:nvPicPr>
          <p:cNvPr id="5" name="Picture 4">
            <a:extLst>
              <a:ext uri="{FF2B5EF4-FFF2-40B4-BE49-F238E27FC236}">
                <a16:creationId xmlns:a16="http://schemas.microsoft.com/office/drawing/2014/main" id="{1EFAE230-8B50-C231-937E-A98772C762CD}"/>
              </a:ext>
            </a:extLst>
          </p:cNvPr>
          <p:cNvPicPr>
            <a:picLocks noChangeAspect="1"/>
          </p:cNvPicPr>
          <p:nvPr/>
        </p:nvPicPr>
        <p:blipFill>
          <a:blip r:embed="rId5"/>
          <a:stretch>
            <a:fillRect/>
          </a:stretch>
        </p:blipFill>
        <p:spPr>
          <a:xfrm>
            <a:off x="952498" y="3020810"/>
            <a:ext cx="12404211" cy="10234069"/>
          </a:xfrm>
          <a:prstGeom prst="rect">
            <a:avLst/>
          </a:prstGeom>
        </p:spPr>
      </p:pic>
      <p:sp>
        <p:nvSpPr>
          <p:cNvPr id="11" name="Shape 128">
            <a:extLst>
              <a:ext uri="{FF2B5EF4-FFF2-40B4-BE49-F238E27FC236}">
                <a16:creationId xmlns:a16="http://schemas.microsoft.com/office/drawing/2014/main" id="{1AE79652-8A4F-7F72-4AED-27F4080F47CC}"/>
              </a:ext>
            </a:extLst>
          </p:cNvPr>
          <p:cNvSpPr/>
          <p:nvPr/>
        </p:nvSpPr>
        <p:spPr>
          <a:xfrm>
            <a:off x="14650974" y="2203340"/>
            <a:ext cx="0" cy="16007167"/>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spTree>
    <p:extLst>
      <p:ext uri="{BB962C8B-B14F-4D97-AF65-F5344CB8AC3E}">
        <p14:creationId xmlns:p14="http://schemas.microsoft.com/office/powerpoint/2010/main" val="62034998"/>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584361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pic>
        <p:nvPicPr>
          <p:cNvPr id="3" name="Picture 2">
            <a:extLst>
              <a:ext uri="{FF2B5EF4-FFF2-40B4-BE49-F238E27FC236}">
                <a16:creationId xmlns:a16="http://schemas.microsoft.com/office/drawing/2014/main" id="{98AA9A4A-BB44-1238-31FF-D50F5124BA98}"/>
              </a:ext>
            </a:extLst>
          </p:cNvPr>
          <p:cNvPicPr>
            <a:picLocks noChangeAspect="1"/>
          </p:cNvPicPr>
          <p:nvPr/>
        </p:nvPicPr>
        <p:blipFill>
          <a:blip r:embed="rId4"/>
          <a:stretch>
            <a:fillRect/>
          </a:stretch>
        </p:blipFill>
        <p:spPr>
          <a:xfrm>
            <a:off x="17241106" y="2593010"/>
            <a:ext cx="17284638" cy="12225215"/>
          </a:xfrm>
          <a:prstGeom prst="rect">
            <a:avLst/>
          </a:prstGeom>
        </p:spPr>
      </p:pic>
      <p:sp>
        <p:nvSpPr>
          <p:cNvPr id="2" name="Rectangle 1">
            <a:extLst>
              <a:ext uri="{FF2B5EF4-FFF2-40B4-BE49-F238E27FC236}">
                <a16:creationId xmlns:a16="http://schemas.microsoft.com/office/drawing/2014/main" id="{8576AF1B-06A9-326E-ACAD-562A3D1496C1}"/>
              </a:ext>
            </a:extLst>
          </p:cNvPr>
          <p:cNvSpPr/>
          <p:nvPr/>
        </p:nvSpPr>
        <p:spPr>
          <a:xfrm>
            <a:off x="952501" y="14978783"/>
            <a:ext cx="34782670" cy="3071174"/>
          </a:xfrm>
          <a:prstGeom prst="rect">
            <a:avLst/>
          </a:prstGeom>
        </p:spPr>
        <p:txBody>
          <a:bodyPr wrap="square">
            <a:normAutofit fontScale="92500"/>
          </a:bodyPr>
          <a:lstStyle/>
          <a:p>
            <a:pPr algn="l">
              <a:spcAft>
                <a:spcPts val="5022"/>
              </a:spcAft>
            </a:pPr>
            <a:r>
              <a:rPr lang="en-US" sz="6000" dirty="0">
                <a:latin typeface="Open Sans" panose="020B0606030504020204" pitchFamily="34" charset="0"/>
                <a:ea typeface="Open Sans" panose="020B0606030504020204" pitchFamily="34" charset="0"/>
                <a:cs typeface="Open Sans" panose="020B0606030504020204" pitchFamily="34" charset="0"/>
              </a:rPr>
              <a:t>The line </a:t>
            </a:r>
            <a:r>
              <a:rPr lang="en-US" sz="6000" b="1" dirty="0">
                <a:latin typeface="Open Sans" panose="020B0606030504020204" pitchFamily="34" charset="0"/>
                <a:ea typeface="Open Sans" panose="020B0606030504020204" pitchFamily="34" charset="0"/>
                <a:cs typeface="Open Sans" panose="020B0606030504020204" pitchFamily="34" charset="0"/>
              </a:rPr>
              <a:t>House </a:t>
            </a:r>
            <a:r>
              <a:rPr lang="en-US" sz="6000" b="1" dirty="0" err="1">
                <a:latin typeface="Open Sans" panose="020B0606030504020204" pitchFamily="34" charset="0"/>
                <a:ea typeface="Open Sans" panose="020B0606030504020204" pitchFamily="34" charset="0"/>
                <a:cs typeface="Open Sans" panose="020B0606030504020204" pitchFamily="34" charset="0"/>
              </a:rPr>
              <a:t>blueHouse</a:t>
            </a:r>
            <a:r>
              <a:rPr lang="en-US" sz="6000" b="1" dirty="0">
                <a:latin typeface="Open Sans" panose="020B0606030504020204" pitchFamily="34" charset="0"/>
                <a:ea typeface="Open Sans" panose="020B0606030504020204" pitchFamily="34" charset="0"/>
                <a:cs typeface="Open Sans" panose="020B0606030504020204" pitchFamily="34" charset="0"/>
              </a:rPr>
              <a:t> = new House(“blue”); </a:t>
            </a:r>
            <a:r>
              <a:rPr lang="en-US" sz="6000" dirty="0">
                <a:latin typeface="Open Sans" panose="020B0606030504020204" pitchFamily="34" charset="0"/>
                <a:ea typeface="Open Sans" panose="020B0606030504020204" pitchFamily="34" charset="0"/>
                <a:cs typeface="Open Sans" panose="020B0606030504020204" pitchFamily="34" charset="0"/>
              </a:rPr>
              <a:t>creates a new </a:t>
            </a:r>
            <a:r>
              <a:rPr lang="en-US" sz="6000" b="1" dirty="0">
                <a:latin typeface="Open Sans" panose="020B0606030504020204" pitchFamily="34" charset="0"/>
                <a:ea typeface="Open Sans" panose="020B0606030504020204" pitchFamily="34" charset="0"/>
                <a:cs typeface="Open Sans" panose="020B0606030504020204" pitchFamily="34" charset="0"/>
              </a:rPr>
              <a:t>instance</a:t>
            </a:r>
            <a:r>
              <a:rPr lang="en-US" sz="6000" dirty="0">
                <a:latin typeface="Open Sans" panose="020B0606030504020204" pitchFamily="34" charset="0"/>
                <a:ea typeface="Open Sans" panose="020B0606030504020204" pitchFamily="34" charset="0"/>
                <a:cs typeface="Open Sans" panose="020B0606030504020204" pitchFamily="34" charset="0"/>
              </a:rPr>
              <a:t> of the House </a:t>
            </a:r>
            <a:r>
              <a:rPr lang="en-US" sz="6000" b="1" dirty="0">
                <a:latin typeface="Open Sans" panose="020B0606030504020204" pitchFamily="34" charset="0"/>
                <a:ea typeface="Open Sans" panose="020B0606030504020204" pitchFamily="34" charset="0"/>
                <a:cs typeface="Open Sans" panose="020B0606030504020204" pitchFamily="34" charset="0"/>
              </a:rPr>
              <a:t>class</a:t>
            </a:r>
            <a:r>
              <a:rPr lang="en-US" sz="6000" dirty="0">
                <a:latin typeface="Open Sans" panose="020B0606030504020204" pitchFamily="34" charset="0"/>
                <a:ea typeface="Open Sans" panose="020B0606030504020204" pitchFamily="34" charset="0"/>
                <a:cs typeface="Open Sans" panose="020B0606030504020204" pitchFamily="34" charset="0"/>
              </a:rPr>
              <a:t>. Remember House is a blueprint, and we are assigning it to the </a:t>
            </a:r>
            <a:r>
              <a:rPr lang="en-US" sz="6000" dirty="0" err="1">
                <a:latin typeface="Open Sans" panose="020B0606030504020204" pitchFamily="34" charset="0"/>
                <a:ea typeface="Open Sans" panose="020B0606030504020204" pitchFamily="34" charset="0"/>
                <a:cs typeface="Open Sans" panose="020B0606030504020204" pitchFamily="34" charset="0"/>
              </a:rPr>
              <a:t>blueHouse</a:t>
            </a:r>
            <a:r>
              <a:rPr lang="en-US" sz="6000" dirty="0">
                <a:latin typeface="Open Sans" panose="020B0606030504020204" pitchFamily="34" charset="0"/>
                <a:ea typeface="Open Sans" panose="020B0606030504020204" pitchFamily="34" charset="0"/>
                <a:cs typeface="Open Sans" panose="020B0606030504020204" pitchFamily="34" charset="0"/>
              </a:rPr>
              <a:t> </a:t>
            </a:r>
            <a:r>
              <a:rPr lang="en-US" sz="6000" b="1" dirty="0">
                <a:latin typeface="Open Sans" panose="020B0606030504020204" pitchFamily="34" charset="0"/>
                <a:ea typeface="Open Sans" panose="020B0606030504020204" pitchFamily="34" charset="0"/>
                <a:cs typeface="Open Sans" panose="020B0606030504020204" pitchFamily="34" charset="0"/>
              </a:rPr>
              <a:t>variable</a:t>
            </a:r>
            <a:r>
              <a:rPr lang="en-US" sz="6000" dirty="0">
                <a:latin typeface="Open Sans" panose="020B0606030504020204" pitchFamily="34" charset="0"/>
                <a:ea typeface="Open Sans" panose="020B0606030504020204" pitchFamily="34" charset="0"/>
                <a:cs typeface="Open Sans" panose="020B0606030504020204" pitchFamily="34" charset="0"/>
              </a:rPr>
              <a:t>. In other words it is a </a:t>
            </a:r>
            <a:r>
              <a:rPr lang="en-US" sz="6000" b="1" dirty="0">
                <a:latin typeface="Open Sans" panose="020B0606030504020204" pitchFamily="34" charset="0"/>
                <a:ea typeface="Open Sans" panose="020B0606030504020204" pitchFamily="34" charset="0"/>
                <a:cs typeface="Open Sans" panose="020B0606030504020204" pitchFamily="34" charset="0"/>
              </a:rPr>
              <a:t>reference</a:t>
            </a:r>
            <a:r>
              <a:rPr lang="en-US" sz="6000" dirty="0">
                <a:latin typeface="Open Sans" panose="020B0606030504020204" pitchFamily="34" charset="0"/>
                <a:ea typeface="Open Sans" panose="020B0606030504020204" pitchFamily="34" charset="0"/>
                <a:cs typeface="Open Sans" panose="020B0606030504020204" pitchFamily="34" charset="0"/>
              </a:rPr>
              <a:t> to the </a:t>
            </a:r>
            <a:r>
              <a:rPr lang="en-US" sz="6000" b="1" dirty="0">
                <a:latin typeface="Open Sans" panose="020B0606030504020204" pitchFamily="34" charset="0"/>
                <a:ea typeface="Open Sans" panose="020B0606030504020204" pitchFamily="34" charset="0"/>
                <a:cs typeface="Open Sans" panose="020B0606030504020204" pitchFamily="34" charset="0"/>
              </a:rPr>
              <a:t>object</a:t>
            </a:r>
            <a:r>
              <a:rPr lang="en-US" sz="6000" dirty="0">
                <a:latin typeface="Open Sans" panose="020B0606030504020204" pitchFamily="34" charset="0"/>
                <a:ea typeface="Open Sans" panose="020B0606030504020204" pitchFamily="34" charset="0"/>
                <a:cs typeface="Open Sans" panose="020B0606030504020204" pitchFamily="34" charset="0"/>
              </a:rPr>
              <a:t> in memory. The image on the left hopefully makes sense to you now.</a:t>
            </a:r>
          </a:p>
        </p:txBody>
      </p:sp>
      <p:sp>
        <p:nvSpPr>
          <p:cNvPr id="92" name="Shape 70">
            <a:extLst>
              <a:ext uri="{FF2B5EF4-FFF2-40B4-BE49-F238E27FC236}">
                <a16:creationId xmlns:a16="http://schemas.microsoft.com/office/drawing/2014/main" id="{D0985CC0-289F-C5C8-A95F-8DAEE3BFA971}"/>
              </a:ext>
            </a:extLst>
          </p:cNvPr>
          <p:cNvSpPr/>
          <p:nvPr/>
        </p:nvSpPr>
        <p:spPr>
          <a:xfrm>
            <a:off x="19203176" y="4795314"/>
            <a:ext cx="10020302" cy="597780"/>
          </a:xfrm>
          <a:prstGeom prst="rect">
            <a:avLst/>
          </a:prstGeom>
          <a:noFill/>
          <a:ln w="76200" cap="flat" cmpd="sng">
            <a:solidFill>
              <a:srgbClr val="FF0000"/>
            </a:solidFill>
            <a:prstDash val="solid"/>
            <a:round/>
            <a:headEnd type="none" w="med" len="med"/>
            <a:tailEnd type="none" w="med" len="med"/>
          </a:ln>
        </p:spPr>
        <p:txBody>
          <a:bodyPr spcFirstLastPara="1" wrap="square" lIns="91836" tIns="91836" rIns="91836" bIns="91836" anchor="ctr" anchorCtr="0">
            <a:noAutofit/>
          </a:bodyPr>
          <a:lstStyle/>
          <a:p>
            <a:endParaRPr sz="3761"/>
          </a:p>
        </p:txBody>
      </p:sp>
      <p:pic>
        <p:nvPicPr>
          <p:cNvPr id="93" name="Picture 92">
            <a:extLst>
              <a:ext uri="{FF2B5EF4-FFF2-40B4-BE49-F238E27FC236}">
                <a16:creationId xmlns:a16="http://schemas.microsoft.com/office/drawing/2014/main" id="{592F2F9A-5E80-4762-3008-306BDEFC65FC}"/>
              </a:ext>
            </a:extLst>
          </p:cNvPr>
          <p:cNvPicPr>
            <a:picLocks noChangeAspect="1"/>
          </p:cNvPicPr>
          <p:nvPr/>
        </p:nvPicPr>
        <p:blipFill>
          <a:blip r:embed="rId5"/>
          <a:stretch>
            <a:fillRect/>
          </a:stretch>
        </p:blipFill>
        <p:spPr>
          <a:xfrm>
            <a:off x="1471996" y="3555265"/>
            <a:ext cx="8642388" cy="9437921"/>
          </a:xfrm>
          <a:prstGeom prst="rect">
            <a:avLst/>
          </a:prstGeom>
        </p:spPr>
      </p:pic>
    </p:spTree>
    <p:extLst>
      <p:ext uri="{BB962C8B-B14F-4D97-AF65-F5344CB8AC3E}">
        <p14:creationId xmlns:p14="http://schemas.microsoft.com/office/powerpoint/2010/main" val="3015860199"/>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584361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pic>
        <p:nvPicPr>
          <p:cNvPr id="3" name="Picture 2">
            <a:extLst>
              <a:ext uri="{FF2B5EF4-FFF2-40B4-BE49-F238E27FC236}">
                <a16:creationId xmlns:a16="http://schemas.microsoft.com/office/drawing/2014/main" id="{98AA9A4A-BB44-1238-31FF-D50F5124BA98}"/>
              </a:ext>
            </a:extLst>
          </p:cNvPr>
          <p:cNvPicPr>
            <a:picLocks noChangeAspect="1"/>
          </p:cNvPicPr>
          <p:nvPr/>
        </p:nvPicPr>
        <p:blipFill>
          <a:blip r:embed="rId4"/>
          <a:stretch>
            <a:fillRect/>
          </a:stretch>
        </p:blipFill>
        <p:spPr>
          <a:xfrm>
            <a:off x="17241106" y="2593010"/>
            <a:ext cx="17284638" cy="12225215"/>
          </a:xfrm>
          <a:prstGeom prst="rect">
            <a:avLst/>
          </a:prstGeom>
        </p:spPr>
      </p:pic>
      <p:sp>
        <p:nvSpPr>
          <p:cNvPr id="2" name="Rectangle 1">
            <a:extLst>
              <a:ext uri="{FF2B5EF4-FFF2-40B4-BE49-F238E27FC236}">
                <a16:creationId xmlns:a16="http://schemas.microsoft.com/office/drawing/2014/main" id="{8576AF1B-06A9-326E-ACAD-562A3D1496C1}"/>
              </a:ext>
            </a:extLst>
          </p:cNvPr>
          <p:cNvSpPr/>
          <p:nvPr/>
        </p:nvSpPr>
        <p:spPr>
          <a:xfrm>
            <a:off x="952501" y="14978783"/>
            <a:ext cx="34782670" cy="3071174"/>
          </a:xfrm>
          <a:prstGeom prst="rect">
            <a:avLst/>
          </a:prstGeom>
        </p:spPr>
        <p:txBody>
          <a:bodyPr wrap="square">
            <a:normAutofit lnSpcReduction="10000"/>
          </a:bodyPr>
          <a:lstStyle/>
          <a:p>
            <a:pPr algn="l">
              <a:spcAft>
                <a:spcPts val="5022"/>
              </a:spcAft>
            </a:pPr>
            <a:r>
              <a:rPr lang="en-US" sz="5400" dirty="0">
                <a:latin typeface="Open Sans" panose="020B0606030504020204" pitchFamily="34" charset="0"/>
                <a:ea typeface="Open Sans" panose="020B0606030504020204" pitchFamily="34" charset="0"/>
                <a:cs typeface="Open Sans" panose="020B0606030504020204" pitchFamily="34" charset="0"/>
              </a:rPr>
              <a:t>The next line </a:t>
            </a:r>
            <a:r>
              <a:rPr lang="en-US" sz="5400" b="1" dirty="0">
                <a:latin typeface="Open Sans" panose="020B0606030504020204" pitchFamily="34" charset="0"/>
                <a:ea typeface="Open Sans" panose="020B0606030504020204" pitchFamily="34" charset="0"/>
                <a:cs typeface="Open Sans" panose="020B0606030504020204" pitchFamily="34" charset="0"/>
              </a:rPr>
              <a:t>House </a:t>
            </a:r>
            <a:r>
              <a:rPr lang="en-US" sz="5400" b="1" dirty="0" err="1">
                <a:latin typeface="Open Sans" panose="020B0606030504020204" pitchFamily="34" charset="0"/>
                <a:ea typeface="Open Sans" panose="020B0606030504020204" pitchFamily="34" charset="0"/>
                <a:cs typeface="Open Sans" panose="020B0606030504020204" pitchFamily="34" charset="0"/>
              </a:rPr>
              <a:t>anotherHouse</a:t>
            </a:r>
            <a:r>
              <a:rPr lang="en-US" sz="5400" b="1" dirty="0">
                <a:latin typeface="Open Sans" panose="020B0606030504020204" pitchFamily="34" charset="0"/>
                <a:ea typeface="Open Sans" panose="020B0606030504020204" pitchFamily="34" charset="0"/>
                <a:cs typeface="Open Sans" panose="020B0606030504020204" pitchFamily="34" charset="0"/>
              </a:rPr>
              <a:t> = </a:t>
            </a:r>
            <a:r>
              <a:rPr lang="en-US" sz="5400" b="1" dirty="0" err="1">
                <a:latin typeface="Open Sans" panose="020B0606030504020204" pitchFamily="34" charset="0"/>
                <a:ea typeface="Open Sans" panose="020B0606030504020204" pitchFamily="34" charset="0"/>
                <a:cs typeface="Open Sans" panose="020B0606030504020204" pitchFamily="34" charset="0"/>
              </a:rPr>
              <a:t>blueHouse</a:t>
            </a:r>
            <a:r>
              <a:rPr lang="en-US" sz="5400" b="1" dirty="0">
                <a:latin typeface="Open Sans" panose="020B0606030504020204" pitchFamily="34" charset="0"/>
                <a:ea typeface="Open Sans" panose="020B0606030504020204" pitchFamily="34" charset="0"/>
                <a:cs typeface="Open Sans" panose="020B0606030504020204" pitchFamily="34" charset="0"/>
              </a:rPr>
              <a:t>;</a:t>
            </a:r>
            <a:r>
              <a:rPr lang="en-US" sz="5400" dirty="0">
                <a:latin typeface="Open Sans" panose="020B0606030504020204" pitchFamily="34" charset="0"/>
                <a:ea typeface="Open Sans" panose="020B0606030504020204" pitchFamily="34" charset="0"/>
                <a:cs typeface="Open Sans" panose="020B0606030504020204" pitchFamily="34" charset="0"/>
              </a:rPr>
              <a:t> creates another </a:t>
            </a:r>
            <a:r>
              <a:rPr lang="en-US" sz="5400" b="1" dirty="0">
                <a:latin typeface="Open Sans" panose="020B0606030504020204" pitchFamily="34" charset="0"/>
                <a:ea typeface="Open Sans" panose="020B0606030504020204" pitchFamily="34" charset="0"/>
                <a:cs typeface="Open Sans" panose="020B0606030504020204" pitchFamily="34" charset="0"/>
              </a:rPr>
              <a:t>reference</a:t>
            </a:r>
            <a:r>
              <a:rPr lang="en-US" sz="5400" dirty="0">
                <a:latin typeface="Open Sans" panose="020B0606030504020204" pitchFamily="34" charset="0"/>
                <a:ea typeface="Open Sans" panose="020B0606030504020204" pitchFamily="34" charset="0"/>
                <a:cs typeface="Open Sans" panose="020B0606030504020204" pitchFamily="34" charset="0"/>
              </a:rPr>
              <a:t> to the same </a:t>
            </a:r>
            <a:r>
              <a:rPr lang="en-US" sz="5400" b="1" dirty="0">
                <a:latin typeface="Open Sans" panose="020B0606030504020204" pitchFamily="34" charset="0"/>
                <a:ea typeface="Open Sans" panose="020B0606030504020204" pitchFamily="34" charset="0"/>
                <a:cs typeface="Open Sans" panose="020B0606030504020204" pitchFamily="34" charset="0"/>
              </a:rPr>
              <a:t>object</a:t>
            </a:r>
            <a:r>
              <a:rPr lang="en-US" sz="5400" dirty="0">
                <a:latin typeface="Open Sans" panose="020B0606030504020204" pitchFamily="34" charset="0"/>
                <a:ea typeface="Open Sans" panose="020B0606030504020204" pitchFamily="34" charset="0"/>
                <a:cs typeface="Open Sans" panose="020B0606030504020204" pitchFamily="34" charset="0"/>
              </a:rPr>
              <a:t> in memory. Here we have two </a:t>
            </a:r>
            <a:r>
              <a:rPr lang="en-US" sz="5400" b="1" dirty="0">
                <a:latin typeface="Open Sans" panose="020B0606030504020204" pitchFamily="34" charset="0"/>
                <a:ea typeface="Open Sans" panose="020B0606030504020204" pitchFamily="34" charset="0"/>
                <a:cs typeface="Open Sans" panose="020B0606030504020204" pitchFamily="34" charset="0"/>
              </a:rPr>
              <a:t>references</a:t>
            </a:r>
            <a:r>
              <a:rPr lang="en-US" sz="5400" dirty="0">
                <a:latin typeface="Open Sans" panose="020B0606030504020204" pitchFamily="34" charset="0"/>
                <a:ea typeface="Open Sans" panose="020B0606030504020204" pitchFamily="34" charset="0"/>
                <a:cs typeface="Open Sans" panose="020B0606030504020204" pitchFamily="34" charset="0"/>
              </a:rPr>
              <a:t> pointing to the same object in memory. There is still one house, but two </a:t>
            </a:r>
            <a:r>
              <a:rPr lang="en-US" sz="5400" b="1" dirty="0">
                <a:latin typeface="Open Sans" panose="020B0606030504020204" pitchFamily="34" charset="0"/>
                <a:ea typeface="Open Sans" panose="020B0606030504020204" pitchFamily="34" charset="0"/>
                <a:cs typeface="Open Sans" panose="020B0606030504020204" pitchFamily="34" charset="0"/>
              </a:rPr>
              <a:t>references</a:t>
            </a:r>
            <a:r>
              <a:rPr lang="en-US" sz="5400" dirty="0">
                <a:latin typeface="Open Sans" panose="020B0606030504020204" pitchFamily="34" charset="0"/>
                <a:ea typeface="Open Sans" panose="020B0606030504020204" pitchFamily="34" charset="0"/>
                <a:cs typeface="Open Sans" panose="020B0606030504020204" pitchFamily="34" charset="0"/>
              </a:rPr>
              <a:t> to that one </a:t>
            </a:r>
            <a:r>
              <a:rPr lang="en-US" sz="5400" b="1" dirty="0">
                <a:latin typeface="Open Sans" panose="020B0606030504020204" pitchFamily="34" charset="0"/>
                <a:ea typeface="Open Sans" panose="020B0606030504020204" pitchFamily="34" charset="0"/>
                <a:cs typeface="Open Sans" panose="020B0606030504020204" pitchFamily="34" charset="0"/>
              </a:rPr>
              <a:t>object</a:t>
            </a:r>
            <a:r>
              <a:rPr lang="en-US" sz="5400" dirty="0">
                <a:latin typeface="Open Sans" panose="020B0606030504020204" pitchFamily="34" charset="0"/>
                <a:ea typeface="Open Sans" panose="020B0606030504020204" pitchFamily="34" charset="0"/>
                <a:cs typeface="Open Sans" panose="020B0606030504020204" pitchFamily="34" charset="0"/>
              </a:rPr>
              <a:t>. In other words we have two pieces of paper with the physical address of where the house is built (going back to our real world example).</a:t>
            </a:r>
          </a:p>
        </p:txBody>
      </p:sp>
      <p:pic>
        <p:nvPicPr>
          <p:cNvPr id="39" name="Picture 38">
            <a:extLst>
              <a:ext uri="{FF2B5EF4-FFF2-40B4-BE49-F238E27FC236}">
                <a16:creationId xmlns:a16="http://schemas.microsoft.com/office/drawing/2014/main" id="{C1125315-FA1B-247C-307A-FC3DD44ABB6E}"/>
              </a:ext>
            </a:extLst>
          </p:cNvPr>
          <p:cNvPicPr>
            <a:picLocks noChangeAspect="1"/>
          </p:cNvPicPr>
          <p:nvPr/>
        </p:nvPicPr>
        <p:blipFill>
          <a:blip r:embed="rId5"/>
          <a:stretch>
            <a:fillRect/>
          </a:stretch>
        </p:blipFill>
        <p:spPr>
          <a:xfrm>
            <a:off x="1472400" y="3556800"/>
            <a:ext cx="14135289" cy="9451692"/>
          </a:xfrm>
          <a:prstGeom prst="rect">
            <a:avLst/>
          </a:prstGeom>
        </p:spPr>
      </p:pic>
      <p:sp>
        <p:nvSpPr>
          <p:cNvPr id="40" name="Shape 70">
            <a:extLst>
              <a:ext uri="{FF2B5EF4-FFF2-40B4-BE49-F238E27FC236}">
                <a16:creationId xmlns:a16="http://schemas.microsoft.com/office/drawing/2014/main" id="{6E1DEC35-3E2E-97C2-7829-345A786B57FE}"/>
              </a:ext>
            </a:extLst>
          </p:cNvPr>
          <p:cNvSpPr/>
          <p:nvPr/>
        </p:nvSpPr>
        <p:spPr>
          <a:xfrm>
            <a:off x="19203176" y="5355151"/>
            <a:ext cx="8770000" cy="597780"/>
          </a:xfrm>
          <a:prstGeom prst="rect">
            <a:avLst/>
          </a:prstGeom>
          <a:noFill/>
          <a:ln w="76200" cap="flat" cmpd="sng">
            <a:solidFill>
              <a:srgbClr val="FF0000"/>
            </a:solidFill>
            <a:prstDash val="solid"/>
            <a:round/>
            <a:headEnd type="none" w="med" len="med"/>
            <a:tailEnd type="none" w="med" len="med"/>
          </a:ln>
        </p:spPr>
        <p:txBody>
          <a:bodyPr spcFirstLastPara="1" wrap="square" lIns="91836" tIns="91836" rIns="91836" bIns="91836" anchor="ctr" anchorCtr="0">
            <a:noAutofit/>
          </a:bodyPr>
          <a:lstStyle/>
          <a:p>
            <a:endParaRPr sz="3761"/>
          </a:p>
        </p:txBody>
      </p:sp>
    </p:spTree>
    <p:extLst>
      <p:ext uri="{BB962C8B-B14F-4D97-AF65-F5344CB8AC3E}">
        <p14:creationId xmlns:p14="http://schemas.microsoft.com/office/powerpoint/2010/main" val="1550653432"/>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584361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pic>
        <p:nvPicPr>
          <p:cNvPr id="3" name="Picture 2">
            <a:extLst>
              <a:ext uri="{FF2B5EF4-FFF2-40B4-BE49-F238E27FC236}">
                <a16:creationId xmlns:a16="http://schemas.microsoft.com/office/drawing/2014/main" id="{98AA9A4A-BB44-1238-31FF-D50F5124BA98}"/>
              </a:ext>
            </a:extLst>
          </p:cNvPr>
          <p:cNvPicPr>
            <a:picLocks noChangeAspect="1"/>
          </p:cNvPicPr>
          <p:nvPr/>
        </p:nvPicPr>
        <p:blipFill>
          <a:blip r:embed="rId4"/>
          <a:stretch>
            <a:fillRect/>
          </a:stretch>
        </p:blipFill>
        <p:spPr>
          <a:xfrm>
            <a:off x="17241106" y="2593010"/>
            <a:ext cx="17284638" cy="12225215"/>
          </a:xfrm>
          <a:prstGeom prst="rect">
            <a:avLst/>
          </a:prstGeom>
        </p:spPr>
      </p:pic>
      <p:sp>
        <p:nvSpPr>
          <p:cNvPr id="2" name="Rectangle 1">
            <a:extLst>
              <a:ext uri="{FF2B5EF4-FFF2-40B4-BE49-F238E27FC236}">
                <a16:creationId xmlns:a16="http://schemas.microsoft.com/office/drawing/2014/main" id="{8576AF1B-06A9-326E-ACAD-562A3D1496C1}"/>
              </a:ext>
            </a:extLst>
          </p:cNvPr>
          <p:cNvSpPr/>
          <p:nvPr/>
        </p:nvSpPr>
        <p:spPr>
          <a:xfrm>
            <a:off x="952501" y="14978783"/>
            <a:ext cx="34782670" cy="3071174"/>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Next we have two </a:t>
            </a:r>
            <a:r>
              <a:rPr lang="en-US" sz="6400" dirty="0" err="1">
                <a:latin typeface="Open Sans" panose="020B0606030504020204" pitchFamily="34" charset="0"/>
                <a:ea typeface="Open Sans" panose="020B0606030504020204" pitchFamily="34" charset="0"/>
                <a:cs typeface="Open Sans" panose="020B0606030504020204" pitchFamily="34" charset="0"/>
              </a:rPr>
              <a:t>println</a:t>
            </a:r>
            <a:r>
              <a:rPr lang="en-US" sz="6400" dirty="0">
                <a:latin typeface="Open Sans" panose="020B0606030504020204" pitchFamily="34" charset="0"/>
                <a:ea typeface="Open Sans" panose="020B0606030504020204" pitchFamily="34" charset="0"/>
                <a:cs typeface="Open Sans" panose="020B0606030504020204" pitchFamily="34" charset="0"/>
              </a:rPr>
              <a:t> statements that print the </a:t>
            </a:r>
            <a:r>
              <a:rPr lang="en-US" sz="6400" dirty="0" err="1">
                <a:latin typeface="Open Sans" panose="020B0606030504020204" pitchFamily="34" charset="0"/>
                <a:ea typeface="Open Sans" panose="020B0606030504020204" pitchFamily="34" charset="0"/>
                <a:cs typeface="Open Sans" panose="020B0606030504020204" pitchFamily="34" charset="0"/>
              </a:rPr>
              <a:t>blueHouse</a:t>
            </a:r>
            <a:r>
              <a:rPr lang="en-US" sz="6400" dirty="0">
                <a:latin typeface="Open Sans" panose="020B0606030504020204" pitchFamily="34" charset="0"/>
                <a:ea typeface="Open Sans" panose="020B0606030504020204" pitchFamily="34" charset="0"/>
                <a:cs typeface="Open Sans" panose="020B0606030504020204" pitchFamily="34" charset="0"/>
              </a:rPr>
              <a:t> color and </a:t>
            </a:r>
            <a:r>
              <a:rPr lang="en-US" sz="6400" dirty="0" err="1">
                <a:latin typeface="Open Sans" panose="020B0606030504020204" pitchFamily="34" charset="0"/>
                <a:ea typeface="Open Sans" panose="020B0606030504020204" pitchFamily="34" charset="0"/>
                <a:cs typeface="Open Sans" panose="020B0606030504020204" pitchFamily="34" charset="0"/>
              </a:rPr>
              <a:t>anotherHouse</a:t>
            </a:r>
            <a:r>
              <a:rPr lang="en-US" sz="6400" dirty="0">
                <a:latin typeface="Open Sans" panose="020B0606030504020204" pitchFamily="34" charset="0"/>
                <a:ea typeface="Open Sans" panose="020B0606030504020204" pitchFamily="34" charset="0"/>
                <a:cs typeface="Open Sans" panose="020B0606030504020204" pitchFamily="34" charset="0"/>
              </a:rPr>
              <a:t> color. Both will print “blue” since we have two </a:t>
            </a:r>
            <a:r>
              <a:rPr lang="en-US" sz="6400" b="1" dirty="0">
                <a:latin typeface="Open Sans" panose="020B0606030504020204" pitchFamily="34" charset="0"/>
                <a:ea typeface="Open Sans" panose="020B0606030504020204" pitchFamily="34" charset="0"/>
                <a:cs typeface="Open Sans" panose="020B0606030504020204" pitchFamily="34" charset="0"/>
              </a:rPr>
              <a:t>references</a:t>
            </a:r>
            <a:r>
              <a:rPr lang="en-US" sz="6400" dirty="0">
                <a:latin typeface="Open Sans" panose="020B0606030504020204" pitchFamily="34" charset="0"/>
                <a:ea typeface="Open Sans" panose="020B0606030504020204" pitchFamily="34" charset="0"/>
                <a:cs typeface="Open Sans" panose="020B0606030504020204" pitchFamily="34" charset="0"/>
              </a:rPr>
              <a:t> to the same </a:t>
            </a:r>
            <a:r>
              <a:rPr lang="en-US" sz="6400" b="1" dirty="0">
                <a:latin typeface="Open Sans" panose="020B0606030504020204" pitchFamily="34" charset="0"/>
                <a:ea typeface="Open Sans" panose="020B0606030504020204" pitchFamily="34" charset="0"/>
                <a:cs typeface="Open Sans" panose="020B0606030504020204" pitchFamily="34" charset="0"/>
              </a:rPr>
              <a:t>object</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sp>
        <p:nvSpPr>
          <p:cNvPr id="40" name="Shape 70">
            <a:extLst>
              <a:ext uri="{FF2B5EF4-FFF2-40B4-BE49-F238E27FC236}">
                <a16:creationId xmlns:a16="http://schemas.microsoft.com/office/drawing/2014/main" id="{6E1DEC35-3E2E-97C2-7829-345A786B57FE}"/>
              </a:ext>
            </a:extLst>
          </p:cNvPr>
          <p:cNvSpPr/>
          <p:nvPr/>
        </p:nvSpPr>
        <p:spPr>
          <a:xfrm>
            <a:off x="19203176" y="6382139"/>
            <a:ext cx="15322568" cy="1324946"/>
          </a:xfrm>
          <a:prstGeom prst="rect">
            <a:avLst/>
          </a:prstGeom>
          <a:noFill/>
          <a:ln w="76200" cap="flat" cmpd="sng">
            <a:solidFill>
              <a:srgbClr val="FF0000"/>
            </a:solidFill>
            <a:prstDash val="solid"/>
            <a:round/>
            <a:headEnd type="none" w="med" len="med"/>
            <a:tailEnd type="none" w="med" len="med"/>
          </a:ln>
        </p:spPr>
        <p:txBody>
          <a:bodyPr spcFirstLastPara="1" wrap="square" lIns="91836" tIns="91836" rIns="91836" bIns="91836" anchor="ctr" anchorCtr="0">
            <a:noAutofit/>
          </a:bodyPr>
          <a:lstStyle/>
          <a:p>
            <a:endParaRPr sz="3761"/>
          </a:p>
        </p:txBody>
      </p:sp>
      <p:pic>
        <p:nvPicPr>
          <p:cNvPr id="5" name="Picture 4">
            <a:extLst>
              <a:ext uri="{FF2B5EF4-FFF2-40B4-BE49-F238E27FC236}">
                <a16:creationId xmlns:a16="http://schemas.microsoft.com/office/drawing/2014/main" id="{16077786-FE6A-CC21-5749-00B8C20BCE3D}"/>
              </a:ext>
            </a:extLst>
          </p:cNvPr>
          <p:cNvPicPr>
            <a:picLocks noChangeAspect="1"/>
          </p:cNvPicPr>
          <p:nvPr/>
        </p:nvPicPr>
        <p:blipFill>
          <a:blip r:embed="rId5"/>
          <a:stretch>
            <a:fillRect/>
          </a:stretch>
        </p:blipFill>
        <p:spPr>
          <a:xfrm>
            <a:off x="1472400" y="3556800"/>
            <a:ext cx="14135289" cy="9451692"/>
          </a:xfrm>
          <a:prstGeom prst="rect">
            <a:avLst/>
          </a:prstGeom>
        </p:spPr>
      </p:pic>
    </p:spTree>
    <p:extLst>
      <p:ext uri="{BB962C8B-B14F-4D97-AF65-F5344CB8AC3E}">
        <p14:creationId xmlns:p14="http://schemas.microsoft.com/office/powerpoint/2010/main" val="1926190152"/>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5B9D07F-2B88-2D6E-BECB-5609848603BB}"/>
              </a:ext>
            </a:extLst>
          </p:cNvPr>
          <p:cNvPicPr>
            <a:picLocks noChangeAspect="1"/>
          </p:cNvPicPr>
          <p:nvPr/>
        </p:nvPicPr>
        <p:blipFill>
          <a:blip r:embed="rId3">
            <a:alphaModFix/>
          </a:blip>
          <a:stretch>
            <a:fillRect/>
          </a:stretch>
        </p:blipFill>
        <p:spPr>
          <a:xfrm>
            <a:off x="17259379" y="2592199"/>
            <a:ext cx="17279619" cy="12236285"/>
          </a:xfrm>
          <a:prstGeom prst="rect">
            <a:avLst/>
          </a:prstGeom>
        </p:spPr>
      </p:pic>
      <p:sp>
        <p:nvSpPr>
          <p:cNvPr id="126" name="Shape 126"/>
          <p:cNvSpPr/>
          <p:nvPr/>
        </p:nvSpPr>
        <p:spPr>
          <a:xfrm>
            <a:off x="952498" y="459786"/>
            <a:ext cx="2584361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4"/>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2" name="Rectangle 1">
            <a:extLst>
              <a:ext uri="{FF2B5EF4-FFF2-40B4-BE49-F238E27FC236}">
                <a16:creationId xmlns:a16="http://schemas.microsoft.com/office/drawing/2014/main" id="{8576AF1B-06A9-326E-ACAD-562A3D1496C1}"/>
              </a:ext>
            </a:extLst>
          </p:cNvPr>
          <p:cNvSpPr/>
          <p:nvPr/>
        </p:nvSpPr>
        <p:spPr>
          <a:xfrm>
            <a:off x="952501" y="14978783"/>
            <a:ext cx="34782670" cy="3071174"/>
          </a:xfrm>
          <a:prstGeom prst="rect">
            <a:avLst/>
          </a:prstGeom>
        </p:spPr>
        <p:txBody>
          <a:bodyPr wrap="square">
            <a:normAutofit/>
          </a:bodyPr>
          <a:lstStyle/>
          <a:p>
            <a:pPr algn="l">
              <a:spcAft>
                <a:spcPts val="5022"/>
              </a:spcAft>
            </a:pPr>
            <a:r>
              <a:rPr lang="en-US" sz="4400" dirty="0">
                <a:latin typeface="Open Sans" panose="020B0606030504020204" pitchFamily="34" charset="0"/>
                <a:ea typeface="Open Sans" panose="020B0606030504020204" pitchFamily="34" charset="0"/>
                <a:cs typeface="Open Sans" panose="020B0606030504020204" pitchFamily="34" charset="0"/>
              </a:rPr>
              <a:t>The next line calls the method </a:t>
            </a:r>
            <a:r>
              <a:rPr lang="en-US" sz="4400" dirty="0" err="1">
                <a:latin typeface="Open Sans" panose="020B0606030504020204" pitchFamily="34" charset="0"/>
                <a:ea typeface="Open Sans" panose="020B0606030504020204" pitchFamily="34" charset="0"/>
                <a:cs typeface="Open Sans" panose="020B0606030504020204" pitchFamily="34" charset="0"/>
              </a:rPr>
              <a:t>setColor</a:t>
            </a:r>
            <a:r>
              <a:rPr lang="en-US" sz="4400" dirty="0">
                <a:latin typeface="Open Sans" panose="020B0606030504020204" pitchFamily="34" charset="0"/>
                <a:ea typeface="Open Sans" panose="020B0606030504020204" pitchFamily="34" charset="0"/>
                <a:cs typeface="Open Sans" panose="020B0606030504020204" pitchFamily="34" charset="0"/>
              </a:rPr>
              <a:t> and sets the color to yellow. To the left you can that both </a:t>
            </a:r>
            <a:r>
              <a:rPr lang="en-US" sz="4400" dirty="0" err="1">
                <a:latin typeface="Open Sans" panose="020B0606030504020204" pitchFamily="34" charset="0"/>
                <a:ea typeface="Open Sans" panose="020B0606030504020204" pitchFamily="34" charset="0"/>
                <a:cs typeface="Open Sans" panose="020B0606030504020204" pitchFamily="34" charset="0"/>
              </a:rPr>
              <a:t>blueHouse</a:t>
            </a:r>
            <a:r>
              <a:rPr lang="en-US" sz="4400" dirty="0">
                <a:latin typeface="Open Sans" panose="020B0606030504020204" pitchFamily="34" charset="0"/>
                <a:ea typeface="Open Sans" panose="020B0606030504020204" pitchFamily="34" charset="0"/>
                <a:cs typeface="Open Sans" panose="020B0606030504020204" pitchFamily="34" charset="0"/>
              </a:rPr>
              <a:t> and </a:t>
            </a:r>
            <a:r>
              <a:rPr lang="en-US" sz="4400" dirty="0" err="1">
                <a:latin typeface="Open Sans" panose="020B0606030504020204" pitchFamily="34" charset="0"/>
                <a:ea typeface="Open Sans" panose="020B0606030504020204" pitchFamily="34" charset="0"/>
                <a:cs typeface="Open Sans" panose="020B0606030504020204" pitchFamily="34" charset="0"/>
              </a:rPr>
              <a:t>anotherHouse</a:t>
            </a:r>
            <a:r>
              <a:rPr lang="en-US" sz="4400" dirty="0">
                <a:latin typeface="Open Sans" panose="020B0606030504020204" pitchFamily="34" charset="0"/>
                <a:ea typeface="Open Sans" panose="020B0606030504020204" pitchFamily="34" charset="0"/>
                <a:cs typeface="Open Sans" panose="020B0606030504020204" pitchFamily="34" charset="0"/>
              </a:rPr>
              <a:t> have the same color now. Why? Remember we have two </a:t>
            </a:r>
            <a:r>
              <a:rPr lang="en-US" sz="4400" b="1" dirty="0">
                <a:latin typeface="Open Sans" panose="020B0606030504020204" pitchFamily="34" charset="0"/>
                <a:ea typeface="Open Sans" panose="020B0606030504020204" pitchFamily="34" charset="0"/>
                <a:cs typeface="Open Sans" panose="020B0606030504020204" pitchFamily="34" charset="0"/>
              </a:rPr>
              <a:t>references</a:t>
            </a:r>
            <a:r>
              <a:rPr lang="en-US" sz="4400" dirty="0">
                <a:latin typeface="Open Sans" panose="020B0606030504020204" pitchFamily="34" charset="0"/>
                <a:ea typeface="Open Sans" panose="020B0606030504020204" pitchFamily="34" charset="0"/>
                <a:cs typeface="Open Sans" panose="020B0606030504020204" pitchFamily="34" charset="0"/>
              </a:rPr>
              <a:t> that point to the same </a:t>
            </a:r>
            <a:r>
              <a:rPr lang="en-US" sz="4400" b="1" dirty="0">
                <a:latin typeface="Open Sans" panose="020B0606030504020204" pitchFamily="34" charset="0"/>
                <a:ea typeface="Open Sans" panose="020B0606030504020204" pitchFamily="34" charset="0"/>
                <a:cs typeface="Open Sans" panose="020B0606030504020204" pitchFamily="34" charset="0"/>
              </a:rPr>
              <a:t>object</a:t>
            </a:r>
            <a:r>
              <a:rPr lang="en-US" sz="4400" dirty="0">
                <a:latin typeface="Open Sans" panose="020B0606030504020204" pitchFamily="34" charset="0"/>
                <a:ea typeface="Open Sans" panose="020B0606030504020204" pitchFamily="34" charset="0"/>
                <a:cs typeface="Open Sans" panose="020B0606030504020204" pitchFamily="34" charset="0"/>
              </a:rPr>
              <a:t> in memory. Once we change the color, of one, </a:t>
            </a:r>
            <a:r>
              <a:rPr lang="en-US" sz="4400" b="1" dirty="0">
                <a:latin typeface="Open Sans" panose="020B0606030504020204" pitchFamily="34" charset="0"/>
                <a:ea typeface="Open Sans" panose="020B0606030504020204" pitchFamily="34" charset="0"/>
                <a:cs typeface="Open Sans" panose="020B0606030504020204" pitchFamily="34" charset="0"/>
              </a:rPr>
              <a:t>both references</a:t>
            </a:r>
            <a:r>
              <a:rPr lang="en-US" sz="4400" dirty="0">
                <a:latin typeface="Open Sans" panose="020B0606030504020204" pitchFamily="34" charset="0"/>
                <a:ea typeface="Open Sans" panose="020B0606030504020204" pitchFamily="34" charset="0"/>
                <a:cs typeface="Open Sans" panose="020B0606030504020204" pitchFamily="34" charset="0"/>
              </a:rPr>
              <a:t> still point to the same </a:t>
            </a:r>
            <a:r>
              <a:rPr lang="en-US" sz="4400" b="1" dirty="0">
                <a:latin typeface="Open Sans" panose="020B0606030504020204" pitchFamily="34" charset="0"/>
                <a:ea typeface="Open Sans" panose="020B0606030504020204" pitchFamily="34" charset="0"/>
                <a:cs typeface="Open Sans" panose="020B0606030504020204" pitchFamily="34" charset="0"/>
              </a:rPr>
              <a:t>object</a:t>
            </a:r>
            <a:r>
              <a:rPr lang="en-US" sz="4400" dirty="0">
                <a:latin typeface="Open Sans" panose="020B0606030504020204" pitchFamily="34" charset="0"/>
                <a:ea typeface="Open Sans" panose="020B0606030504020204" pitchFamily="34" charset="0"/>
                <a:cs typeface="Open Sans" panose="020B0606030504020204" pitchFamily="34" charset="0"/>
              </a:rPr>
              <a:t>. In our real world example, there is still just one physical house at that one address, even though we have written the same address on two pieces of paper.</a:t>
            </a:r>
          </a:p>
        </p:txBody>
      </p:sp>
      <p:sp>
        <p:nvSpPr>
          <p:cNvPr id="40" name="Shape 70">
            <a:extLst>
              <a:ext uri="{FF2B5EF4-FFF2-40B4-BE49-F238E27FC236}">
                <a16:creationId xmlns:a16="http://schemas.microsoft.com/office/drawing/2014/main" id="{6E1DEC35-3E2E-97C2-7829-345A786B57FE}"/>
              </a:ext>
            </a:extLst>
          </p:cNvPr>
          <p:cNvSpPr/>
          <p:nvPr/>
        </p:nvSpPr>
        <p:spPr>
          <a:xfrm flipV="1">
            <a:off x="19203175" y="8098971"/>
            <a:ext cx="9012595" cy="690466"/>
          </a:xfrm>
          <a:prstGeom prst="rect">
            <a:avLst/>
          </a:prstGeom>
          <a:noFill/>
          <a:ln w="76200" cap="flat" cmpd="sng">
            <a:solidFill>
              <a:srgbClr val="FF0000"/>
            </a:solidFill>
            <a:prstDash val="solid"/>
            <a:round/>
            <a:headEnd type="none" w="med" len="med"/>
            <a:tailEnd type="none" w="med" len="med"/>
          </a:ln>
        </p:spPr>
        <p:txBody>
          <a:bodyPr spcFirstLastPara="1" wrap="square" lIns="91836" tIns="91836" rIns="91836" bIns="91836" anchor="ctr" anchorCtr="0">
            <a:noAutofit/>
          </a:bodyPr>
          <a:lstStyle/>
          <a:p>
            <a:endParaRPr sz="3761"/>
          </a:p>
        </p:txBody>
      </p:sp>
      <p:pic>
        <p:nvPicPr>
          <p:cNvPr id="6" name="Picture 5">
            <a:extLst>
              <a:ext uri="{FF2B5EF4-FFF2-40B4-BE49-F238E27FC236}">
                <a16:creationId xmlns:a16="http://schemas.microsoft.com/office/drawing/2014/main" id="{432E765D-1271-6FB0-9CE7-49E9E6C4FAC4}"/>
              </a:ext>
            </a:extLst>
          </p:cNvPr>
          <p:cNvPicPr>
            <a:picLocks noChangeAspect="1"/>
          </p:cNvPicPr>
          <p:nvPr/>
        </p:nvPicPr>
        <p:blipFill>
          <a:blip r:embed="rId5"/>
          <a:stretch>
            <a:fillRect/>
          </a:stretch>
        </p:blipFill>
        <p:spPr>
          <a:xfrm>
            <a:off x="1472400" y="3556800"/>
            <a:ext cx="14135289" cy="9451692"/>
          </a:xfrm>
          <a:prstGeom prst="rect">
            <a:avLst/>
          </a:prstGeom>
        </p:spPr>
      </p:pic>
    </p:spTree>
    <p:extLst>
      <p:ext uri="{BB962C8B-B14F-4D97-AF65-F5344CB8AC3E}">
        <p14:creationId xmlns:p14="http://schemas.microsoft.com/office/powerpoint/2010/main" val="3069822277"/>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826BEF4-A5BA-92B1-5B60-3AE16332F805}"/>
              </a:ext>
            </a:extLst>
          </p:cNvPr>
          <p:cNvPicPr>
            <a:picLocks noChangeAspect="1"/>
          </p:cNvPicPr>
          <p:nvPr/>
        </p:nvPicPr>
        <p:blipFill>
          <a:blip r:embed="rId3">
            <a:alphaModFix/>
          </a:blip>
          <a:stretch>
            <a:fillRect/>
          </a:stretch>
        </p:blipFill>
        <p:spPr>
          <a:xfrm>
            <a:off x="17259379" y="2592199"/>
            <a:ext cx="17279619" cy="12236285"/>
          </a:xfrm>
          <a:prstGeom prst="rect">
            <a:avLst/>
          </a:prstGeom>
        </p:spPr>
      </p:pic>
      <p:sp>
        <p:nvSpPr>
          <p:cNvPr id="126" name="Shape 126"/>
          <p:cNvSpPr/>
          <p:nvPr/>
        </p:nvSpPr>
        <p:spPr>
          <a:xfrm>
            <a:off x="952498" y="459786"/>
            <a:ext cx="2584361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4"/>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2" name="Rectangle 1">
            <a:extLst>
              <a:ext uri="{FF2B5EF4-FFF2-40B4-BE49-F238E27FC236}">
                <a16:creationId xmlns:a16="http://schemas.microsoft.com/office/drawing/2014/main" id="{8576AF1B-06A9-326E-ACAD-562A3D1496C1}"/>
              </a:ext>
            </a:extLst>
          </p:cNvPr>
          <p:cNvSpPr/>
          <p:nvPr/>
        </p:nvSpPr>
        <p:spPr>
          <a:xfrm>
            <a:off x="952501" y="14978783"/>
            <a:ext cx="34782670" cy="3071174"/>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Here we have two </a:t>
            </a:r>
            <a:r>
              <a:rPr lang="en-US" sz="6400" dirty="0" err="1">
                <a:latin typeface="Open Sans" panose="020B0606030504020204" pitchFamily="34" charset="0"/>
                <a:ea typeface="Open Sans" panose="020B0606030504020204" pitchFamily="34" charset="0"/>
                <a:cs typeface="Open Sans" panose="020B0606030504020204" pitchFamily="34" charset="0"/>
              </a:rPr>
              <a:t>println</a:t>
            </a:r>
            <a:r>
              <a:rPr lang="en-US" sz="6400" dirty="0">
                <a:latin typeface="Open Sans" panose="020B0606030504020204" pitchFamily="34" charset="0"/>
                <a:ea typeface="Open Sans" panose="020B0606030504020204" pitchFamily="34" charset="0"/>
                <a:cs typeface="Open Sans" panose="020B0606030504020204" pitchFamily="34" charset="0"/>
              </a:rPr>
              <a:t> statements that are printing the color. Both now print “yellow” since we still have two </a:t>
            </a:r>
            <a:r>
              <a:rPr lang="en-US" sz="6400" b="1" dirty="0">
                <a:latin typeface="Open Sans" panose="020B0606030504020204" pitchFamily="34" charset="0"/>
                <a:ea typeface="Open Sans" panose="020B0606030504020204" pitchFamily="34" charset="0"/>
                <a:cs typeface="Open Sans" panose="020B0606030504020204" pitchFamily="34" charset="0"/>
              </a:rPr>
              <a:t>references</a:t>
            </a:r>
            <a:r>
              <a:rPr lang="en-US" sz="6400" dirty="0">
                <a:latin typeface="Open Sans" panose="020B0606030504020204" pitchFamily="34" charset="0"/>
                <a:ea typeface="Open Sans" panose="020B0606030504020204" pitchFamily="34" charset="0"/>
                <a:cs typeface="Open Sans" panose="020B0606030504020204" pitchFamily="34" charset="0"/>
              </a:rPr>
              <a:t> that point to the same </a:t>
            </a:r>
            <a:r>
              <a:rPr lang="en-US" sz="6400" b="1" dirty="0">
                <a:latin typeface="Open Sans" panose="020B0606030504020204" pitchFamily="34" charset="0"/>
                <a:ea typeface="Open Sans" panose="020B0606030504020204" pitchFamily="34" charset="0"/>
                <a:cs typeface="Open Sans" panose="020B0606030504020204" pitchFamily="34" charset="0"/>
              </a:rPr>
              <a:t>object</a:t>
            </a:r>
            <a:r>
              <a:rPr lang="en-US" sz="6400" dirty="0">
                <a:latin typeface="Open Sans" panose="020B0606030504020204" pitchFamily="34" charset="0"/>
                <a:ea typeface="Open Sans" panose="020B0606030504020204" pitchFamily="34" charset="0"/>
                <a:cs typeface="Open Sans" panose="020B0606030504020204" pitchFamily="34" charset="0"/>
              </a:rPr>
              <a:t> in memory. Notice the arrows on the left hand side.</a:t>
            </a:r>
          </a:p>
        </p:txBody>
      </p:sp>
      <p:sp>
        <p:nvSpPr>
          <p:cNvPr id="40" name="Shape 70">
            <a:extLst>
              <a:ext uri="{FF2B5EF4-FFF2-40B4-BE49-F238E27FC236}">
                <a16:creationId xmlns:a16="http://schemas.microsoft.com/office/drawing/2014/main" id="{6E1DEC35-3E2E-97C2-7829-345A786B57FE}"/>
              </a:ext>
            </a:extLst>
          </p:cNvPr>
          <p:cNvSpPr/>
          <p:nvPr/>
        </p:nvSpPr>
        <p:spPr>
          <a:xfrm>
            <a:off x="19203176" y="8752114"/>
            <a:ext cx="14629624" cy="1138335"/>
          </a:xfrm>
          <a:prstGeom prst="rect">
            <a:avLst/>
          </a:prstGeom>
          <a:noFill/>
          <a:ln w="76200" cap="flat" cmpd="sng">
            <a:solidFill>
              <a:srgbClr val="FF0000"/>
            </a:solidFill>
            <a:prstDash val="solid"/>
            <a:round/>
            <a:headEnd type="none" w="med" len="med"/>
            <a:tailEnd type="none" w="med" len="med"/>
          </a:ln>
        </p:spPr>
        <p:txBody>
          <a:bodyPr spcFirstLastPara="1" wrap="square" lIns="91836" tIns="91836" rIns="91836" bIns="91836" anchor="ctr" anchorCtr="0">
            <a:noAutofit/>
          </a:bodyPr>
          <a:lstStyle/>
          <a:p>
            <a:endParaRPr sz="3761"/>
          </a:p>
        </p:txBody>
      </p:sp>
      <p:pic>
        <p:nvPicPr>
          <p:cNvPr id="5" name="Picture 4">
            <a:extLst>
              <a:ext uri="{FF2B5EF4-FFF2-40B4-BE49-F238E27FC236}">
                <a16:creationId xmlns:a16="http://schemas.microsoft.com/office/drawing/2014/main" id="{7955356E-43D2-948F-0151-C25C56572C77}"/>
              </a:ext>
            </a:extLst>
          </p:cNvPr>
          <p:cNvPicPr>
            <a:picLocks noChangeAspect="1"/>
          </p:cNvPicPr>
          <p:nvPr/>
        </p:nvPicPr>
        <p:blipFill>
          <a:blip r:embed="rId5"/>
          <a:stretch>
            <a:fillRect/>
          </a:stretch>
        </p:blipFill>
        <p:spPr>
          <a:xfrm>
            <a:off x="1472400" y="3556800"/>
            <a:ext cx="14135289" cy="9451692"/>
          </a:xfrm>
          <a:prstGeom prst="rect">
            <a:avLst/>
          </a:prstGeom>
        </p:spPr>
      </p:pic>
    </p:spTree>
    <p:extLst>
      <p:ext uri="{BB962C8B-B14F-4D97-AF65-F5344CB8AC3E}">
        <p14:creationId xmlns:p14="http://schemas.microsoft.com/office/powerpoint/2010/main" val="3531330086"/>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D6F019F-12F2-A10C-D7F3-384B19797798}"/>
              </a:ext>
            </a:extLst>
          </p:cNvPr>
          <p:cNvPicPr>
            <a:picLocks noChangeAspect="1"/>
          </p:cNvPicPr>
          <p:nvPr/>
        </p:nvPicPr>
        <p:blipFill>
          <a:blip r:embed="rId3">
            <a:alphaModFix/>
          </a:blip>
          <a:stretch>
            <a:fillRect/>
          </a:stretch>
        </p:blipFill>
        <p:spPr>
          <a:xfrm>
            <a:off x="17259379" y="2592199"/>
            <a:ext cx="17279619" cy="12236285"/>
          </a:xfrm>
          <a:prstGeom prst="rect">
            <a:avLst/>
          </a:prstGeom>
        </p:spPr>
      </p:pic>
      <p:sp>
        <p:nvSpPr>
          <p:cNvPr id="126" name="Shape 126"/>
          <p:cNvSpPr/>
          <p:nvPr/>
        </p:nvSpPr>
        <p:spPr>
          <a:xfrm>
            <a:off x="952498" y="459786"/>
            <a:ext cx="2584361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4"/>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2" name="Rectangle 1">
            <a:extLst>
              <a:ext uri="{FF2B5EF4-FFF2-40B4-BE49-F238E27FC236}">
                <a16:creationId xmlns:a16="http://schemas.microsoft.com/office/drawing/2014/main" id="{8576AF1B-06A9-326E-ACAD-562A3D1496C1}"/>
              </a:ext>
            </a:extLst>
          </p:cNvPr>
          <p:cNvSpPr/>
          <p:nvPr/>
        </p:nvSpPr>
        <p:spPr>
          <a:xfrm>
            <a:off x="952501" y="14978783"/>
            <a:ext cx="34782670" cy="3071174"/>
          </a:xfrm>
          <a:prstGeom prst="rect">
            <a:avLst/>
          </a:prstGeom>
        </p:spPr>
        <p:txBody>
          <a:bodyPr wrap="square">
            <a:normAutofit/>
          </a:bodyPr>
          <a:lstStyle/>
          <a:p>
            <a:pPr algn="l">
              <a:spcAft>
                <a:spcPts val="5022"/>
              </a:spcAft>
            </a:pPr>
            <a:r>
              <a:rPr lang="en-US" sz="4800" dirty="0">
                <a:latin typeface="Open Sans" panose="020B0606030504020204" pitchFamily="34" charset="0"/>
                <a:ea typeface="Open Sans" panose="020B0606030504020204" pitchFamily="34" charset="0"/>
                <a:cs typeface="Open Sans" panose="020B0606030504020204" pitchFamily="34" charset="0"/>
              </a:rPr>
              <a:t>Here we are creating another new instance of the House class with the color set to “green”. Now we have two </a:t>
            </a:r>
            <a:r>
              <a:rPr lang="en-US" sz="4800" b="1" dirty="0">
                <a:latin typeface="Open Sans" panose="020B0606030504020204" pitchFamily="34" charset="0"/>
                <a:ea typeface="Open Sans" panose="020B0606030504020204" pitchFamily="34" charset="0"/>
                <a:cs typeface="Open Sans" panose="020B0606030504020204" pitchFamily="34" charset="0"/>
              </a:rPr>
              <a:t>objects</a:t>
            </a:r>
            <a:r>
              <a:rPr lang="en-US" sz="4800" dirty="0">
                <a:latin typeface="Open Sans" panose="020B0606030504020204" pitchFamily="34" charset="0"/>
                <a:ea typeface="Open Sans" panose="020B0606030504020204" pitchFamily="34" charset="0"/>
                <a:cs typeface="Open Sans" panose="020B0606030504020204" pitchFamily="34" charset="0"/>
              </a:rPr>
              <a:t> in memory but we have three </a:t>
            </a:r>
            <a:r>
              <a:rPr lang="en-US" sz="4800" b="1" dirty="0">
                <a:latin typeface="Open Sans" panose="020B0606030504020204" pitchFamily="34" charset="0"/>
                <a:ea typeface="Open Sans" panose="020B0606030504020204" pitchFamily="34" charset="0"/>
                <a:cs typeface="Open Sans" panose="020B0606030504020204" pitchFamily="34" charset="0"/>
              </a:rPr>
              <a:t>references</a:t>
            </a:r>
            <a:r>
              <a:rPr lang="en-US" sz="4800" dirty="0">
                <a:latin typeface="Open Sans" panose="020B0606030504020204" pitchFamily="34" charset="0"/>
                <a:ea typeface="Open Sans" panose="020B0606030504020204" pitchFamily="34" charset="0"/>
                <a:cs typeface="Open Sans" panose="020B0606030504020204" pitchFamily="34" charset="0"/>
              </a:rPr>
              <a:t> which are </a:t>
            </a:r>
            <a:r>
              <a:rPr lang="en-US" sz="4800" dirty="0" err="1">
                <a:latin typeface="Open Sans" panose="020B0606030504020204" pitchFamily="34" charset="0"/>
                <a:ea typeface="Open Sans" panose="020B0606030504020204" pitchFamily="34" charset="0"/>
                <a:cs typeface="Open Sans" panose="020B0606030504020204" pitchFamily="34" charset="0"/>
              </a:rPr>
              <a:t>blueHouse</a:t>
            </a:r>
            <a:r>
              <a:rPr lang="en-US" sz="4800" dirty="0">
                <a:latin typeface="Open Sans" panose="020B0606030504020204" pitchFamily="34" charset="0"/>
                <a:ea typeface="Open Sans" panose="020B0606030504020204" pitchFamily="34" charset="0"/>
                <a:cs typeface="Open Sans" panose="020B0606030504020204" pitchFamily="34" charset="0"/>
              </a:rPr>
              <a:t>, </a:t>
            </a:r>
            <a:r>
              <a:rPr lang="en-US" sz="4800" dirty="0" err="1">
                <a:latin typeface="Open Sans" panose="020B0606030504020204" pitchFamily="34" charset="0"/>
                <a:ea typeface="Open Sans" panose="020B0606030504020204" pitchFamily="34" charset="0"/>
                <a:cs typeface="Open Sans" panose="020B0606030504020204" pitchFamily="34" charset="0"/>
              </a:rPr>
              <a:t>anotherHouse</a:t>
            </a:r>
            <a:r>
              <a:rPr lang="en-US" sz="4800" dirty="0">
                <a:latin typeface="Open Sans" panose="020B0606030504020204" pitchFamily="34" charset="0"/>
                <a:ea typeface="Open Sans" panose="020B0606030504020204" pitchFamily="34" charset="0"/>
                <a:cs typeface="Open Sans" panose="020B0606030504020204" pitchFamily="34" charset="0"/>
              </a:rPr>
              <a:t> and </a:t>
            </a:r>
            <a:r>
              <a:rPr lang="en-US" sz="4800" dirty="0" err="1">
                <a:latin typeface="Open Sans" panose="020B0606030504020204" pitchFamily="34" charset="0"/>
                <a:ea typeface="Open Sans" panose="020B0606030504020204" pitchFamily="34" charset="0"/>
                <a:cs typeface="Open Sans" panose="020B0606030504020204" pitchFamily="34" charset="0"/>
              </a:rPr>
              <a:t>greenHouse</a:t>
            </a:r>
            <a:r>
              <a:rPr lang="en-US" sz="4800" dirty="0">
                <a:latin typeface="Open Sans" panose="020B0606030504020204" pitchFamily="34" charset="0"/>
                <a:ea typeface="Open Sans" panose="020B0606030504020204" pitchFamily="34" charset="0"/>
                <a:cs typeface="Open Sans" panose="020B0606030504020204" pitchFamily="34" charset="0"/>
              </a:rPr>
              <a:t>. The variable (</a:t>
            </a:r>
            <a:r>
              <a:rPr lang="en-US" sz="4800" b="1" dirty="0">
                <a:latin typeface="Open Sans" panose="020B0606030504020204" pitchFamily="34" charset="0"/>
                <a:ea typeface="Open Sans" panose="020B0606030504020204" pitchFamily="34" charset="0"/>
                <a:cs typeface="Open Sans" panose="020B0606030504020204" pitchFamily="34" charset="0"/>
              </a:rPr>
              <a:t>reference</a:t>
            </a:r>
            <a:r>
              <a:rPr lang="en-US" sz="4800" dirty="0">
                <a:latin typeface="Open Sans" panose="020B0606030504020204" pitchFamily="34" charset="0"/>
                <a:ea typeface="Open Sans" panose="020B0606030504020204" pitchFamily="34" charset="0"/>
                <a:cs typeface="Open Sans" panose="020B0606030504020204" pitchFamily="34" charset="0"/>
              </a:rPr>
              <a:t>) </a:t>
            </a:r>
            <a:r>
              <a:rPr lang="en-US" sz="4800" dirty="0" err="1">
                <a:latin typeface="Open Sans" panose="020B0606030504020204" pitchFamily="34" charset="0"/>
                <a:ea typeface="Open Sans" panose="020B0606030504020204" pitchFamily="34" charset="0"/>
                <a:cs typeface="Open Sans" panose="020B0606030504020204" pitchFamily="34" charset="0"/>
              </a:rPr>
              <a:t>greenHouse</a:t>
            </a:r>
            <a:r>
              <a:rPr lang="en-US" sz="4800" dirty="0">
                <a:latin typeface="Open Sans" panose="020B0606030504020204" pitchFamily="34" charset="0"/>
                <a:ea typeface="Open Sans" panose="020B0606030504020204" pitchFamily="34" charset="0"/>
                <a:cs typeface="Open Sans" panose="020B0606030504020204" pitchFamily="34" charset="0"/>
              </a:rPr>
              <a:t> points to a different </a:t>
            </a:r>
            <a:r>
              <a:rPr lang="en-US" sz="4800" b="1" dirty="0">
                <a:latin typeface="Open Sans" panose="020B0606030504020204" pitchFamily="34" charset="0"/>
                <a:ea typeface="Open Sans" panose="020B0606030504020204" pitchFamily="34" charset="0"/>
                <a:cs typeface="Open Sans" panose="020B0606030504020204" pitchFamily="34" charset="0"/>
              </a:rPr>
              <a:t>object</a:t>
            </a:r>
            <a:r>
              <a:rPr lang="en-US" sz="4800" dirty="0">
                <a:latin typeface="Open Sans" panose="020B0606030504020204" pitchFamily="34" charset="0"/>
                <a:ea typeface="Open Sans" panose="020B0606030504020204" pitchFamily="34" charset="0"/>
                <a:cs typeface="Open Sans" panose="020B0606030504020204" pitchFamily="34" charset="0"/>
              </a:rPr>
              <a:t> in memory, but </a:t>
            </a:r>
            <a:r>
              <a:rPr lang="en-US" sz="4800" dirty="0" err="1">
                <a:latin typeface="Open Sans" panose="020B0606030504020204" pitchFamily="34" charset="0"/>
                <a:ea typeface="Open Sans" panose="020B0606030504020204" pitchFamily="34" charset="0"/>
                <a:cs typeface="Open Sans" panose="020B0606030504020204" pitchFamily="34" charset="0"/>
              </a:rPr>
              <a:t>blueHouse</a:t>
            </a:r>
            <a:r>
              <a:rPr lang="en-US" sz="4800" dirty="0">
                <a:latin typeface="Open Sans" panose="020B0606030504020204" pitchFamily="34" charset="0"/>
                <a:ea typeface="Open Sans" panose="020B0606030504020204" pitchFamily="34" charset="0"/>
                <a:cs typeface="Open Sans" panose="020B0606030504020204" pitchFamily="34" charset="0"/>
              </a:rPr>
              <a:t> and </a:t>
            </a:r>
            <a:r>
              <a:rPr lang="en-US" sz="4800" dirty="0" err="1">
                <a:latin typeface="Open Sans" panose="020B0606030504020204" pitchFamily="34" charset="0"/>
                <a:ea typeface="Open Sans" panose="020B0606030504020204" pitchFamily="34" charset="0"/>
                <a:cs typeface="Open Sans" panose="020B0606030504020204" pitchFamily="34" charset="0"/>
              </a:rPr>
              <a:t>anotherHouse</a:t>
            </a:r>
            <a:r>
              <a:rPr lang="en-US" sz="4800" dirty="0">
                <a:latin typeface="Open Sans" panose="020B0606030504020204" pitchFamily="34" charset="0"/>
                <a:ea typeface="Open Sans" panose="020B0606030504020204" pitchFamily="34" charset="0"/>
                <a:cs typeface="Open Sans" panose="020B0606030504020204" pitchFamily="34" charset="0"/>
              </a:rPr>
              <a:t> point to the same object in memory.</a:t>
            </a:r>
          </a:p>
        </p:txBody>
      </p:sp>
      <p:sp>
        <p:nvSpPr>
          <p:cNvPr id="40" name="Shape 70">
            <a:extLst>
              <a:ext uri="{FF2B5EF4-FFF2-40B4-BE49-F238E27FC236}">
                <a16:creationId xmlns:a16="http://schemas.microsoft.com/office/drawing/2014/main" id="{6E1DEC35-3E2E-97C2-7829-345A786B57FE}"/>
              </a:ext>
            </a:extLst>
          </p:cNvPr>
          <p:cNvSpPr/>
          <p:nvPr/>
        </p:nvSpPr>
        <p:spPr>
          <a:xfrm flipV="1">
            <a:off x="19203176" y="10286999"/>
            <a:ext cx="10486832" cy="741784"/>
          </a:xfrm>
          <a:prstGeom prst="rect">
            <a:avLst/>
          </a:prstGeom>
          <a:noFill/>
          <a:ln w="76200" cap="flat" cmpd="sng">
            <a:solidFill>
              <a:srgbClr val="FF0000"/>
            </a:solidFill>
            <a:prstDash val="solid"/>
            <a:round/>
            <a:headEnd type="none" w="med" len="med"/>
            <a:tailEnd type="none" w="med" len="med"/>
          </a:ln>
        </p:spPr>
        <p:txBody>
          <a:bodyPr spcFirstLastPara="1" wrap="square" lIns="91836" tIns="91836" rIns="91836" bIns="91836" anchor="ctr" anchorCtr="0">
            <a:noAutofit/>
          </a:bodyPr>
          <a:lstStyle/>
          <a:p>
            <a:endParaRPr sz="3761"/>
          </a:p>
        </p:txBody>
      </p:sp>
      <p:pic>
        <p:nvPicPr>
          <p:cNvPr id="6" name="Picture 5">
            <a:extLst>
              <a:ext uri="{FF2B5EF4-FFF2-40B4-BE49-F238E27FC236}">
                <a16:creationId xmlns:a16="http://schemas.microsoft.com/office/drawing/2014/main" id="{3260CE26-6C77-FC2D-E3E4-75F90DA94C02}"/>
              </a:ext>
            </a:extLst>
          </p:cNvPr>
          <p:cNvPicPr>
            <a:picLocks noChangeAspect="1"/>
          </p:cNvPicPr>
          <p:nvPr/>
        </p:nvPicPr>
        <p:blipFill>
          <a:blip r:embed="rId5"/>
          <a:stretch>
            <a:fillRect/>
          </a:stretch>
        </p:blipFill>
        <p:spPr>
          <a:xfrm>
            <a:off x="1472400" y="3556800"/>
            <a:ext cx="14956126" cy="10827800"/>
          </a:xfrm>
          <a:prstGeom prst="rect">
            <a:avLst/>
          </a:prstGeom>
        </p:spPr>
      </p:pic>
    </p:spTree>
    <p:extLst>
      <p:ext uri="{BB962C8B-B14F-4D97-AF65-F5344CB8AC3E}">
        <p14:creationId xmlns:p14="http://schemas.microsoft.com/office/powerpoint/2010/main" val="3548949839"/>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400BCB4-05A9-7BE2-398F-C37D05334562}"/>
              </a:ext>
            </a:extLst>
          </p:cNvPr>
          <p:cNvPicPr>
            <a:picLocks noChangeAspect="1"/>
          </p:cNvPicPr>
          <p:nvPr/>
        </p:nvPicPr>
        <p:blipFill>
          <a:blip r:embed="rId3">
            <a:alphaModFix/>
          </a:blip>
          <a:stretch>
            <a:fillRect/>
          </a:stretch>
        </p:blipFill>
        <p:spPr>
          <a:xfrm>
            <a:off x="17259379" y="2592199"/>
            <a:ext cx="17279619" cy="12236285"/>
          </a:xfrm>
          <a:prstGeom prst="rect">
            <a:avLst/>
          </a:prstGeom>
        </p:spPr>
      </p:pic>
      <p:sp>
        <p:nvSpPr>
          <p:cNvPr id="126" name="Shape 126"/>
          <p:cNvSpPr/>
          <p:nvPr/>
        </p:nvSpPr>
        <p:spPr>
          <a:xfrm>
            <a:off x="952498" y="459786"/>
            <a:ext cx="2584361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4"/>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2" name="Rectangle 1">
            <a:extLst>
              <a:ext uri="{FF2B5EF4-FFF2-40B4-BE49-F238E27FC236}">
                <a16:creationId xmlns:a16="http://schemas.microsoft.com/office/drawing/2014/main" id="{8576AF1B-06A9-326E-ACAD-562A3D1496C1}"/>
              </a:ext>
            </a:extLst>
          </p:cNvPr>
          <p:cNvSpPr/>
          <p:nvPr/>
        </p:nvSpPr>
        <p:spPr>
          <a:xfrm>
            <a:off x="952501" y="14978783"/>
            <a:ext cx="34782670" cy="3071174"/>
          </a:xfrm>
          <a:prstGeom prst="rect">
            <a:avLst/>
          </a:prstGeom>
        </p:spPr>
        <p:txBody>
          <a:bodyPr wrap="square">
            <a:normAutofit/>
          </a:bodyPr>
          <a:lstStyle/>
          <a:p>
            <a:pPr algn="l">
              <a:spcAft>
                <a:spcPts val="5022"/>
              </a:spcAft>
            </a:pPr>
            <a:r>
              <a:rPr lang="en-US" sz="4800" dirty="0">
                <a:latin typeface="Open Sans" panose="020B0606030504020204" pitchFamily="34" charset="0"/>
                <a:ea typeface="Open Sans" panose="020B0606030504020204" pitchFamily="34" charset="0"/>
                <a:cs typeface="Open Sans" panose="020B0606030504020204" pitchFamily="34" charset="0"/>
              </a:rPr>
              <a:t>Here we assigns </a:t>
            </a:r>
            <a:r>
              <a:rPr lang="en-US" sz="4800" dirty="0" err="1">
                <a:latin typeface="Open Sans" panose="020B0606030504020204" pitchFamily="34" charset="0"/>
                <a:ea typeface="Open Sans" panose="020B0606030504020204" pitchFamily="34" charset="0"/>
                <a:cs typeface="Open Sans" panose="020B0606030504020204" pitchFamily="34" charset="0"/>
              </a:rPr>
              <a:t>greenHouse</a:t>
            </a:r>
            <a:r>
              <a:rPr lang="en-US" sz="4800" dirty="0">
                <a:latin typeface="Open Sans" panose="020B0606030504020204" pitchFamily="34" charset="0"/>
                <a:ea typeface="Open Sans" panose="020B0606030504020204" pitchFamily="34" charset="0"/>
                <a:cs typeface="Open Sans" panose="020B0606030504020204" pitchFamily="34" charset="0"/>
              </a:rPr>
              <a:t> to </a:t>
            </a:r>
            <a:r>
              <a:rPr lang="en-US" sz="4800" dirty="0" err="1">
                <a:latin typeface="Open Sans" panose="020B0606030504020204" pitchFamily="34" charset="0"/>
                <a:ea typeface="Open Sans" panose="020B0606030504020204" pitchFamily="34" charset="0"/>
                <a:cs typeface="Open Sans" panose="020B0606030504020204" pitchFamily="34" charset="0"/>
              </a:rPr>
              <a:t>anotherHouse</a:t>
            </a:r>
            <a:r>
              <a:rPr lang="en-US" sz="4800" dirty="0">
                <a:latin typeface="Open Sans" panose="020B0606030504020204" pitchFamily="34" charset="0"/>
                <a:ea typeface="Open Sans" panose="020B0606030504020204" pitchFamily="34" charset="0"/>
                <a:cs typeface="Open Sans" panose="020B0606030504020204" pitchFamily="34" charset="0"/>
              </a:rPr>
              <a:t>. In other words we are dereferencing </a:t>
            </a:r>
            <a:r>
              <a:rPr lang="en-US" sz="4800" dirty="0" err="1">
                <a:latin typeface="Open Sans" panose="020B0606030504020204" pitchFamily="34" charset="0"/>
                <a:ea typeface="Open Sans" panose="020B0606030504020204" pitchFamily="34" charset="0"/>
                <a:cs typeface="Open Sans" panose="020B0606030504020204" pitchFamily="34" charset="0"/>
              </a:rPr>
              <a:t>anotherHouse</a:t>
            </a:r>
            <a:r>
              <a:rPr lang="en-US" sz="4800" dirty="0">
                <a:latin typeface="Open Sans" panose="020B0606030504020204" pitchFamily="34" charset="0"/>
                <a:ea typeface="Open Sans" panose="020B0606030504020204" pitchFamily="34" charset="0"/>
                <a:cs typeface="Open Sans" panose="020B0606030504020204" pitchFamily="34" charset="0"/>
              </a:rPr>
              <a:t>. It will now point to a different </a:t>
            </a:r>
            <a:r>
              <a:rPr lang="en-US" sz="4800" b="1" dirty="0">
                <a:latin typeface="Open Sans" panose="020B0606030504020204" pitchFamily="34" charset="0"/>
                <a:ea typeface="Open Sans" panose="020B0606030504020204" pitchFamily="34" charset="0"/>
                <a:cs typeface="Open Sans" panose="020B0606030504020204" pitchFamily="34" charset="0"/>
              </a:rPr>
              <a:t>object</a:t>
            </a:r>
            <a:r>
              <a:rPr lang="en-US" sz="4800" dirty="0">
                <a:latin typeface="Open Sans" panose="020B0606030504020204" pitchFamily="34" charset="0"/>
                <a:ea typeface="Open Sans" panose="020B0606030504020204" pitchFamily="34" charset="0"/>
                <a:cs typeface="Open Sans" panose="020B0606030504020204" pitchFamily="34" charset="0"/>
              </a:rPr>
              <a:t> in memory. Before it was pointing to a house that had the “yellow” color, now it points to the house that has the “green” color. In this scenario we still have three </a:t>
            </a:r>
            <a:r>
              <a:rPr lang="en-US" sz="4800" b="1" dirty="0">
                <a:latin typeface="Open Sans" panose="020B0606030504020204" pitchFamily="34" charset="0"/>
                <a:ea typeface="Open Sans" panose="020B0606030504020204" pitchFamily="34" charset="0"/>
                <a:cs typeface="Open Sans" panose="020B0606030504020204" pitchFamily="34" charset="0"/>
              </a:rPr>
              <a:t>references</a:t>
            </a:r>
            <a:r>
              <a:rPr lang="en-US" sz="4800" dirty="0">
                <a:latin typeface="Open Sans" panose="020B0606030504020204" pitchFamily="34" charset="0"/>
                <a:ea typeface="Open Sans" panose="020B0606030504020204" pitchFamily="34" charset="0"/>
                <a:cs typeface="Open Sans" panose="020B0606030504020204" pitchFamily="34" charset="0"/>
              </a:rPr>
              <a:t> and two </a:t>
            </a:r>
            <a:r>
              <a:rPr lang="en-US" sz="4800" b="1" dirty="0">
                <a:latin typeface="Open Sans" panose="020B0606030504020204" pitchFamily="34" charset="0"/>
                <a:ea typeface="Open Sans" panose="020B0606030504020204" pitchFamily="34" charset="0"/>
                <a:cs typeface="Open Sans" panose="020B0606030504020204" pitchFamily="34" charset="0"/>
              </a:rPr>
              <a:t>objects</a:t>
            </a:r>
            <a:r>
              <a:rPr lang="en-US" sz="4800" dirty="0">
                <a:latin typeface="Open Sans" panose="020B0606030504020204" pitchFamily="34" charset="0"/>
                <a:ea typeface="Open Sans" panose="020B0606030504020204" pitchFamily="34" charset="0"/>
                <a:cs typeface="Open Sans" panose="020B0606030504020204" pitchFamily="34" charset="0"/>
              </a:rPr>
              <a:t> in memory but </a:t>
            </a:r>
            <a:r>
              <a:rPr lang="en-US" sz="4800" dirty="0" err="1">
                <a:latin typeface="Open Sans" panose="020B0606030504020204" pitchFamily="34" charset="0"/>
                <a:ea typeface="Open Sans" panose="020B0606030504020204" pitchFamily="34" charset="0"/>
                <a:cs typeface="Open Sans" panose="020B0606030504020204" pitchFamily="34" charset="0"/>
              </a:rPr>
              <a:t>blueHouse</a:t>
            </a:r>
            <a:r>
              <a:rPr lang="en-US" sz="4800" dirty="0">
                <a:latin typeface="Open Sans" panose="020B0606030504020204" pitchFamily="34" charset="0"/>
                <a:ea typeface="Open Sans" panose="020B0606030504020204" pitchFamily="34" charset="0"/>
                <a:cs typeface="Open Sans" panose="020B0606030504020204" pitchFamily="34" charset="0"/>
              </a:rPr>
              <a:t> points to one </a:t>
            </a:r>
            <a:r>
              <a:rPr lang="en-US" sz="4800" b="1" dirty="0">
                <a:latin typeface="Open Sans" panose="020B0606030504020204" pitchFamily="34" charset="0"/>
                <a:ea typeface="Open Sans" panose="020B0606030504020204" pitchFamily="34" charset="0"/>
                <a:cs typeface="Open Sans" panose="020B0606030504020204" pitchFamily="34" charset="0"/>
              </a:rPr>
              <a:t>object</a:t>
            </a:r>
            <a:r>
              <a:rPr lang="en-US" sz="4800" dirty="0">
                <a:latin typeface="Open Sans" panose="020B0606030504020204" pitchFamily="34" charset="0"/>
                <a:ea typeface="Open Sans" panose="020B0606030504020204" pitchFamily="34" charset="0"/>
                <a:cs typeface="Open Sans" panose="020B0606030504020204" pitchFamily="34" charset="0"/>
              </a:rPr>
              <a:t> while </a:t>
            </a:r>
            <a:r>
              <a:rPr lang="en-US" sz="4800" dirty="0" err="1">
                <a:latin typeface="Open Sans" panose="020B0606030504020204" pitchFamily="34" charset="0"/>
                <a:ea typeface="Open Sans" panose="020B0606030504020204" pitchFamily="34" charset="0"/>
                <a:cs typeface="Open Sans" panose="020B0606030504020204" pitchFamily="34" charset="0"/>
              </a:rPr>
              <a:t>anotherHouse</a:t>
            </a:r>
            <a:r>
              <a:rPr lang="en-US" sz="4800" dirty="0">
                <a:latin typeface="Open Sans" panose="020B0606030504020204" pitchFamily="34" charset="0"/>
                <a:ea typeface="Open Sans" panose="020B0606030504020204" pitchFamily="34" charset="0"/>
                <a:cs typeface="Open Sans" panose="020B0606030504020204" pitchFamily="34" charset="0"/>
              </a:rPr>
              <a:t> and </a:t>
            </a:r>
            <a:r>
              <a:rPr lang="en-US" sz="4800" dirty="0" err="1">
                <a:latin typeface="Open Sans" panose="020B0606030504020204" pitchFamily="34" charset="0"/>
                <a:ea typeface="Open Sans" panose="020B0606030504020204" pitchFamily="34" charset="0"/>
                <a:cs typeface="Open Sans" panose="020B0606030504020204" pitchFamily="34" charset="0"/>
              </a:rPr>
              <a:t>greenHouse</a:t>
            </a:r>
            <a:r>
              <a:rPr lang="en-US" sz="4800" dirty="0">
                <a:latin typeface="Open Sans" panose="020B0606030504020204" pitchFamily="34" charset="0"/>
                <a:ea typeface="Open Sans" panose="020B0606030504020204" pitchFamily="34" charset="0"/>
                <a:cs typeface="Open Sans" panose="020B0606030504020204" pitchFamily="34" charset="0"/>
              </a:rPr>
              <a:t> point to the same </a:t>
            </a:r>
            <a:r>
              <a:rPr lang="en-US" sz="4800" b="1" dirty="0">
                <a:latin typeface="Open Sans" panose="020B0606030504020204" pitchFamily="34" charset="0"/>
                <a:ea typeface="Open Sans" panose="020B0606030504020204" pitchFamily="34" charset="0"/>
                <a:cs typeface="Open Sans" panose="020B0606030504020204" pitchFamily="34" charset="0"/>
              </a:rPr>
              <a:t>object</a:t>
            </a:r>
            <a:r>
              <a:rPr lang="en-US" sz="4800" dirty="0">
                <a:latin typeface="Open Sans" panose="020B0606030504020204" pitchFamily="34" charset="0"/>
                <a:ea typeface="Open Sans" panose="020B0606030504020204" pitchFamily="34" charset="0"/>
                <a:cs typeface="Open Sans" panose="020B0606030504020204" pitchFamily="34" charset="0"/>
              </a:rPr>
              <a:t> in memory.</a:t>
            </a:r>
          </a:p>
        </p:txBody>
      </p:sp>
      <p:sp>
        <p:nvSpPr>
          <p:cNvPr id="40" name="Shape 70">
            <a:extLst>
              <a:ext uri="{FF2B5EF4-FFF2-40B4-BE49-F238E27FC236}">
                <a16:creationId xmlns:a16="http://schemas.microsoft.com/office/drawing/2014/main" id="{6E1DEC35-3E2E-97C2-7829-345A786B57FE}"/>
              </a:ext>
            </a:extLst>
          </p:cNvPr>
          <p:cNvSpPr/>
          <p:nvPr/>
        </p:nvSpPr>
        <p:spPr>
          <a:xfrm>
            <a:off x="19203176" y="10935478"/>
            <a:ext cx="7239779" cy="634481"/>
          </a:xfrm>
          <a:prstGeom prst="rect">
            <a:avLst/>
          </a:prstGeom>
          <a:noFill/>
          <a:ln w="76200" cap="flat" cmpd="sng">
            <a:solidFill>
              <a:srgbClr val="FF0000"/>
            </a:solidFill>
            <a:prstDash val="solid"/>
            <a:round/>
            <a:headEnd type="none" w="med" len="med"/>
            <a:tailEnd type="none" w="med" len="med"/>
          </a:ln>
        </p:spPr>
        <p:txBody>
          <a:bodyPr spcFirstLastPara="1" wrap="square" lIns="91836" tIns="91836" rIns="91836" bIns="91836" anchor="ctr" anchorCtr="0">
            <a:noAutofit/>
          </a:bodyPr>
          <a:lstStyle/>
          <a:p>
            <a:endParaRPr sz="3761"/>
          </a:p>
        </p:txBody>
      </p:sp>
      <p:pic>
        <p:nvPicPr>
          <p:cNvPr id="5" name="Picture 4">
            <a:extLst>
              <a:ext uri="{FF2B5EF4-FFF2-40B4-BE49-F238E27FC236}">
                <a16:creationId xmlns:a16="http://schemas.microsoft.com/office/drawing/2014/main" id="{DF52BC20-2C67-7805-CE0B-A0794BA2A05D}"/>
              </a:ext>
            </a:extLst>
          </p:cNvPr>
          <p:cNvPicPr>
            <a:picLocks noChangeAspect="1"/>
          </p:cNvPicPr>
          <p:nvPr/>
        </p:nvPicPr>
        <p:blipFill>
          <a:blip r:embed="rId5"/>
          <a:stretch>
            <a:fillRect/>
          </a:stretch>
        </p:blipFill>
        <p:spPr>
          <a:xfrm>
            <a:off x="1472400" y="3556800"/>
            <a:ext cx="14956126" cy="10827800"/>
          </a:xfrm>
          <a:prstGeom prst="rect">
            <a:avLst/>
          </a:prstGeom>
        </p:spPr>
      </p:pic>
    </p:spTree>
    <p:extLst>
      <p:ext uri="{BB962C8B-B14F-4D97-AF65-F5344CB8AC3E}">
        <p14:creationId xmlns:p14="http://schemas.microsoft.com/office/powerpoint/2010/main" val="2581466698"/>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92E9DA7-92B7-56FE-B8EE-10337DCD3218}"/>
              </a:ext>
            </a:extLst>
          </p:cNvPr>
          <p:cNvPicPr>
            <a:picLocks noChangeAspect="1"/>
          </p:cNvPicPr>
          <p:nvPr/>
        </p:nvPicPr>
        <p:blipFill>
          <a:blip r:embed="rId3">
            <a:alphaModFix/>
          </a:blip>
          <a:stretch>
            <a:fillRect/>
          </a:stretch>
        </p:blipFill>
        <p:spPr>
          <a:xfrm>
            <a:off x="17259379" y="2592199"/>
            <a:ext cx="17279619" cy="12236285"/>
          </a:xfrm>
          <a:prstGeom prst="rect">
            <a:avLst/>
          </a:prstGeom>
        </p:spPr>
      </p:pic>
      <p:sp>
        <p:nvSpPr>
          <p:cNvPr id="126" name="Shape 126"/>
          <p:cNvSpPr/>
          <p:nvPr/>
        </p:nvSpPr>
        <p:spPr>
          <a:xfrm>
            <a:off x="952498" y="459786"/>
            <a:ext cx="2584361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4"/>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sp>
        <p:nvSpPr>
          <p:cNvPr id="2" name="Rectangle 1">
            <a:extLst>
              <a:ext uri="{FF2B5EF4-FFF2-40B4-BE49-F238E27FC236}">
                <a16:creationId xmlns:a16="http://schemas.microsoft.com/office/drawing/2014/main" id="{8576AF1B-06A9-326E-ACAD-562A3D1496C1}"/>
              </a:ext>
            </a:extLst>
          </p:cNvPr>
          <p:cNvSpPr/>
          <p:nvPr/>
        </p:nvSpPr>
        <p:spPr>
          <a:xfrm>
            <a:off x="952501" y="14978783"/>
            <a:ext cx="34782670" cy="3071174"/>
          </a:xfrm>
          <a:prstGeom prst="rect">
            <a:avLst/>
          </a:prstGeom>
        </p:spPr>
        <p:txBody>
          <a:bodyPr wrap="square">
            <a:normAutofit fontScale="92500"/>
          </a:bodyPr>
          <a:lstStyle/>
          <a:p>
            <a:pPr algn="l">
              <a:spcAft>
                <a:spcPts val="5022"/>
              </a:spcAft>
            </a:pPr>
            <a:r>
              <a:rPr lang="en-US" sz="6000" dirty="0">
                <a:latin typeface="Open Sans" panose="020B0606030504020204" pitchFamily="34" charset="0"/>
                <a:ea typeface="Open Sans" panose="020B0606030504020204" pitchFamily="34" charset="0"/>
                <a:cs typeface="Open Sans" panose="020B0606030504020204" pitchFamily="34" charset="0"/>
              </a:rPr>
              <a:t>Finally we have three </a:t>
            </a:r>
            <a:r>
              <a:rPr lang="en-US" sz="6000" dirty="0" err="1">
                <a:latin typeface="Open Sans" panose="020B0606030504020204" pitchFamily="34" charset="0"/>
                <a:ea typeface="Open Sans" panose="020B0606030504020204" pitchFamily="34" charset="0"/>
                <a:cs typeface="Open Sans" panose="020B0606030504020204" pitchFamily="34" charset="0"/>
              </a:rPr>
              <a:t>println</a:t>
            </a:r>
            <a:r>
              <a:rPr lang="en-US" sz="6000" dirty="0">
                <a:latin typeface="Open Sans" panose="020B0606030504020204" pitchFamily="34" charset="0"/>
                <a:ea typeface="Open Sans" panose="020B0606030504020204" pitchFamily="34" charset="0"/>
                <a:cs typeface="Open Sans" panose="020B0606030504020204" pitchFamily="34" charset="0"/>
              </a:rPr>
              <a:t> statements. The first will print “yellow” since the </a:t>
            </a:r>
            <a:r>
              <a:rPr lang="en-US" sz="6000" dirty="0" err="1">
                <a:latin typeface="Open Sans" panose="020B0606030504020204" pitchFamily="34" charset="0"/>
                <a:ea typeface="Open Sans" panose="020B0606030504020204" pitchFamily="34" charset="0"/>
                <a:cs typeface="Open Sans" panose="020B0606030504020204" pitchFamily="34" charset="0"/>
              </a:rPr>
              <a:t>blueHouse</a:t>
            </a:r>
            <a:r>
              <a:rPr lang="en-US" sz="6000" dirty="0">
                <a:latin typeface="Open Sans" panose="020B0606030504020204" pitchFamily="34" charset="0"/>
                <a:ea typeface="Open Sans" panose="020B0606030504020204" pitchFamily="34" charset="0"/>
                <a:cs typeface="Open Sans" panose="020B0606030504020204" pitchFamily="34" charset="0"/>
              </a:rPr>
              <a:t> </a:t>
            </a:r>
            <a:r>
              <a:rPr lang="en-US" sz="6000" b="1" dirty="0">
                <a:latin typeface="Open Sans" panose="020B0606030504020204" pitchFamily="34" charset="0"/>
                <a:ea typeface="Open Sans" panose="020B0606030504020204" pitchFamily="34" charset="0"/>
                <a:cs typeface="Open Sans" panose="020B0606030504020204" pitchFamily="34" charset="0"/>
              </a:rPr>
              <a:t>variable(reference)</a:t>
            </a:r>
            <a:r>
              <a:rPr lang="en-US" sz="6000" dirty="0">
                <a:latin typeface="Open Sans" panose="020B0606030504020204" pitchFamily="34" charset="0"/>
                <a:ea typeface="Open Sans" panose="020B0606030504020204" pitchFamily="34" charset="0"/>
                <a:cs typeface="Open Sans" panose="020B0606030504020204" pitchFamily="34" charset="0"/>
              </a:rPr>
              <a:t> points to the </a:t>
            </a:r>
            <a:r>
              <a:rPr lang="en-US" sz="6000" b="1" dirty="0">
                <a:latin typeface="Open Sans" panose="020B0606030504020204" pitchFamily="34" charset="0"/>
                <a:ea typeface="Open Sans" panose="020B0606030504020204" pitchFamily="34" charset="0"/>
                <a:cs typeface="Open Sans" panose="020B0606030504020204" pitchFamily="34" charset="0"/>
              </a:rPr>
              <a:t>object</a:t>
            </a:r>
            <a:r>
              <a:rPr lang="en-US" sz="6000" dirty="0">
                <a:latin typeface="Open Sans" panose="020B0606030504020204" pitchFamily="34" charset="0"/>
                <a:ea typeface="Open Sans" panose="020B0606030504020204" pitchFamily="34" charset="0"/>
                <a:cs typeface="Open Sans" panose="020B0606030504020204" pitchFamily="34" charset="0"/>
              </a:rPr>
              <a:t> in memory that has the “yellow” color, while the next two lines will print “green” since both </a:t>
            </a:r>
            <a:r>
              <a:rPr lang="en-US" sz="6000" dirty="0" err="1">
                <a:latin typeface="Open Sans" panose="020B0606030504020204" pitchFamily="34" charset="0"/>
                <a:ea typeface="Open Sans" panose="020B0606030504020204" pitchFamily="34" charset="0"/>
                <a:cs typeface="Open Sans" panose="020B0606030504020204" pitchFamily="34" charset="0"/>
              </a:rPr>
              <a:t>anotherHouse</a:t>
            </a:r>
            <a:r>
              <a:rPr lang="en-US" sz="6000" dirty="0">
                <a:latin typeface="Open Sans" panose="020B0606030504020204" pitchFamily="34" charset="0"/>
                <a:ea typeface="Open Sans" panose="020B0606030504020204" pitchFamily="34" charset="0"/>
                <a:cs typeface="Open Sans" panose="020B0606030504020204" pitchFamily="34" charset="0"/>
              </a:rPr>
              <a:t> and </a:t>
            </a:r>
            <a:r>
              <a:rPr lang="en-US" sz="6000" dirty="0" err="1">
                <a:latin typeface="Open Sans" panose="020B0606030504020204" pitchFamily="34" charset="0"/>
                <a:ea typeface="Open Sans" panose="020B0606030504020204" pitchFamily="34" charset="0"/>
                <a:cs typeface="Open Sans" panose="020B0606030504020204" pitchFamily="34" charset="0"/>
              </a:rPr>
              <a:t>greenHouse</a:t>
            </a:r>
            <a:r>
              <a:rPr lang="en-US" sz="6000" dirty="0">
                <a:latin typeface="Open Sans" panose="020B0606030504020204" pitchFamily="34" charset="0"/>
                <a:ea typeface="Open Sans" panose="020B0606030504020204" pitchFamily="34" charset="0"/>
                <a:cs typeface="Open Sans" panose="020B0606030504020204" pitchFamily="34" charset="0"/>
              </a:rPr>
              <a:t> point to same </a:t>
            </a:r>
            <a:r>
              <a:rPr lang="en-US" sz="6000" b="1" dirty="0">
                <a:latin typeface="Open Sans" panose="020B0606030504020204" pitchFamily="34" charset="0"/>
                <a:ea typeface="Open Sans" panose="020B0606030504020204" pitchFamily="34" charset="0"/>
                <a:cs typeface="Open Sans" panose="020B0606030504020204" pitchFamily="34" charset="0"/>
              </a:rPr>
              <a:t>object</a:t>
            </a:r>
            <a:r>
              <a:rPr lang="en-US" sz="6000" dirty="0">
                <a:latin typeface="Open Sans" panose="020B0606030504020204" pitchFamily="34" charset="0"/>
                <a:ea typeface="Open Sans" panose="020B0606030504020204" pitchFamily="34" charset="0"/>
                <a:cs typeface="Open Sans" panose="020B0606030504020204" pitchFamily="34" charset="0"/>
              </a:rPr>
              <a:t> in memory. </a:t>
            </a:r>
          </a:p>
        </p:txBody>
      </p:sp>
      <p:sp>
        <p:nvSpPr>
          <p:cNvPr id="40" name="Shape 70">
            <a:extLst>
              <a:ext uri="{FF2B5EF4-FFF2-40B4-BE49-F238E27FC236}">
                <a16:creationId xmlns:a16="http://schemas.microsoft.com/office/drawing/2014/main" id="{6E1DEC35-3E2E-97C2-7829-345A786B57FE}"/>
              </a:ext>
            </a:extLst>
          </p:cNvPr>
          <p:cNvSpPr/>
          <p:nvPr/>
        </p:nvSpPr>
        <p:spPr>
          <a:xfrm flipV="1">
            <a:off x="19203176" y="11980505"/>
            <a:ext cx="14331044" cy="1828800"/>
          </a:xfrm>
          <a:prstGeom prst="rect">
            <a:avLst/>
          </a:prstGeom>
          <a:noFill/>
          <a:ln w="76200" cap="flat" cmpd="sng">
            <a:solidFill>
              <a:srgbClr val="FF0000"/>
            </a:solidFill>
            <a:prstDash val="solid"/>
            <a:round/>
            <a:headEnd type="none" w="med" len="med"/>
            <a:tailEnd type="none" w="med" len="med"/>
          </a:ln>
        </p:spPr>
        <p:txBody>
          <a:bodyPr spcFirstLastPara="1" wrap="square" lIns="91836" tIns="91836" rIns="91836" bIns="91836" anchor="ctr" anchorCtr="0">
            <a:noAutofit/>
          </a:bodyPr>
          <a:lstStyle/>
          <a:p>
            <a:endParaRPr sz="3761"/>
          </a:p>
        </p:txBody>
      </p:sp>
      <p:pic>
        <p:nvPicPr>
          <p:cNvPr id="6" name="Picture 5">
            <a:extLst>
              <a:ext uri="{FF2B5EF4-FFF2-40B4-BE49-F238E27FC236}">
                <a16:creationId xmlns:a16="http://schemas.microsoft.com/office/drawing/2014/main" id="{64F361AF-552E-0A28-AEA7-DCE25A9B015E}"/>
              </a:ext>
            </a:extLst>
          </p:cNvPr>
          <p:cNvPicPr>
            <a:picLocks noChangeAspect="1"/>
          </p:cNvPicPr>
          <p:nvPr/>
        </p:nvPicPr>
        <p:blipFill>
          <a:blip r:embed="rId5"/>
          <a:stretch>
            <a:fillRect/>
          </a:stretch>
        </p:blipFill>
        <p:spPr>
          <a:xfrm>
            <a:off x="1472400" y="3556800"/>
            <a:ext cx="14956126" cy="10827800"/>
          </a:xfrm>
          <a:prstGeom prst="rect">
            <a:avLst/>
          </a:prstGeom>
        </p:spPr>
      </p:pic>
    </p:spTree>
    <p:extLst>
      <p:ext uri="{BB962C8B-B14F-4D97-AF65-F5344CB8AC3E}">
        <p14:creationId xmlns:p14="http://schemas.microsoft.com/office/powerpoint/2010/main" val="3825688357"/>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FC9FB2-D0C6-F613-7163-4EAA85AC47E5}"/>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Consider the code on this slide.</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On the first line, we create a new House, and make it red.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we aren't assigning this to any variable. </a:t>
            </a:r>
          </a:p>
        </p:txBody>
      </p:sp>
      <p:sp>
        <p:nvSpPr>
          <p:cNvPr id="126" name="Shape 126"/>
          <p:cNvSpPr/>
          <p:nvPr/>
        </p:nvSpPr>
        <p:spPr>
          <a:xfrm>
            <a:off x="952498" y="459786"/>
            <a:ext cx="1791195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reference vs The object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pic>
        <p:nvPicPr>
          <p:cNvPr id="44" name="Picture 43">
            <a:extLst>
              <a:ext uri="{FF2B5EF4-FFF2-40B4-BE49-F238E27FC236}">
                <a16:creationId xmlns:a16="http://schemas.microsoft.com/office/drawing/2014/main" id="{CD2FD17D-2092-225C-06E7-0D22352EB9F3}"/>
              </a:ext>
            </a:extLst>
          </p:cNvPr>
          <p:cNvPicPr>
            <a:picLocks noChangeAspect="1"/>
          </p:cNvPicPr>
          <p:nvPr/>
        </p:nvPicPr>
        <p:blipFill>
          <a:blip r:embed="rId4"/>
          <a:stretch>
            <a:fillRect/>
          </a:stretch>
        </p:blipFill>
        <p:spPr>
          <a:xfrm>
            <a:off x="952496" y="5888942"/>
            <a:ext cx="34979199" cy="890785"/>
          </a:xfrm>
          <a:prstGeom prst="rect">
            <a:avLst/>
          </a:prstGeom>
        </p:spPr>
      </p:pic>
      <p:pic>
        <p:nvPicPr>
          <p:cNvPr id="46" name="Picture 45">
            <a:extLst>
              <a:ext uri="{FF2B5EF4-FFF2-40B4-BE49-F238E27FC236}">
                <a16:creationId xmlns:a16="http://schemas.microsoft.com/office/drawing/2014/main" id="{587B3155-C404-94BC-EA53-C4C586E8E80F}"/>
              </a:ext>
            </a:extLst>
          </p:cNvPr>
          <p:cNvPicPr>
            <a:picLocks noChangeAspect="1"/>
          </p:cNvPicPr>
          <p:nvPr/>
        </p:nvPicPr>
        <p:blipFill>
          <a:blip r:embed="rId5"/>
          <a:stretch>
            <a:fillRect/>
          </a:stretch>
        </p:blipFill>
        <p:spPr>
          <a:xfrm>
            <a:off x="952495" y="6735773"/>
            <a:ext cx="34782670" cy="2602354"/>
          </a:xfrm>
          <a:prstGeom prst="rect">
            <a:avLst/>
          </a:prstGeom>
        </p:spPr>
      </p:pic>
      <p:pic>
        <p:nvPicPr>
          <p:cNvPr id="49" name="Picture 48">
            <a:extLst>
              <a:ext uri="{FF2B5EF4-FFF2-40B4-BE49-F238E27FC236}">
                <a16:creationId xmlns:a16="http://schemas.microsoft.com/office/drawing/2014/main" id="{628B6D92-B751-4561-B20E-0AB3A1007DC1}"/>
              </a:ext>
            </a:extLst>
          </p:cNvPr>
          <p:cNvPicPr>
            <a:picLocks noChangeAspect="1"/>
          </p:cNvPicPr>
          <p:nvPr/>
        </p:nvPicPr>
        <p:blipFill>
          <a:blip r:embed="rId6"/>
          <a:stretch>
            <a:fillRect/>
          </a:stretch>
        </p:blipFill>
        <p:spPr>
          <a:xfrm>
            <a:off x="952495" y="9339688"/>
            <a:ext cx="34668300" cy="2505762"/>
          </a:xfrm>
          <a:prstGeom prst="rect">
            <a:avLst/>
          </a:prstGeom>
        </p:spPr>
      </p:pic>
    </p:spTree>
    <p:extLst>
      <p:ext uri="{BB962C8B-B14F-4D97-AF65-F5344CB8AC3E}">
        <p14:creationId xmlns:p14="http://schemas.microsoft.com/office/powerpoint/2010/main" val="4015465313"/>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FC9FB2-D0C6-F613-7163-4EAA85AC47E5}"/>
              </a:ext>
            </a:extLst>
          </p:cNvPr>
          <p:cNvSpPr/>
          <p:nvPr/>
        </p:nvSpPr>
        <p:spPr>
          <a:xfrm>
            <a:off x="952501" y="6139543"/>
            <a:ext cx="34782670" cy="11569957"/>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compiles fine, and you can do this.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object is created in memory, but after that statement completes, our code has no way to access it.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object exists in memory, but we can't communicate with it, after that statement is executed.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didn't create a reference to it. </a:t>
            </a:r>
          </a:p>
        </p:txBody>
      </p:sp>
      <p:sp>
        <p:nvSpPr>
          <p:cNvPr id="126" name="Shape 126"/>
          <p:cNvSpPr/>
          <p:nvPr/>
        </p:nvSpPr>
        <p:spPr>
          <a:xfrm>
            <a:off x="952498" y="459786"/>
            <a:ext cx="17911955"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reference vs The object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pic>
        <p:nvPicPr>
          <p:cNvPr id="44" name="Picture 43">
            <a:extLst>
              <a:ext uri="{FF2B5EF4-FFF2-40B4-BE49-F238E27FC236}">
                <a16:creationId xmlns:a16="http://schemas.microsoft.com/office/drawing/2014/main" id="{CD2FD17D-2092-225C-06E7-0D22352EB9F3}"/>
              </a:ext>
            </a:extLst>
          </p:cNvPr>
          <p:cNvPicPr>
            <a:picLocks noChangeAspect="1"/>
          </p:cNvPicPr>
          <p:nvPr/>
        </p:nvPicPr>
        <p:blipFill>
          <a:blip r:embed="rId4"/>
          <a:stretch>
            <a:fillRect/>
          </a:stretch>
        </p:blipFill>
        <p:spPr>
          <a:xfrm>
            <a:off x="952496" y="4787929"/>
            <a:ext cx="34979199" cy="890785"/>
          </a:xfrm>
          <a:prstGeom prst="rect">
            <a:avLst/>
          </a:prstGeom>
        </p:spPr>
      </p:pic>
    </p:spTree>
    <p:extLst>
      <p:ext uri="{BB962C8B-B14F-4D97-AF65-F5344CB8AC3E}">
        <p14:creationId xmlns:p14="http://schemas.microsoft.com/office/powerpoint/2010/main" val="2344626030"/>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FC9FB2-D0C6-F613-7163-4EAA85AC47E5}"/>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create a reference to the house object we created.</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Our reference, </a:t>
            </a:r>
            <a:r>
              <a:rPr lang="en-US" sz="6400" dirty="0" err="1">
                <a:latin typeface="Open Sans" panose="020B0606030504020204" pitchFamily="34" charset="0"/>
                <a:ea typeface="Open Sans" panose="020B0606030504020204" pitchFamily="34" charset="0"/>
                <a:cs typeface="Open Sans" panose="020B0606030504020204" pitchFamily="34" charset="0"/>
              </a:rPr>
              <a:t>myHouse</a:t>
            </a:r>
            <a:r>
              <a:rPr lang="en-US" sz="6400" dirty="0">
                <a:latin typeface="Open Sans" panose="020B0606030504020204" pitchFamily="34" charset="0"/>
                <a:ea typeface="Open Sans" panose="020B0606030504020204" pitchFamily="34" charset="0"/>
                <a:cs typeface="Open Sans" panose="020B0606030504020204" pitchFamily="34" charset="0"/>
              </a:rPr>
              <a:t>, lets us have access to that beige house, as long as our variable, </a:t>
            </a:r>
            <a:r>
              <a:rPr lang="en-US" sz="6400" dirty="0" err="1">
                <a:latin typeface="Open Sans" panose="020B0606030504020204" pitchFamily="34" charset="0"/>
                <a:ea typeface="Open Sans" panose="020B0606030504020204" pitchFamily="34" charset="0"/>
                <a:cs typeface="Open Sans" panose="020B0606030504020204" pitchFamily="34" charset="0"/>
              </a:rPr>
              <a:t>myHouse</a:t>
            </a:r>
            <a:r>
              <a:rPr lang="en-US" sz="6400" dirty="0">
                <a:latin typeface="Open Sans" panose="020B0606030504020204" pitchFamily="34" charset="0"/>
                <a:ea typeface="Open Sans" panose="020B0606030504020204" pitchFamily="34" charset="0"/>
                <a:cs typeface="Open Sans" panose="020B0606030504020204" pitchFamily="34" charset="0"/>
              </a:rPr>
              <a:t>, stays in scope.</a:t>
            </a:r>
          </a:p>
        </p:txBody>
      </p:sp>
      <p:sp>
        <p:nvSpPr>
          <p:cNvPr id="126" name="Shape 126"/>
          <p:cNvSpPr/>
          <p:nvPr/>
        </p:nvSpPr>
        <p:spPr>
          <a:xfrm>
            <a:off x="952498" y="459786"/>
            <a:ext cx="17911955"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reference vs The object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pic>
        <p:nvPicPr>
          <p:cNvPr id="46" name="Picture 45">
            <a:extLst>
              <a:ext uri="{FF2B5EF4-FFF2-40B4-BE49-F238E27FC236}">
                <a16:creationId xmlns:a16="http://schemas.microsoft.com/office/drawing/2014/main" id="{587B3155-C404-94BC-EA53-C4C586E8E80F}"/>
              </a:ext>
            </a:extLst>
          </p:cNvPr>
          <p:cNvPicPr>
            <a:picLocks noChangeAspect="1"/>
          </p:cNvPicPr>
          <p:nvPr/>
        </p:nvPicPr>
        <p:blipFill>
          <a:blip r:embed="rId4"/>
          <a:stretch>
            <a:fillRect/>
          </a:stretch>
        </p:blipFill>
        <p:spPr>
          <a:xfrm>
            <a:off x="952495" y="5765389"/>
            <a:ext cx="34782670" cy="2602354"/>
          </a:xfrm>
          <a:prstGeom prst="rect">
            <a:avLst/>
          </a:prstGeom>
        </p:spPr>
      </p:pic>
    </p:spTree>
    <p:extLst>
      <p:ext uri="{BB962C8B-B14F-4D97-AF65-F5344CB8AC3E}">
        <p14:creationId xmlns:p14="http://schemas.microsoft.com/office/powerpoint/2010/main" val="476557023"/>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FC9FB2-D0C6-F613-7163-4EAA85AC47E5}"/>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We're creating a red house again, but this is a different object altogether, from the red house we created on line one.</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statement is creating another house object in memory, which has no relationship to the one we created on the first line.</a:t>
            </a:r>
          </a:p>
        </p:txBody>
      </p:sp>
      <p:sp>
        <p:nvSpPr>
          <p:cNvPr id="126" name="Shape 126"/>
          <p:cNvSpPr/>
          <p:nvPr/>
        </p:nvSpPr>
        <p:spPr>
          <a:xfrm>
            <a:off x="952498" y="459786"/>
            <a:ext cx="1791195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reference vs The object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pic>
        <p:nvPicPr>
          <p:cNvPr id="3" name="Picture 2">
            <a:extLst>
              <a:ext uri="{FF2B5EF4-FFF2-40B4-BE49-F238E27FC236}">
                <a16:creationId xmlns:a16="http://schemas.microsoft.com/office/drawing/2014/main" id="{AD488540-B5CE-CBA8-36D2-BAB15940188E}"/>
              </a:ext>
            </a:extLst>
          </p:cNvPr>
          <p:cNvPicPr>
            <a:picLocks noChangeAspect="1"/>
          </p:cNvPicPr>
          <p:nvPr/>
        </p:nvPicPr>
        <p:blipFill>
          <a:blip r:embed="rId4"/>
          <a:stretch>
            <a:fillRect/>
          </a:stretch>
        </p:blipFill>
        <p:spPr>
          <a:xfrm>
            <a:off x="952495" y="7044358"/>
            <a:ext cx="34668300" cy="2505762"/>
          </a:xfrm>
          <a:prstGeom prst="rect">
            <a:avLst/>
          </a:prstGeom>
        </p:spPr>
      </p:pic>
      <p:pic>
        <p:nvPicPr>
          <p:cNvPr id="7" name="Picture 6">
            <a:extLst>
              <a:ext uri="{FF2B5EF4-FFF2-40B4-BE49-F238E27FC236}">
                <a16:creationId xmlns:a16="http://schemas.microsoft.com/office/drawing/2014/main" id="{FC28111B-2508-306F-C3BD-9DA9BF0C5670}"/>
              </a:ext>
            </a:extLst>
          </p:cNvPr>
          <p:cNvPicPr>
            <a:picLocks noChangeAspect="1"/>
          </p:cNvPicPr>
          <p:nvPr/>
        </p:nvPicPr>
        <p:blipFill>
          <a:blip r:embed="rId5"/>
          <a:stretch>
            <a:fillRect/>
          </a:stretch>
        </p:blipFill>
        <p:spPr>
          <a:xfrm>
            <a:off x="952496" y="12894792"/>
            <a:ext cx="34979199" cy="890785"/>
          </a:xfrm>
          <a:prstGeom prst="rect">
            <a:avLst/>
          </a:prstGeom>
        </p:spPr>
      </p:pic>
      <p:pic>
        <p:nvPicPr>
          <p:cNvPr id="8" name="Picture 7">
            <a:extLst>
              <a:ext uri="{FF2B5EF4-FFF2-40B4-BE49-F238E27FC236}">
                <a16:creationId xmlns:a16="http://schemas.microsoft.com/office/drawing/2014/main" id="{9713EDA5-A49D-DC36-D25E-F3128136874D}"/>
              </a:ext>
            </a:extLst>
          </p:cNvPr>
          <p:cNvPicPr>
            <a:picLocks noChangeAspect="1"/>
          </p:cNvPicPr>
          <p:nvPr/>
        </p:nvPicPr>
        <p:blipFill>
          <a:blip r:embed="rId6"/>
          <a:stretch>
            <a:fillRect/>
          </a:stretch>
        </p:blipFill>
        <p:spPr>
          <a:xfrm>
            <a:off x="952495" y="13743184"/>
            <a:ext cx="34782670" cy="2602354"/>
          </a:xfrm>
          <a:prstGeom prst="rect">
            <a:avLst/>
          </a:prstGeom>
        </p:spPr>
      </p:pic>
    </p:spTree>
    <p:extLst>
      <p:ext uri="{BB962C8B-B14F-4D97-AF65-F5344CB8AC3E}">
        <p14:creationId xmlns:p14="http://schemas.microsoft.com/office/powerpoint/2010/main" val="3626070424"/>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FC9FB2-D0C6-F613-7163-4EAA85AC47E5}"/>
              </a:ext>
            </a:extLst>
          </p:cNvPr>
          <p:cNvSpPr/>
          <p:nvPr/>
        </p:nvSpPr>
        <p:spPr>
          <a:xfrm>
            <a:off x="952501" y="9517228"/>
            <a:ext cx="34782670" cy="84140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this code has three instances of house, but only two references.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That first object is said to be eligible for garbage collection, immediately after that first statement.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no longer accessible.</a:t>
            </a:r>
          </a:p>
        </p:txBody>
      </p:sp>
      <p:sp>
        <p:nvSpPr>
          <p:cNvPr id="126" name="Shape 126"/>
          <p:cNvSpPr/>
          <p:nvPr/>
        </p:nvSpPr>
        <p:spPr>
          <a:xfrm>
            <a:off x="952498" y="459786"/>
            <a:ext cx="17911955"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reference vs The object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pic>
        <p:nvPicPr>
          <p:cNvPr id="44" name="Picture 43">
            <a:extLst>
              <a:ext uri="{FF2B5EF4-FFF2-40B4-BE49-F238E27FC236}">
                <a16:creationId xmlns:a16="http://schemas.microsoft.com/office/drawing/2014/main" id="{CD2FD17D-2092-225C-06E7-0D22352EB9F3}"/>
              </a:ext>
            </a:extLst>
          </p:cNvPr>
          <p:cNvPicPr>
            <a:picLocks noChangeAspect="1"/>
          </p:cNvPicPr>
          <p:nvPr/>
        </p:nvPicPr>
        <p:blipFill>
          <a:blip r:embed="rId4"/>
          <a:stretch>
            <a:fillRect/>
          </a:stretch>
        </p:blipFill>
        <p:spPr>
          <a:xfrm>
            <a:off x="952496" y="3128437"/>
            <a:ext cx="34979199" cy="890785"/>
          </a:xfrm>
          <a:prstGeom prst="rect">
            <a:avLst/>
          </a:prstGeom>
        </p:spPr>
      </p:pic>
      <p:pic>
        <p:nvPicPr>
          <p:cNvPr id="46" name="Picture 45">
            <a:extLst>
              <a:ext uri="{FF2B5EF4-FFF2-40B4-BE49-F238E27FC236}">
                <a16:creationId xmlns:a16="http://schemas.microsoft.com/office/drawing/2014/main" id="{587B3155-C404-94BC-EA53-C4C586E8E80F}"/>
              </a:ext>
            </a:extLst>
          </p:cNvPr>
          <p:cNvPicPr>
            <a:picLocks noChangeAspect="1"/>
          </p:cNvPicPr>
          <p:nvPr/>
        </p:nvPicPr>
        <p:blipFill>
          <a:blip r:embed="rId5"/>
          <a:stretch>
            <a:fillRect/>
          </a:stretch>
        </p:blipFill>
        <p:spPr>
          <a:xfrm>
            <a:off x="952495" y="3976829"/>
            <a:ext cx="34782670" cy="2602354"/>
          </a:xfrm>
          <a:prstGeom prst="rect">
            <a:avLst/>
          </a:prstGeom>
        </p:spPr>
      </p:pic>
      <p:pic>
        <p:nvPicPr>
          <p:cNvPr id="49" name="Picture 48">
            <a:extLst>
              <a:ext uri="{FF2B5EF4-FFF2-40B4-BE49-F238E27FC236}">
                <a16:creationId xmlns:a16="http://schemas.microsoft.com/office/drawing/2014/main" id="{628B6D92-B751-4561-B20E-0AB3A1007DC1}"/>
              </a:ext>
            </a:extLst>
          </p:cNvPr>
          <p:cNvPicPr>
            <a:picLocks noChangeAspect="1"/>
          </p:cNvPicPr>
          <p:nvPr/>
        </p:nvPicPr>
        <p:blipFill>
          <a:blip r:embed="rId6"/>
          <a:stretch>
            <a:fillRect/>
          </a:stretch>
        </p:blipFill>
        <p:spPr>
          <a:xfrm>
            <a:off x="952495" y="6579183"/>
            <a:ext cx="34668300" cy="2505762"/>
          </a:xfrm>
          <a:prstGeom prst="rect">
            <a:avLst/>
          </a:prstGeom>
        </p:spPr>
      </p:pic>
    </p:spTree>
    <p:extLst>
      <p:ext uri="{BB962C8B-B14F-4D97-AF65-F5344CB8AC3E}">
        <p14:creationId xmlns:p14="http://schemas.microsoft.com/office/powerpoint/2010/main" val="3129280887"/>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FC9FB2-D0C6-F613-7163-4EAA85AC47E5}"/>
              </a:ext>
            </a:extLst>
          </p:cNvPr>
          <p:cNvSpPr/>
          <p:nvPr/>
        </p:nvSpPr>
        <p:spPr>
          <a:xfrm>
            <a:off x="952501" y="9517228"/>
            <a:ext cx="34782670" cy="84140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 are times we might want to instantiate an object, and immediately call a method on it.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99% of the time, we'll want to reference the objects we create.</a:t>
            </a:r>
          </a:p>
        </p:txBody>
      </p:sp>
      <p:sp>
        <p:nvSpPr>
          <p:cNvPr id="126" name="Shape 126"/>
          <p:cNvSpPr/>
          <p:nvPr/>
        </p:nvSpPr>
        <p:spPr>
          <a:xfrm>
            <a:off x="952498" y="459786"/>
            <a:ext cx="1791195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reference vs The object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Reference vs Object vs Instance vs Class</a:t>
            </a:r>
          </a:p>
        </p:txBody>
      </p:sp>
      <p:pic>
        <p:nvPicPr>
          <p:cNvPr id="44" name="Picture 43">
            <a:extLst>
              <a:ext uri="{FF2B5EF4-FFF2-40B4-BE49-F238E27FC236}">
                <a16:creationId xmlns:a16="http://schemas.microsoft.com/office/drawing/2014/main" id="{CD2FD17D-2092-225C-06E7-0D22352EB9F3}"/>
              </a:ext>
            </a:extLst>
          </p:cNvPr>
          <p:cNvPicPr>
            <a:picLocks noChangeAspect="1"/>
          </p:cNvPicPr>
          <p:nvPr/>
        </p:nvPicPr>
        <p:blipFill>
          <a:blip r:embed="rId4"/>
          <a:stretch>
            <a:fillRect/>
          </a:stretch>
        </p:blipFill>
        <p:spPr>
          <a:xfrm>
            <a:off x="952496" y="3128437"/>
            <a:ext cx="34979199" cy="890785"/>
          </a:xfrm>
          <a:prstGeom prst="rect">
            <a:avLst/>
          </a:prstGeom>
        </p:spPr>
      </p:pic>
      <p:pic>
        <p:nvPicPr>
          <p:cNvPr id="46" name="Picture 45">
            <a:extLst>
              <a:ext uri="{FF2B5EF4-FFF2-40B4-BE49-F238E27FC236}">
                <a16:creationId xmlns:a16="http://schemas.microsoft.com/office/drawing/2014/main" id="{587B3155-C404-94BC-EA53-C4C586E8E80F}"/>
              </a:ext>
            </a:extLst>
          </p:cNvPr>
          <p:cNvPicPr>
            <a:picLocks noChangeAspect="1"/>
          </p:cNvPicPr>
          <p:nvPr/>
        </p:nvPicPr>
        <p:blipFill>
          <a:blip r:embed="rId5"/>
          <a:stretch>
            <a:fillRect/>
          </a:stretch>
        </p:blipFill>
        <p:spPr>
          <a:xfrm>
            <a:off x="952495" y="3976829"/>
            <a:ext cx="34782670" cy="2602354"/>
          </a:xfrm>
          <a:prstGeom prst="rect">
            <a:avLst/>
          </a:prstGeom>
        </p:spPr>
      </p:pic>
      <p:pic>
        <p:nvPicPr>
          <p:cNvPr id="49" name="Picture 48">
            <a:extLst>
              <a:ext uri="{FF2B5EF4-FFF2-40B4-BE49-F238E27FC236}">
                <a16:creationId xmlns:a16="http://schemas.microsoft.com/office/drawing/2014/main" id="{628B6D92-B751-4561-B20E-0AB3A1007DC1}"/>
              </a:ext>
            </a:extLst>
          </p:cNvPr>
          <p:cNvPicPr>
            <a:picLocks noChangeAspect="1"/>
          </p:cNvPicPr>
          <p:nvPr/>
        </p:nvPicPr>
        <p:blipFill>
          <a:blip r:embed="rId6"/>
          <a:stretch>
            <a:fillRect/>
          </a:stretch>
        </p:blipFill>
        <p:spPr>
          <a:xfrm>
            <a:off x="952495" y="6579183"/>
            <a:ext cx="34668300" cy="2505762"/>
          </a:xfrm>
          <a:prstGeom prst="rect">
            <a:avLst/>
          </a:prstGeom>
        </p:spPr>
      </p:pic>
    </p:spTree>
    <p:extLst>
      <p:ext uri="{BB962C8B-B14F-4D97-AF65-F5344CB8AC3E}">
        <p14:creationId xmlns:p14="http://schemas.microsoft.com/office/powerpoint/2010/main" val="3137014101"/>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466320"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Static vs Instance Variables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Variables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Let's discuss the differences now between static variables, and instance variables.</a:t>
            </a:r>
          </a:p>
        </p:txBody>
      </p:sp>
    </p:spTree>
    <p:extLst>
      <p:ext uri="{BB962C8B-B14F-4D97-AF65-F5344CB8AC3E}">
        <p14:creationId xmlns:p14="http://schemas.microsoft.com/office/powerpoint/2010/main" val="2703011269"/>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95144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Static Variables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Variables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Declared by using the keyword static.</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Static variables are also known as static member variables.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Every instance of the class shares the same static variable.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if changes are made to that variable, all other instances of that class will see the effect of that change.</a:t>
            </a:r>
          </a:p>
        </p:txBody>
      </p:sp>
    </p:spTree>
    <p:extLst>
      <p:ext uri="{BB962C8B-B14F-4D97-AF65-F5344CB8AC3E}">
        <p14:creationId xmlns:p14="http://schemas.microsoft.com/office/powerpoint/2010/main" val="1258118467"/>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951442"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Static Variables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Variables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 is considered best practice to use the Class name, and not a reference variable to access a static variable.</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3" name="Picture 2">
            <a:extLst>
              <a:ext uri="{FF2B5EF4-FFF2-40B4-BE49-F238E27FC236}">
                <a16:creationId xmlns:a16="http://schemas.microsoft.com/office/drawing/2014/main" id="{72704369-5801-C5BA-A314-AF7AABEF5933}"/>
              </a:ext>
            </a:extLst>
          </p:cNvPr>
          <p:cNvPicPr>
            <a:picLocks noChangeAspect="1"/>
          </p:cNvPicPr>
          <p:nvPr/>
        </p:nvPicPr>
        <p:blipFill>
          <a:blip r:embed="rId4"/>
          <a:stretch>
            <a:fillRect/>
          </a:stretch>
        </p:blipFill>
        <p:spPr>
          <a:xfrm>
            <a:off x="6396486" y="6688031"/>
            <a:ext cx="23783029" cy="9478049"/>
          </a:xfrm>
          <a:prstGeom prst="rect">
            <a:avLst/>
          </a:prstGeom>
        </p:spPr>
      </p:pic>
    </p:spTree>
    <p:extLst>
      <p:ext uri="{BB962C8B-B14F-4D97-AF65-F5344CB8AC3E}">
        <p14:creationId xmlns:p14="http://schemas.microsoft.com/office/powerpoint/2010/main" val="4111548695"/>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95144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Static Variables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Variables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 instance isn't required to exist, to access the value of a static variable. </a:t>
            </a:r>
          </a:p>
        </p:txBody>
      </p:sp>
      <p:pic>
        <p:nvPicPr>
          <p:cNvPr id="6" name="Picture 5">
            <a:extLst>
              <a:ext uri="{FF2B5EF4-FFF2-40B4-BE49-F238E27FC236}">
                <a16:creationId xmlns:a16="http://schemas.microsoft.com/office/drawing/2014/main" id="{8C34901E-D33D-E3C9-4E0D-254E207FC78F}"/>
              </a:ext>
            </a:extLst>
          </p:cNvPr>
          <p:cNvPicPr>
            <a:picLocks noChangeAspect="1"/>
          </p:cNvPicPr>
          <p:nvPr/>
        </p:nvPicPr>
        <p:blipFill>
          <a:blip r:embed="rId4"/>
          <a:stretch>
            <a:fillRect/>
          </a:stretch>
        </p:blipFill>
        <p:spPr>
          <a:xfrm>
            <a:off x="952498" y="5951244"/>
            <a:ext cx="34782668" cy="6625798"/>
          </a:xfrm>
          <a:prstGeom prst="rect">
            <a:avLst/>
          </a:prstGeom>
        </p:spPr>
      </p:pic>
    </p:spTree>
    <p:extLst>
      <p:ext uri="{BB962C8B-B14F-4D97-AF65-F5344CB8AC3E}">
        <p14:creationId xmlns:p14="http://schemas.microsoft.com/office/powerpoint/2010/main" val="3726540248"/>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951442"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Static Variables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Variables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Static variables aren't used very often, but can sometimes be very useful.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They can be used for</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Storing counters.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Generating unique ids.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Storing a constant value that doesn't change, like PI for example.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Creating, and controlling access, to a shared resource. </a:t>
            </a:r>
          </a:p>
        </p:txBody>
      </p:sp>
    </p:spTree>
    <p:extLst>
      <p:ext uri="{BB962C8B-B14F-4D97-AF65-F5344CB8AC3E}">
        <p14:creationId xmlns:p14="http://schemas.microsoft.com/office/powerpoint/2010/main" val="2506496726"/>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95144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Static Variables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Variables</a:t>
            </a:r>
          </a:p>
        </p:txBody>
      </p:sp>
      <p:pic>
        <p:nvPicPr>
          <p:cNvPr id="2050" name="Picture 2">
            <a:extLst>
              <a:ext uri="{FF2B5EF4-FFF2-40B4-BE49-F238E27FC236}">
                <a16:creationId xmlns:a16="http://schemas.microsoft.com/office/drawing/2014/main" id="{CC7EBEF5-9FEB-A0A6-5A57-719169A0AF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5712" y="2702343"/>
            <a:ext cx="33384577" cy="15169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8582334"/>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187504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Instance Variables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Variables</a:t>
            </a:r>
          </a:p>
        </p:txBody>
      </p:sp>
      <p:sp>
        <p:nvSpPr>
          <p:cNvPr id="2" name="Rectangle 1">
            <a:extLst>
              <a:ext uri="{FF2B5EF4-FFF2-40B4-BE49-F238E27FC236}">
                <a16:creationId xmlns:a16="http://schemas.microsoft.com/office/drawing/2014/main" id="{8B875093-CA7E-E521-2C11-3FAC8BE29833}"/>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They don't use the static keyword.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They're also known as fields, or member variables.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Instance variables belong to a specific instance of a class.</a:t>
            </a:r>
          </a:p>
        </p:txBody>
      </p:sp>
    </p:spTree>
    <p:extLst>
      <p:ext uri="{BB962C8B-B14F-4D97-AF65-F5344CB8AC3E}">
        <p14:creationId xmlns:p14="http://schemas.microsoft.com/office/powerpoint/2010/main" val="2873719594"/>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187504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Instance Variables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Variables</a:t>
            </a:r>
          </a:p>
        </p:txBody>
      </p:sp>
      <p:sp>
        <p:nvSpPr>
          <p:cNvPr id="2" name="Rectangle 1">
            <a:extLst>
              <a:ext uri="{FF2B5EF4-FFF2-40B4-BE49-F238E27FC236}">
                <a16:creationId xmlns:a16="http://schemas.microsoft.com/office/drawing/2014/main" id="{8B875093-CA7E-E521-2C11-3FAC8BE29833}"/>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Each instance has its own copy of an instance variable.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Every instance can have a different value.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Instance variables represent the state, of a specific instance of a class.</a:t>
            </a:r>
          </a:p>
        </p:txBody>
      </p:sp>
    </p:spTree>
    <p:extLst>
      <p:ext uri="{BB962C8B-B14F-4D97-AF65-F5344CB8AC3E}">
        <p14:creationId xmlns:p14="http://schemas.microsoft.com/office/powerpoint/2010/main" val="1871704686"/>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187504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Instance Variables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Variables</a:t>
            </a:r>
          </a:p>
        </p:txBody>
      </p:sp>
      <p:pic>
        <p:nvPicPr>
          <p:cNvPr id="4" name="Picture 3">
            <a:extLst>
              <a:ext uri="{FF2B5EF4-FFF2-40B4-BE49-F238E27FC236}">
                <a16:creationId xmlns:a16="http://schemas.microsoft.com/office/drawing/2014/main" id="{F4A57F4D-F217-382D-616E-C1F9B36A453B}"/>
              </a:ext>
            </a:extLst>
          </p:cNvPr>
          <p:cNvPicPr>
            <a:picLocks noChangeAspect="1"/>
          </p:cNvPicPr>
          <p:nvPr/>
        </p:nvPicPr>
        <p:blipFill>
          <a:blip r:embed="rId4"/>
          <a:stretch>
            <a:fillRect/>
          </a:stretch>
        </p:blipFill>
        <p:spPr>
          <a:xfrm>
            <a:off x="6102608" y="2637418"/>
            <a:ext cx="24370784" cy="15299164"/>
          </a:xfrm>
          <a:prstGeom prst="rect">
            <a:avLst/>
          </a:prstGeom>
        </p:spPr>
      </p:pic>
    </p:spTree>
    <p:extLst>
      <p:ext uri="{BB962C8B-B14F-4D97-AF65-F5344CB8AC3E}">
        <p14:creationId xmlns:p14="http://schemas.microsoft.com/office/powerpoint/2010/main" val="4092044245"/>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62662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Static vs. Instance Methods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Methods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Static vs. Instance Methods</a:t>
            </a:r>
          </a:p>
        </p:txBody>
      </p:sp>
    </p:spTree>
    <p:extLst>
      <p:ext uri="{BB962C8B-B14F-4D97-AF65-F5344CB8AC3E}">
        <p14:creationId xmlns:p14="http://schemas.microsoft.com/office/powerpoint/2010/main" val="2253530173"/>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10212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Static Methods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Methods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Static methods are declared using a static modifier.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Static methods can't access instance methods and instant variables directly.</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They're usually used for operations that don't require any data from an instance of the class (from '</a:t>
            </a:r>
            <a:r>
              <a:rPr lang="en-US" sz="6400" b="1" dirty="0">
                <a:latin typeface="Open Sans" panose="020B0606030504020204" pitchFamily="34" charset="0"/>
                <a:ea typeface="Open Sans" panose="020B0606030504020204" pitchFamily="34"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remember, the this keyword is the current instance of a class.</a:t>
            </a:r>
          </a:p>
        </p:txBody>
      </p:sp>
    </p:spTree>
    <p:extLst>
      <p:ext uri="{BB962C8B-B14F-4D97-AF65-F5344CB8AC3E}">
        <p14:creationId xmlns:p14="http://schemas.microsoft.com/office/powerpoint/2010/main" val="69564410"/>
      </p:ext>
    </p:ext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102124"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Static Methods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Methods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inside a static method, we can't use the </a:t>
            </a:r>
            <a:r>
              <a:rPr lang="en-US" sz="6400" b="1" dirty="0">
                <a:latin typeface="Open Sans" panose="020B0606030504020204" pitchFamily="34" charset="0"/>
                <a:ea typeface="Open Sans" panose="020B0606030504020204" pitchFamily="34"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keyword.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Whenever you see a method that doesn't use instance variables, that method should probably be declared as a static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example, main is a static method, and it's called by the Java virtual machine when it starts the Java application.</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5023131"/>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F7583D-0DA8-94DF-B4B5-F453304D3F30}"/>
              </a:ext>
            </a:extLst>
          </p:cNvPr>
          <p:cNvPicPr>
            <a:picLocks noChangeAspect="1"/>
          </p:cNvPicPr>
          <p:nvPr/>
        </p:nvPicPr>
        <p:blipFill>
          <a:blip r:embed="rId3"/>
          <a:stretch>
            <a:fillRect/>
          </a:stretch>
        </p:blipFill>
        <p:spPr>
          <a:xfrm>
            <a:off x="1133999" y="2786399"/>
            <a:ext cx="24552106" cy="14905542"/>
          </a:xfrm>
          <a:prstGeom prst="rect">
            <a:avLst/>
          </a:prstGeom>
        </p:spPr>
      </p:pic>
      <p:sp>
        <p:nvSpPr>
          <p:cNvPr id="126" name="Shape 126"/>
          <p:cNvSpPr/>
          <p:nvPr/>
        </p:nvSpPr>
        <p:spPr>
          <a:xfrm>
            <a:off x="952498" y="459786"/>
            <a:ext cx="1563569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Static Methods Example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4"/>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Methods</a:t>
            </a:r>
          </a:p>
        </p:txBody>
      </p:sp>
      <p:sp>
        <p:nvSpPr>
          <p:cNvPr id="4" name="Rectangle 3">
            <a:extLst>
              <a:ext uri="{FF2B5EF4-FFF2-40B4-BE49-F238E27FC236}">
                <a16:creationId xmlns:a16="http://schemas.microsoft.com/office/drawing/2014/main" id="{9B4CB47B-7230-22E4-3F5F-37F3FBCE427B}"/>
              </a:ext>
            </a:extLst>
          </p:cNvPr>
          <p:cNvSpPr/>
          <p:nvPr/>
        </p:nvSpPr>
        <p:spPr>
          <a:xfrm>
            <a:off x="21870954" y="3382008"/>
            <a:ext cx="13081519" cy="7155390"/>
          </a:xfrm>
          <a:prstGeom prst="rect">
            <a:avLst/>
          </a:prstGeom>
          <a:noFill/>
          <a:ln w="762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8" name="Rectangle 7">
            <a:extLst>
              <a:ext uri="{FF2B5EF4-FFF2-40B4-BE49-F238E27FC236}">
                <a16:creationId xmlns:a16="http://schemas.microsoft.com/office/drawing/2014/main" id="{89DBB243-EF27-4345-872D-E76597E95619}"/>
              </a:ext>
            </a:extLst>
          </p:cNvPr>
          <p:cNvSpPr/>
          <p:nvPr/>
        </p:nvSpPr>
        <p:spPr>
          <a:xfrm>
            <a:off x="22057567" y="3339619"/>
            <a:ext cx="13677601" cy="7488557"/>
          </a:xfrm>
          <a:prstGeom prst="rect">
            <a:avLst/>
          </a:prstGeom>
        </p:spPr>
        <p:txBody>
          <a:bodyPr wrap="square">
            <a:normAutofit/>
          </a:bodyPr>
          <a:lstStyle/>
          <a:p>
            <a:pPr algn="l">
              <a:spcAft>
                <a:spcPts val="5022"/>
              </a:spcAft>
            </a:pPr>
            <a:r>
              <a:rPr lang="en-US" sz="5400" b="1" dirty="0">
                <a:latin typeface="Open Sans" panose="020B0606030504020204" pitchFamily="34" charset="0"/>
                <a:ea typeface="Open Sans" panose="020B0606030504020204" pitchFamily="34" charset="0"/>
                <a:cs typeface="Open Sans" panose="020B0606030504020204" pitchFamily="34" charset="0"/>
              </a:rPr>
              <a:t>static methods </a:t>
            </a:r>
            <a:r>
              <a:rPr lang="en-US" sz="5400" dirty="0">
                <a:latin typeface="Open Sans" panose="020B0606030504020204" pitchFamily="34" charset="0"/>
                <a:ea typeface="Open Sans" panose="020B0606030504020204" pitchFamily="34" charset="0"/>
                <a:cs typeface="Open Sans" panose="020B0606030504020204" pitchFamily="34" charset="0"/>
              </a:rPr>
              <a:t>are called as </a:t>
            </a:r>
            <a:r>
              <a:rPr lang="en-US" sz="5400" b="1" dirty="0" err="1">
                <a:latin typeface="Roboto" panose="02000000000000000000" pitchFamily="2" charset="0"/>
                <a:ea typeface="Roboto" panose="02000000000000000000" pitchFamily="2" charset="0"/>
                <a:cs typeface="Open Sans" panose="020B0606030504020204" pitchFamily="34" charset="0"/>
              </a:rPr>
              <a:t>ClassName.methodName</a:t>
            </a:r>
            <a:r>
              <a:rPr lang="en-US" sz="5400" b="1" dirty="0">
                <a:latin typeface="Roboto" panose="02000000000000000000" pitchFamily="2" charset="0"/>
                <a:ea typeface="Roboto" panose="02000000000000000000" pitchFamily="2" charset="0"/>
                <a:cs typeface="Open Sans" panose="020B0606030504020204" pitchFamily="34" charset="0"/>
              </a:rPr>
              <a:t>();</a:t>
            </a:r>
            <a:r>
              <a:rPr lang="en-US" sz="5400" dirty="0">
                <a:latin typeface="Open Sans" panose="020B0606030504020204" pitchFamily="34" charset="0"/>
                <a:ea typeface="Open Sans" panose="020B0606030504020204" pitchFamily="34" charset="0"/>
                <a:cs typeface="Open Sans" panose="020B0606030504020204" pitchFamily="34" charset="0"/>
              </a:rPr>
              <a:t> or </a:t>
            </a:r>
            <a:r>
              <a:rPr lang="en-US" sz="5400" b="1" dirty="0" err="1">
                <a:latin typeface="Roboto" panose="02000000000000000000" pitchFamily="2" charset="0"/>
                <a:ea typeface="Roboto" panose="02000000000000000000" pitchFamily="2" charset="0"/>
                <a:cs typeface="Open Sans" panose="020B0606030504020204" pitchFamily="34" charset="0"/>
              </a:rPr>
              <a:t>methodName</a:t>
            </a:r>
            <a:r>
              <a:rPr lang="en-US" sz="5400" b="1" dirty="0">
                <a:latin typeface="Roboto" panose="02000000000000000000" pitchFamily="2" charset="0"/>
                <a:ea typeface="Roboto" panose="02000000000000000000" pitchFamily="2" charset="0"/>
                <a:cs typeface="Open Sans" panose="020B0606030504020204" pitchFamily="34" charset="0"/>
              </a:rPr>
              <a:t>();</a:t>
            </a:r>
            <a:r>
              <a:rPr lang="en-US" sz="5400" dirty="0">
                <a:latin typeface="Open Sans" panose="020B0606030504020204" pitchFamily="34" charset="0"/>
                <a:ea typeface="Open Sans" panose="020B0606030504020204" pitchFamily="34" charset="0"/>
                <a:cs typeface="Open Sans" panose="020B0606030504020204" pitchFamily="34" charset="0"/>
              </a:rPr>
              <a:t> only if in the same class</a:t>
            </a:r>
          </a:p>
          <a:p>
            <a:pPr algn="l">
              <a:spcAft>
                <a:spcPts val="5022"/>
              </a:spcAft>
            </a:pPr>
            <a:endParaRPr lang="en-US" sz="5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5400" dirty="0">
                <a:latin typeface="Open Sans" panose="020B0606030504020204" pitchFamily="34" charset="0"/>
                <a:ea typeface="Open Sans" panose="020B0606030504020204" pitchFamily="34" charset="0"/>
                <a:cs typeface="Open Sans" panose="020B0606030504020204" pitchFamily="34" charset="0"/>
              </a:rPr>
              <a:t>In this example</a:t>
            </a:r>
            <a:br>
              <a:rPr lang="en-US" sz="5400" dirty="0">
                <a:latin typeface="Open Sans" panose="020B0606030504020204" pitchFamily="34" charset="0"/>
                <a:ea typeface="Open Sans" panose="020B0606030504020204" pitchFamily="34" charset="0"/>
                <a:cs typeface="Open Sans" panose="020B0606030504020204" pitchFamily="34" charset="0"/>
              </a:rPr>
            </a:br>
            <a:r>
              <a:rPr lang="en-US" sz="5400" dirty="0" err="1">
                <a:latin typeface="Open Sans" panose="020B0606030504020204" pitchFamily="34" charset="0"/>
                <a:ea typeface="Open Sans" panose="020B0606030504020204" pitchFamily="34" charset="0"/>
                <a:cs typeface="Open Sans" panose="020B0606030504020204" pitchFamily="34" charset="0"/>
              </a:rPr>
              <a:t>Calculator.printSum</a:t>
            </a:r>
            <a:r>
              <a:rPr lang="en-US" sz="5400" dirty="0">
                <a:latin typeface="Open Sans" panose="020B0606030504020204" pitchFamily="34" charset="0"/>
                <a:ea typeface="Open Sans" panose="020B0606030504020204" pitchFamily="34" charset="0"/>
                <a:cs typeface="Open Sans" panose="020B0606030504020204" pitchFamily="34" charset="0"/>
              </a:rPr>
              <a:t>(5,10);</a:t>
            </a:r>
            <a:br>
              <a:rPr lang="en-US" sz="5400" dirty="0">
                <a:latin typeface="Open Sans" panose="020B0606030504020204" pitchFamily="34" charset="0"/>
                <a:ea typeface="Open Sans" panose="020B0606030504020204" pitchFamily="34" charset="0"/>
                <a:cs typeface="Open Sans" panose="020B0606030504020204" pitchFamily="34" charset="0"/>
              </a:rPr>
            </a:br>
            <a:r>
              <a:rPr lang="en-US" sz="5400" dirty="0" err="1">
                <a:latin typeface="Open Sans" panose="020B0606030504020204" pitchFamily="34" charset="0"/>
                <a:ea typeface="Open Sans" panose="020B0606030504020204" pitchFamily="34" charset="0"/>
                <a:cs typeface="Open Sans" panose="020B0606030504020204" pitchFamily="34" charset="0"/>
              </a:rPr>
              <a:t>printHello</a:t>
            </a:r>
            <a:r>
              <a:rPr lang="en-US" sz="5400" dirty="0">
                <a:latin typeface="Open Sans" panose="020B0606030504020204" pitchFamily="34" charset="0"/>
                <a:ea typeface="Open Sans" panose="020B0606030504020204" pitchFamily="34" charset="0"/>
                <a:cs typeface="Open Sans" panose="020B0606030504020204" pitchFamily="34" charset="0"/>
              </a:rPr>
              <a:t>();</a:t>
            </a:r>
          </a:p>
        </p:txBody>
      </p:sp>
      <p:sp>
        <p:nvSpPr>
          <p:cNvPr id="7" name="Rectangle 6">
            <a:extLst>
              <a:ext uri="{FF2B5EF4-FFF2-40B4-BE49-F238E27FC236}">
                <a16:creationId xmlns:a16="http://schemas.microsoft.com/office/drawing/2014/main" id="{B12DD094-C8C6-0336-FA6C-F183BB8AB559}"/>
              </a:ext>
            </a:extLst>
          </p:cNvPr>
          <p:cNvSpPr/>
          <p:nvPr/>
        </p:nvSpPr>
        <p:spPr>
          <a:xfrm flipH="1">
            <a:off x="4198777" y="10972800"/>
            <a:ext cx="21516390" cy="1791478"/>
          </a:xfrm>
          <a:prstGeom prst="rect">
            <a:avLst/>
          </a:prstGeom>
          <a:noFill/>
          <a:ln w="762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cxnSp>
        <p:nvCxnSpPr>
          <p:cNvPr id="12" name="Connector: Elbow 11">
            <a:extLst>
              <a:ext uri="{FF2B5EF4-FFF2-40B4-BE49-F238E27FC236}">
                <a16:creationId xmlns:a16="http://schemas.microsoft.com/office/drawing/2014/main" id="{83149B4C-9AB9-47EA-B9B1-0114C991B789}"/>
              </a:ext>
            </a:extLst>
          </p:cNvPr>
          <p:cNvCxnSpPr>
            <a:cxnSpLocks/>
            <a:stCxn id="7" idx="1"/>
            <a:endCxn id="4" idx="2"/>
          </p:cNvCxnSpPr>
          <p:nvPr/>
        </p:nvCxnSpPr>
        <p:spPr>
          <a:xfrm flipV="1">
            <a:off x="25715167" y="10537398"/>
            <a:ext cx="2696547" cy="1331141"/>
          </a:xfrm>
          <a:prstGeom prst="bentConnector2">
            <a:avLst/>
          </a:prstGeom>
          <a:noFill/>
          <a:ln w="142875"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1E6E1F06-08A4-2A25-CDE7-4A385A1F29B7}"/>
              </a:ext>
            </a:extLst>
          </p:cNvPr>
          <p:cNvSpPr/>
          <p:nvPr/>
        </p:nvSpPr>
        <p:spPr>
          <a:xfrm>
            <a:off x="952498" y="2610304"/>
            <a:ext cx="34782668" cy="15176823"/>
          </a:xfrm>
          <a:prstGeom prst="rect">
            <a:avLst/>
          </a:prstGeom>
          <a:noFill/>
          <a:ln w="762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Tree>
    <p:extLst>
      <p:ext uri="{BB962C8B-B14F-4D97-AF65-F5344CB8AC3E}">
        <p14:creationId xmlns:p14="http://schemas.microsoft.com/office/powerpoint/2010/main" val="1489841462"/>
      </p:ext>
    </p:extLst>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1666655"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Instance Methods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Methods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Instance methods belong to an instance, of a class.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To use an instance method, we have to instantiate the class first, usually by using the </a:t>
            </a:r>
            <a:r>
              <a:rPr lang="en-US" sz="6400" b="1" dirty="0">
                <a:latin typeface="Open Sans" panose="020B0606030504020204" pitchFamily="34" charset="0"/>
                <a:ea typeface="Open Sans" panose="020B0606030504020204" pitchFamily="34" charset="0"/>
                <a:cs typeface="Open Sans" panose="020B0606030504020204" pitchFamily="34" charset="0"/>
              </a:rPr>
              <a:t>new</a:t>
            </a:r>
            <a:r>
              <a:rPr lang="en-US" sz="6400" dirty="0">
                <a:latin typeface="Open Sans" panose="020B0606030504020204" pitchFamily="34" charset="0"/>
                <a:ea typeface="Open Sans" panose="020B0606030504020204" pitchFamily="34" charset="0"/>
                <a:cs typeface="Open Sans" panose="020B0606030504020204" pitchFamily="34" charset="0"/>
              </a:rPr>
              <a:t> keyword.</a:t>
            </a:r>
          </a:p>
        </p:txBody>
      </p:sp>
    </p:spTree>
    <p:extLst>
      <p:ext uri="{BB962C8B-B14F-4D97-AF65-F5344CB8AC3E}">
        <p14:creationId xmlns:p14="http://schemas.microsoft.com/office/powerpoint/2010/main" val="3414808057"/>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166665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Instance Methods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Methods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a:latin typeface="Open Sans" panose="020B0606030504020204" pitchFamily="34" charset="0"/>
                <a:ea typeface="Open Sans" panose="020B0606030504020204" pitchFamily="34" charset="0"/>
                <a:cs typeface="Open Sans" panose="020B0606030504020204" pitchFamily="34" charset="0"/>
              </a:rPr>
              <a:t>Instance methods </a:t>
            </a:r>
            <a:r>
              <a:rPr lang="en-US" sz="6400" dirty="0">
                <a:latin typeface="Open Sans" panose="020B0606030504020204" pitchFamily="34" charset="0"/>
                <a:ea typeface="Open Sans" panose="020B0606030504020204" pitchFamily="34" charset="0"/>
                <a:cs typeface="Open Sans" panose="020B0606030504020204" pitchFamily="34" charset="0"/>
              </a:rPr>
              <a:t>can access instance methods and instance variables directly.</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Instance methods can also access static methods and static variables directly.</a:t>
            </a:r>
          </a:p>
        </p:txBody>
      </p:sp>
    </p:spTree>
    <p:extLst>
      <p:ext uri="{BB962C8B-B14F-4D97-AF65-F5344CB8AC3E}">
        <p14:creationId xmlns:p14="http://schemas.microsoft.com/office/powerpoint/2010/main" val="1016430189"/>
      </p:ext>
    </p:extLst>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689885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Instance Method Example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Methods</a:t>
            </a:r>
          </a:p>
        </p:txBody>
      </p:sp>
      <p:pic>
        <p:nvPicPr>
          <p:cNvPr id="3" name="Picture 2">
            <a:extLst>
              <a:ext uri="{FF2B5EF4-FFF2-40B4-BE49-F238E27FC236}">
                <a16:creationId xmlns:a16="http://schemas.microsoft.com/office/drawing/2014/main" id="{1BB0EA30-30E0-93F7-2795-B56FE6F5490A}"/>
              </a:ext>
            </a:extLst>
          </p:cNvPr>
          <p:cNvPicPr>
            <a:picLocks noChangeAspect="1"/>
          </p:cNvPicPr>
          <p:nvPr/>
        </p:nvPicPr>
        <p:blipFill>
          <a:blip r:embed="rId4"/>
          <a:stretch>
            <a:fillRect/>
          </a:stretch>
        </p:blipFill>
        <p:spPr>
          <a:xfrm>
            <a:off x="2412234" y="3260022"/>
            <a:ext cx="31751533" cy="14053956"/>
          </a:xfrm>
          <a:prstGeom prst="rect">
            <a:avLst/>
          </a:prstGeom>
        </p:spPr>
      </p:pic>
    </p:spTree>
    <p:extLst>
      <p:ext uri="{BB962C8B-B14F-4D97-AF65-F5344CB8AC3E}">
        <p14:creationId xmlns:p14="http://schemas.microsoft.com/office/powerpoint/2010/main" val="852375035"/>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6645582"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Static or Instance Method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Static vs Instance Methods</a:t>
            </a:r>
          </a:p>
        </p:txBody>
      </p:sp>
      <p:pic>
        <p:nvPicPr>
          <p:cNvPr id="2" name="Picture 1">
            <a:extLst>
              <a:ext uri="{FF2B5EF4-FFF2-40B4-BE49-F238E27FC236}">
                <a16:creationId xmlns:a16="http://schemas.microsoft.com/office/drawing/2014/main" id="{86A0CB01-44AB-9F54-3EC6-11B8DD32E7EB}"/>
              </a:ext>
            </a:extLst>
          </p:cNvPr>
          <p:cNvPicPr>
            <a:picLocks noChangeAspect="1"/>
          </p:cNvPicPr>
          <p:nvPr/>
        </p:nvPicPr>
        <p:blipFill>
          <a:blip r:embed="rId4"/>
          <a:stretch>
            <a:fillRect/>
          </a:stretch>
        </p:blipFill>
        <p:spPr>
          <a:xfrm>
            <a:off x="3152324" y="4271092"/>
            <a:ext cx="30271353" cy="12031817"/>
          </a:xfrm>
          <a:prstGeom prst="rect">
            <a:avLst/>
          </a:prstGeom>
        </p:spPr>
      </p:pic>
    </p:spTree>
    <p:extLst>
      <p:ext uri="{BB962C8B-B14F-4D97-AF65-F5344CB8AC3E}">
        <p14:creationId xmlns:p14="http://schemas.microsoft.com/office/powerpoint/2010/main" val="1771717063"/>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347484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Plain Old Java Object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POJO</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plain old Java object (whose acronym is </a:t>
            </a:r>
            <a:r>
              <a:rPr lang="en-US" sz="6400" b="1" dirty="0">
                <a:latin typeface="Open Sans" panose="020B0606030504020204" pitchFamily="34" charset="0"/>
                <a:ea typeface="Open Sans" panose="020B0606030504020204" pitchFamily="34" charset="0"/>
                <a:cs typeface="Open Sans" panose="020B0606030504020204" pitchFamily="34" charset="0"/>
              </a:rPr>
              <a:t>POJO</a:t>
            </a:r>
            <a:r>
              <a:rPr lang="en-US" sz="6400" dirty="0">
                <a:latin typeface="Open Sans" panose="020B0606030504020204" pitchFamily="34" charset="0"/>
                <a:ea typeface="Open Sans" panose="020B0606030504020204" pitchFamily="34" charset="0"/>
                <a:cs typeface="Open Sans" panose="020B0606030504020204" pitchFamily="34" charset="0"/>
              </a:rPr>
              <a:t>) is a class that generally only has instance fields.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used to house data, and pass data, between functional classes.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 usually has few, if any methods other than getters and setters.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Many database frameworks use POJO's to read data from, or to write data to, databases, files or streams.</a:t>
            </a:r>
          </a:p>
        </p:txBody>
      </p:sp>
    </p:spTree>
    <p:extLst>
      <p:ext uri="{BB962C8B-B14F-4D97-AF65-F5344CB8AC3E}">
        <p14:creationId xmlns:p14="http://schemas.microsoft.com/office/powerpoint/2010/main" val="503426369"/>
      </p:ext>
    </p:extLst>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493805"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Examples of POJOS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POJO</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POJO also might be called a bean, or a JavaBean.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JavaBean is just a POJO, with some extra rules applied to it.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POJO is sometimes called an Entity, because it mirrors database entities.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Another acronym is DTO, for Data Transfer Object.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a description of an object, that can be modeled as just data.</a:t>
            </a:r>
          </a:p>
        </p:txBody>
      </p:sp>
    </p:spTree>
    <p:extLst>
      <p:ext uri="{BB962C8B-B14F-4D97-AF65-F5344CB8AC3E}">
        <p14:creationId xmlns:p14="http://schemas.microsoft.com/office/powerpoint/2010/main" val="1872153923"/>
      </p:ext>
    </p:extLst>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696137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Support for POJO creation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POJO</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 are many generation tools, that will turn a data model into generated POJO's or JavaBeans.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You've seen an example of similar code generation in IntelliJ, which allowed us to generate getters, setters, and constructors in a uniform way.</a:t>
            </a:r>
          </a:p>
        </p:txBody>
      </p:sp>
    </p:spTree>
    <p:extLst>
      <p:ext uri="{BB962C8B-B14F-4D97-AF65-F5344CB8AC3E}">
        <p14:creationId xmlns:p14="http://schemas.microsoft.com/office/powerpoint/2010/main" val="555296972"/>
      </p:ext>
    </p:extLst>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940435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Entity - The Student Table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POJO</a:t>
            </a:r>
          </a:p>
        </p:txBody>
      </p:sp>
      <p:graphicFrame>
        <p:nvGraphicFramePr>
          <p:cNvPr id="2" name="Table 1">
            <a:extLst>
              <a:ext uri="{FF2B5EF4-FFF2-40B4-BE49-F238E27FC236}">
                <a16:creationId xmlns:a16="http://schemas.microsoft.com/office/drawing/2014/main" id="{5F8BFA85-8D29-BA83-71B7-D0DA5129A33B}"/>
              </a:ext>
            </a:extLst>
          </p:cNvPr>
          <p:cNvGraphicFramePr>
            <a:graphicFrameLocks noGrp="1"/>
          </p:cNvGraphicFramePr>
          <p:nvPr/>
        </p:nvGraphicFramePr>
        <p:xfrm>
          <a:off x="14898850" y="5531308"/>
          <a:ext cx="6778301" cy="9511385"/>
        </p:xfrm>
        <a:graphic>
          <a:graphicData uri="http://schemas.openxmlformats.org/drawingml/2006/table">
            <a:tbl>
              <a:tblPr firstRow="1" bandRow="1">
                <a:tableStyleId>{5C22544A-7EE6-4342-B048-85BDC9FD1C3A}</a:tableStyleId>
              </a:tblPr>
              <a:tblGrid>
                <a:gridCol w="6778301">
                  <a:extLst>
                    <a:ext uri="{9D8B030D-6E8A-4147-A177-3AD203B41FA5}">
                      <a16:colId xmlns:a16="http://schemas.microsoft.com/office/drawing/2014/main" val="2844207666"/>
                    </a:ext>
                  </a:extLst>
                </a:gridCol>
              </a:tblGrid>
              <a:tr h="2842723">
                <a:tc>
                  <a:txBody>
                    <a:bodyPr/>
                    <a:lstStyle/>
                    <a:p>
                      <a:pPr algn="ctr"/>
                      <a:r>
                        <a:rPr lang="en-US" sz="9600" dirty="0">
                          <a:solidFill>
                            <a:schemeClr val="tx1"/>
                          </a:solidFill>
                          <a:latin typeface="Open Sans" panose="020B0606030504020204" pitchFamily="34" charset="0"/>
                          <a:ea typeface="Open Sans" panose="020B0606030504020204" pitchFamily="34" charset="0"/>
                          <a:cs typeface="Open Sans" panose="020B0606030504020204" pitchFamily="34" charset="0"/>
                        </a:rPr>
                        <a:t>Student</a:t>
                      </a:r>
                      <a:endParaRPr lang="en-PH" sz="9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6668662">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8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Id</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8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Name</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80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DateOfBirth</a:t>
                      </a:r>
                      <a:endParaRPr lang="en-US" sz="80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80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ClassList</a:t>
                      </a:r>
                      <a:endParaRPr lang="en-US" sz="80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bl>
          </a:graphicData>
        </a:graphic>
      </p:graphicFrame>
    </p:spTree>
    <p:extLst>
      <p:ext uri="{BB962C8B-B14F-4D97-AF65-F5344CB8AC3E}">
        <p14:creationId xmlns:p14="http://schemas.microsoft.com/office/powerpoint/2010/main" val="517692129"/>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7352975"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Annotation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POJO</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Annotations are a type of metadata.</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Metadata is a way of formally describing additional information about our code.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Annotations are more structured, and have more meaning, than comments.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because they can be used by the compiler, or other types of pre-processing functions, to get information about the code.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Metadata doesn't effect how the code runs, so this code will still run, with or without the annotation.</a:t>
            </a:r>
          </a:p>
        </p:txBody>
      </p:sp>
    </p:spTree>
    <p:extLst>
      <p:ext uri="{BB962C8B-B14F-4D97-AF65-F5344CB8AC3E}">
        <p14:creationId xmlns:p14="http://schemas.microsoft.com/office/powerpoint/2010/main" val="3690256288"/>
      </p:ext>
    </p:extLst>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920204"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Overridden Method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POJO</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 overridden method, is not the same thing as an overloaded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 overridden method is a special method in Java, that other classes can implement, if they use a specified method signature.</a:t>
            </a:r>
          </a:p>
        </p:txBody>
      </p:sp>
    </p:spTree>
    <p:extLst>
      <p:ext uri="{BB962C8B-B14F-4D97-AF65-F5344CB8AC3E}">
        <p14:creationId xmlns:p14="http://schemas.microsoft.com/office/powerpoint/2010/main" val="760402944"/>
      </p:ext>
    </p:extLst>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636345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POJO vs. The Record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Implicit POJO Type, The Record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the last video, we talked about the Plain Old Java Object, and we showed you how it comes with a lot of what we call boilerplate code.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code that's repetitive and follows certain rules.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Once created, this code is rarely looked at, or modified.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fact, there are tools that'll just regenerate all of this code, if your underlying data, or domain model changes.</a:t>
            </a:r>
          </a:p>
        </p:txBody>
      </p:sp>
    </p:spTree>
    <p:extLst>
      <p:ext uri="{BB962C8B-B14F-4D97-AF65-F5344CB8AC3E}">
        <p14:creationId xmlns:p14="http://schemas.microsoft.com/office/powerpoint/2010/main" val="2745397602"/>
      </p:ext>
    </p:extLst>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61989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Record type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Implicit POJO Type, The Record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record was introduced in JDK 14, and became officially part of Java in JDK 16.</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purpose is to replace the boilerplate code of the POJO, but to be more restrictive.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Java calls them "plain data carriers".</a:t>
            </a:r>
          </a:p>
        </p:txBody>
      </p:sp>
    </p:spTree>
    <p:extLst>
      <p:ext uri="{BB962C8B-B14F-4D97-AF65-F5344CB8AC3E}">
        <p14:creationId xmlns:p14="http://schemas.microsoft.com/office/powerpoint/2010/main" val="37740564"/>
      </p:ext>
    </p:extLst>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619895"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Record type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Implicit POJO Type, The Record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record is a special class that contains data, that's not meant to be altered.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other words, it seeks to achieve immutability, for the data in its members.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 contains only the most fundamental methods, such as constructors and accessors.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Best of all, you the developer, don't have to write or generate any of this code.</a:t>
            </a:r>
          </a:p>
        </p:txBody>
      </p:sp>
    </p:spTree>
    <p:extLst>
      <p:ext uri="{BB962C8B-B14F-4D97-AF65-F5344CB8AC3E}">
        <p14:creationId xmlns:p14="http://schemas.microsoft.com/office/powerpoint/2010/main" val="408371802"/>
      </p:ext>
    </p:extLst>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942151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Implicit or Generated Code that Java provides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Implicit POJO Type, The Record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What does Java tell us about what is implicitly created, when we declare a record as we did in this code?</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First, it's important to understand that the part that's in parentheses, is called the record header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record header consists of record components, a comma delimited list of components.</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CCE1A597-2AD2-DE5B-C214-9EFB94EBE885}"/>
              </a:ext>
            </a:extLst>
          </p:cNvPr>
          <p:cNvPicPr>
            <a:picLocks noChangeAspect="1"/>
          </p:cNvPicPr>
          <p:nvPr/>
        </p:nvPicPr>
        <p:blipFill>
          <a:blip r:embed="rId4"/>
          <a:stretch>
            <a:fillRect/>
          </a:stretch>
        </p:blipFill>
        <p:spPr>
          <a:xfrm>
            <a:off x="952497" y="7022164"/>
            <a:ext cx="34782671" cy="795632"/>
          </a:xfrm>
          <a:prstGeom prst="rect">
            <a:avLst/>
          </a:prstGeom>
        </p:spPr>
      </p:pic>
    </p:spTree>
    <p:extLst>
      <p:ext uri="{BB962C8B-B14F-4D97-AF65-F5344CB8AC3E}">
        <p14:creationId xmlns:p14="http://schemas.microsoft.com/office/powerpoint/2010/main" val="176912786"/>
      </p:ext>
    </p:extLst>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942151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Implicit or Generated Code that Java provides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Implicit POJO Type, The Record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each component in the header, Java generates: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 field with the same name and declared type as the record component.</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 field is declared private and final.</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 field is sometimes referred to as a component field.</a:t>
            </a:r>
          </a:p>
        </p:txBody>
      </p:sp>
      <p:pic>
        <p:nvPicPr>
          <p:cNvPr id="5" name="Picture 4">
            <a:extLst>
              <a:ext uri="{FF2B5EF4-FFF2-40B4-BE49-F238E27FC236}">
                <a16:creationId xmlns:a16="http://schemas.microsoft.com/office/drawing/2014/main" id="{CCE1A597-2AD2-DE5B-C214-9EFB94EBE885}"/>
              </a:ext>
            </a:extLst>
          </p:cNvPr>
          <p:cNvPicPr>
            <a:picLocks noChangeAspect="1"/>
          </p:cNvPicPr>
          <p:nvPr/>
        </p:nvPicPr>
        <p:blipFill>
          <a:blip r:embed="rId4"/>
          <a:stretch>
            <a:fillRect/>
          </a:stretch>
        </p:blipFill>
        <p:spPr>
          <a:xfrm>
            <a:off x="952497" y="4407920"/>
            <a:ext cx="34782671" cy="795632"/>
          </a:xfrm>
          <a:prstGeom prst="rect">
            <a:avLst/>
          </a:prstGeom>
        </p:spPr>
      </p:pic>
    </p:spTree>
    <p:extLst>
      <p:ext uri="{BB962C8B-B14F-4D97-AF65-F5344CB8AC3E}">
        <p14:creationId xmlns:p14="http://schemas.microsoft.com/office/powerpoint/2010/main" val="663620118"/>
      </p:ext>
    </p:extLst>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942151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Implicit or Generated Code that Java provides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Implicit POJO Type, The Record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Java generates a </a:t>
            </a:r>
            <a:r>
              <a:rPr lang="en-US" sz="6400" dirty="0" err="1">
                <a:latin typeface="Open Sans" panose="020B0606030504020204" pitchFamily="34" charset="0"/>
                <a:ea typeface="Open Sans" panose="020B0606030504020204" pitchFamily="34" charset="0"/>
                <a:cs typeface="Open Sans" panose="020B0606030504020204" pitchFamily="34" charset="0"/>
              </a:rPr>
              <a:t>toString</a:t>
            </a:r>
            <a:r>
              <a:rPr lang="en-US" sz="6400" dirty="0">
                <a:latin typeface="Open Sans" panose="020B0606030504020204" pitchFamily="34" charset="0"/>
                <a:ea typeface="Open Sans" panose="020B0606030504020204" pitchFamily="34" charset="0"/>
                <a:cs typeface="Open Sans" panose="020B0606030504020204" pitchFamily="34" charset="0"/>
              </a:rPr>
              <a:t> method that prints out each attribute in a formatted String.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addition to creating a private final field for each component, Java generates a public accessor method for each component.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method has the same name and type of the component, but it doesn't have any kind of special prefix, no get, or is, for example.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accessor method, for id in this example, is simply id().</a:t>
            </a:r>
          </a:p>
        </p:txBody>
      </p:sp>
      <p:pic>
        <p:nvPicPr>
          <p:cNvPr id="5" name="Picture 4">
            <a:extLst>
              <a:ext uri="{FF2B5EF4-FFF2-40B4-BE49-F238E27FC236}">
                <a16:creationId xmlns:a16="http://schemas.microsoft.com/office/drawing/2014/main" id="{CCE1A597-2AD2-DE5B-C214-9EFB94EBE885}"/>
              </a:ext>
            </a:extLst>
          </p:cNvPr>
          <p:cNvPicPr>
            <a:picLocks noChangeAspect="1"/>
          </p:cNvPicPr>
          <p:nvPr/>
        </p:nvPicPr>
        <p:blipFill>
          <a:blip r:embed="rId4"/>
          <a:stretch>
            <a:fillRect/>
          </a:stretch>
        </p:blipFill>
        <p:spPr>
          <a:xfrm>
            <a:off x="952497" y="4407920"/>
            <a:ext cx="34782671" cy="795632"/>
          </a:xfrm>
          <a:prstGeom prst="rect">
            <a:avLst/>
          </a:prstGeom>
        </p:spPr>
      </p:pic>
    </p:spTree>
    <p:extLst>
      <p:ext uri="{BB962C8B-B14F-4D97-AF65-F5344CB8AC3E}">
        <p14:creationId xmlns:p14="http://schemas.microsoft.com/office/powerpoint/2010/main" val="1138458160"/>
      </p:ext>
    </p:extLst>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0994530"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Why have an immutable record?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Implicit POJO Type, The Record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Why is the record built to be immutable?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 are more use cases for immutable data transfer objects, and keeping them well encapsulated.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want to protect the data from unintended mutations.</a:t>
            </a:r>
          </a:p>
        </p:txBody>
      </p:sp>
    </p:spTree>
    <p:extLst>
      <p:ext uri="{BB962C8B-B14F-4D97-AF65-F5344CB8AC3E}">
        <p14:creationId xmlns:p14="http://schemas.microsoft.com/office/powerpoint/2010/main" val="1817422928"/>
      </p:ext>
    </p:extLst>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49966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POJO vs. Record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Implicit POJO Type, The Record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want to modify data on your class, you won't be using the record.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can use the code generation options for the POJO, as we showed in the earlier video.</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if you're reading a whole lot of records, from a database or file source, and simply passing this data around, then the record is a big improvement.</a:t>
            </a:r>
          </a:p>
        </p:txBody>
      </p:sp>
    </p:spTree>
    <p:extLst>
      <p:ext uri="{BB962C8B-B14F-4D97-AF65-F5344CB8AC3E}">
        <p14:creationId xmlns:p14="http://schemas.microsoft.com/office/powerpoint/2010/main" val="1053741558"/>
      </p:ext>
    </p:extLst>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38777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Java's new type, the record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Java's Implicit POJO Type, The Record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We've only touched on some of the features of the record, to give you an introduction.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When we do talk more about the final keyword, and immutability of data, especially as it may be affected by concurrent threads, we'll be revisiting this type.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We'll also be showing it to you in action, when we get to the Database </a:t>
            </a:r>
            <a:r>
              <a:rPr lang="en-US" sz="6400">
                <a:latin typeface="Open Sans" panose="020B0606030504020204" pitchFamily="34" charset="0"/>
                <a:ea typeface="Open Sans" panose="020B0606030504020204" pitchFamily="34" charset="0"/>
                <a:cs typeface="Open Sans" panose="020B0606030504020204" pitchFamily="34" charset="0"/>
              </a:rPr>
              <a:t>and I/O </a:t>
            </a:r>
            <a:r>
              <a:rPr lang="en-US" sz="6400" dirty="0">
                <a:latin typeface="Open Sans" panose="020B0606030504020204" pitchFamily="34" charset="0"/>
                <a:ea typeface="Open Sans" panose="020B0606030504020204" pitchFamily="34" charset="0"/>
                <a:cs typeface="Open Sans" panose="020B0606030504020204" pitchFamily="34" charset="0"/>
              </a:rPr>
              <a:t>sections of this course.</a:t>
            </a:r>
          </a:p>
        </p:txBody>
      </p:sp>
    </p:spTree>
    <p:extLst>
      <p:ext uri="{BB962C8B-B14F-4D97-AF65-F5344CB8AC3E}">
        <p14:creationId xmlns:p14="http://schemas.microsoft.com/office/powerpoint/2010/main" val="1574875199"/>
      </p:ext>
    </p:extLst>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747961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Inheritance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1</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What is Inheritance, and why is it so powerful?</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can look at Inheritance as a form of code re-use.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a way to organize classes into a parent-child hierarchy, which lets the child inherit (re-use), fields and methods from its parent.</a:t>
            </a:r>
          </a:p>
        </p:txBody>
      </p:sp>
    </p:spTree>
    <p:extLst>
      <p:ext uri="{BB962C8B-B14F-4D97-AF65-F5344CB8AC3E}">
        <p14:creationId xmlns:p14="http://schemas.microsoft.com/office/powerpoint/2010/main" val="1976772359"/>
      </p:ext>
    </p:extLst>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7479612"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Inheritance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1</a:t>
            </a:r>
          </a:p>
        </p:txBody>
      </p:sp>
      <p:pic>
        <p:nvPicPr>
          <p:cNvPr id="2" name="Picture 1">
            <a:extLst>
              <a:ext uri="{FF2B5EF4-FFF2-40B4-BE49-F238E27FC236}">
                <a16:creationId xmlns:a16="http://schemas.microsoft.com/office/drawing/2014/main" id="{9665632A-3ACA-0343-AFC6-E5468C2C9A82}"/>
              </a:ext>
            </a:extLst>
          </p:cNvPr>
          <p:cNvPicPr>
            <a:picLocks noChangeAspect="1"/>
          </p:cNvPicPr>
          <p:nvPr/>
        </p:nvPicPr>
        <p:blipFill>
          <a:blip r:embed="rId4"/>
          <a:stretch>
            <a:fillRect/>
          </a:stretch>
        </p:blipFill>
        <p:spPr>
          <a:xfrm>
            <a:off x="74272" y="3618172"/>
            <a:ext cx="17971132" cy="13337656"/>
          </a:xfrm>
          <a:prstGeom prst="rect">
            <a:avLst/>
          </a:prstGeom>
        </p:spPr>
      </p:pic>
      <p:sp>
        <p:nvSpPr>
          <p:cNvPr id="8" name="Rectangle 7">
            <a:extLst>
              <a:ext uri="{FF2B5EF4-FFF2-40B4-BE49-F238E27FC236}">
                <a16:creationId xmlns:a16="http://schemas.microsoft.com/office/drawing/2014/main" id="{89DBB243-EF27-4345-872D-E76597E95619}"/>
              </a:ext>
            </a:extLst>
          </p:cNvPr>
          <p:cNvSpPr/>
          <p:nvPr/>
        </p:nvSpPr>
        <p:spPr>
          <a:xfrm>
            <a:off x="17392261" y="3080722"/>
            <a:ext cx="18342908" cy="14850578"/>
          </a:xfrm>
          <a:prstGeom prst="rect">
            <a:avLst/>
          </a:prstGeom>
        </p:spPr>
        <p:txBody>
          <a:bodyPr wrap="square">
            <a:normAutofit lnSpcReduction="10000"/>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Each box on this diagram represents a Class.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most generic, or base class, starts at the top of the hierarchy.</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Every class below it is a subclass.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Animal is the base class.   All the other classes can be said to be subclasses of Animal.</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parent can have multiple children, as we see with Mammal, which is the parent of Dog and Cat.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child can only have one direct parent, in Java</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it will inherit from its parent class's parent, and so on.</a:t>
            </a:r>
          </a:p>
        </p:txBody>
      </p:sp>
    </p:spTree>
    <p:extLst>
      <p:ext uri="{BB962C8B-B14F-4D97-AF65-F5344CB8AC3E}">
        <p14:creationId xmlns:p14="http://schemas.microsoft.com/office/powerpoint/2010/main" val="3376627728"/>
      </p:ext>
    </p:extLst>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85553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Animal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1</a:t>
            </a:r>
          </a:p>
        </p:txBody>
      </p:sp>
      <p:pic>
        <p:nvPicPr>
          <p:cNvPr id="2" name="Picture 1">
            <a:extLst>
              <a:ext uri="{FF2B5EF4-FFF2-40B4-BE49-F238E27FC236}">
                <a16:creationId xmlns:a16="http://schemas.microsoft.com/office/drawing/2014/main" id="{C82317F9-2066-92B1-55C1-3799C403A042}"/>
              </a:ext>
            </a:extLst>
          </p:cNvPr>
          <p:cNvPicPr>
            <a:picLocks noChangeAspect="1"/>
          </p:cNvPicPr>
          <p:nvPr/>
        </p:nvPicPr>
        <p:blipFill>
          <a:blip r:embed="rId4"/>
          <a:stretch>
            <a:fillRect/>
          </a:stretch>
        </p:blipFill>
        <p:spPr>
          <a:xfrm>
            <a:off x="12840818" y="2518861"/>
            <a:ext cx="10894365" cy="8089736"/>
          </a:xfrm>
          <a:prstGeom prst="rect">
            <a:avLst/>
          </a:prstGeom>
        </p:spPr>
      </p:pic>
      <p:sp>
        <p:nvSpPr>
          <p:cNvPr id="8" name="Rectangle 7">
            <a:extLst>
              <a:ext uri="{FF2B5EF4-FFF2-40B4-BE49-F238E27FC236}">
                <a16:creationId xmlns:a16="http://schemas.microsoft.com/office/drawing/2014/main" id="{89DBB243-EF27-4345-872D-E76597E95619}"/>
              </a:ext>
            </a:extLst>
          </p:cNvPr>
          <p:cNvSpPr/>
          <p:nvPr/>
        </p:nvSpPr>
        <p:spPr>
          <a:xfrm>
            <a:off x="952501" y="10144510"/>
            <a:ext cx="34782670" cy="7397034"/>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class diagram, allows us to design our classes before we build them.</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diagram shows the Animal class, with the attributes we think that every kind of animal has.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Below the fields, we have the behavior that animals have in common, move, and </a:t>
            </a:r>
            <a:r>
              <a:rPr lang="en-US" sz="6400" dirty="0" err="1">
                <a:latin typeface="Open Sans" panose="020B0606030504020204" pitchFamily="34" charset="0"/>
                <a:ea typeface="Open Sans" panose="020B0606030504020204" pitchFamily="34" charset="0"/>
                <a:cs typeface="Open Sans" panose="020B0606030504020204" pitchFamily="34" charset="0"/>
              </a:rPr>
              <a:t>makeNoise</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4179663045"/>
      </p:ext>
    </p:extLst>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62D96C4-9B90-D68A-E480-DA0535F28C01}"/>
              </a:ext>
            </a:extLst>
          </p:cNvPr>
          <p:cNvPicPr>
            <a:picLocks noChangeAspect="1"/>
          </p:cNvPicPr>
          <p:nvPr/>
        </p:nvPicPr>
        <p:blipFill>
          <a:blip r:embed="rId3"/>
          <a:stretch>
            <a:fillRect/>
          </a:stretch>
        </p:blipFill>
        <p:spPr>
          <a:xfrm>
            <a:off x="952497" y="1940662"/>
            <a:ext cx="13480986" cy="16464778"/>
          </a:xfrm>
          <a:prstGeom prst="rect">
            <a:avLst/>
          </a:prstGeom>
        </p:spPr>
      </p:pic>
      <p:sp>
        <p:nvSpPr>
          <p:cNvPr id="126" name="Shape 126"/>
          <p:cNvSpPr/>
          <p:nvPr/>
        </p:nvSpPr>
        <p:spPr>
          <a:xfrm>
            <a:off x="952498" y="459786"/>
            <a:ext cx="2076369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Class Model for Animal and Dog</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4"/>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1</a:t>
            </a:r>
          </a:p>
        </p:txBody>
      </p:sp>
      <p:sp>
        <p:nvSpPr>
          <p:cNvPr id="8" name="Rectangle 7">
            <a:extLst>
              <a:ext uri="{FF2B5EF4-FFF2-40B4-BE49-F238E27FC236}">
                <a16:creationId xmlns:a16="http://schemas.microsoft.com/office/drawing/2014/main" id="{89DBB243-EF27-4345-872D-E76597E95619}"/>
              </a:ext>
            </a:extLst>
          </p:cNvPr>
          <p:cNvSpPr/>
          <p:nvPr/>
        </p:nvSpPr>
        <p:spPr>
          <a:xfrm>
            <a:off x="13137502" y="4285904"/>
            <a:ext cx="22597669"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Dog inherits from Animal.</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other words, Dog 'IS A' type of Animal.</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When we create a Dog object, it will inherit Animal's attributes (type, size and weight).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also true for Animal's methods.  Dog will inherit these as well.</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can specialize the Dog class with its own fields and behavior.</a:t>
            </a:r>
          </a:p>
        </p:txBody>
      </p:sp>
    </p:spTree>
    <p:extLst>
      <p:ext uri="{BB962C8B-B14F-4D97-AF65-F5344CB8AC3E}">
        <p14:creationId xmlns:p14="http://schemas.microsoft.com/office/powerpoint/2010/main" val="1255986979"/>
      </p:ext>
    </p:extLst>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5281895"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extends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1</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Using extends specifies the superclass (or the parent class) of the class we're declaring.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can say Dog is a subclass, or child class, of Animal.</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can say Animal is a parent, or super class, of Dog.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class can specify one, and only one, class in its extends clause. </a:t>
            </a:r>
          </a:p>
        </p:txBody>
      </p:sp>
    </p:spTree>
    <p:extLst>
      <p:ext uri="{BB962C8B-B14F-4D97-AF65-F5344CB8AC3E}">
        <p14:creationId xmlns:p14="http://schemas.microsoft.com/office/powerpoint/2010/main" val="3294711531"/>
      </p:ext>
    </p:extLst>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467596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super()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1</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Roboto Mono" panose="00000009000000000000" pitchFamily="49" charset="0"/>
                <a:ea typeface="Roboto Mono" panose="00000009000000000000" pitchFamily="49"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is a lot like </a:t>
            </a:r>
            <a:r>
              <a:rPr lang="en-US" sz="6400"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a way to call a constructor on the super class, directly from the sub class's constructor.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Like </a:t>
            </a:r>
            <a:r>
              <a:rPr lang="en-US" sz="6400"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it has to be the first statement of the constructor.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Because of that rule, </a:t>
            </a:r>
            <a:r>
              <a:rPr lang="en-US" sz="6400"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and </a:t>
            </a:r>
            <a:r>
              <a:rPr lang="en-US" sz="6400" dirty="0">
                <a:latin typeface="Roboto Mono" panose="00000009000000000000" pitchFamily="49" charset="0"/>
                <a:ea typeface="Roboto Mono" panose="00000009000000000000" pitchFamily="49"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can never be called from the same constructor.</a:t>
            </a:r>
          </a:p>
        </p:txBody>
      </p:sp>
    </p:spTree>
    <p:extLst>
      <p:ext uri="{BB962C8B-B14F-4D97-AF65-F5344CB8AC3E}">
        <p14:creationId xmlns:p14="http://schemas.microsoft.com/office/powerpoint/2010/main" val="3804968617"/>
      </p:ext>
    </p:extLst>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4675960"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super()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1</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don't make a call to </a:t>
            </a:r>
            <a:r>
              <a:rPr lang="en-US" sz="6400" dirty="0">
                <a:latin typeface="Roboto Mono" panose="00000009000000000000" pitchFamily="49" charset="0"/>
                <a:ea typeface="Roboto Mono" panose="00000009000000000000" pitchFamily="49"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then Java makes it for you, using super's default constructor.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your super class doesn't have a default constructor, than you must explicitly call </a:t>
            </a:r>
            <a:r>
              <a:rPr lang="en-US" sz="6400" dirty="0">
                <a:latin typeface="Roboto Mono" panose="00000009000000000000" pitchFamily="49" charset="0"/>
                <a:ea typeface="Roboto Mono" panose="00000009000000000000" pitchFamily="49"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in all of your constructors, passing the right arguments to that constructor.</a:t>
            </a:r>
          </a:p>
        </p:txBody>
      </p:sp>
    </p:spTree>
    <p:extLst>
      <p:ext uri="{BB962C8B-B14F-4D97-AF65-F5344CB8AC3E}">
        <p14:creationId xmlns:p14="http://schemas.microsoft.com/office/powerpoint/2010/main" val="450735622"/>
      </p:ext>
    </p:extLst>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453730"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Inheritance in Java</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2</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introduced you to the concept of Inheritance, and showed you how to implement it in Java, using the </a:t>
            </a:r>
            <a:r>
              <a:rPr lang="en-US" sz="6400" b="1" dirty="0">
                <a:latin typeface="Open Sans" panose="020B0606030504020204" pitchFamily="34" charset="0"/>
                <a:ea typeface="Open Sans" panose="020B0606030504020204" pitchFamily="34" charset="0"/>
                <a:cs typeface="Open Sans" panose="020B0606030504020204" pitchFamily="34" charset="0"/>
              </a:rPr>
              <a:t>extends</a:t>
            </a:r>
            <a:r>
              <a:rPr lang="en-US" sz="6400" dirty="0">
                <a:latin typeface="Open Sans" panose="020B0606030504020204" pitchFamily="34" charset="0"/>
                <a:ea typeface="Open Sans" panose="020B0606030504020204" pitchFamily="34" charset="0"/>
                <a:cs typeface="Open Sans" panose="020B0606030504020204" pitchFamily="34" charset="0"/>
              </a:rPr>
              <a:t> keyword.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talked about using the statement </a:t>
            </a:r>
            <a:r>
              <a:rPr lang="en-US" sz="6400" dirty="0">
                <a:latin typeface="Roboto Mono" panose="00000009000000000000" pitchFamily="49" charset="0"/>
                <a:ea typeface="Roboto Mono" panose="00000009000000000000" pitchFamily="49"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to call the constructor on the super class.</a:t>
            </a:r>
          </a:p>
        </p:txBody>
      </p:sp>
    </p:spTree>
    <p:extLst>
      <p:ext uri="{BB962C8B-B14F-4D97-AF65-F5344CB8AC3E}">
        <p14:creationId xmlns:p14="http://schemas.microsoft.com/office/powerpoint/2010/main" val="3706655601"/>
      </p:ext>
    </p:extLst>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18681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Dog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2</a:t>
            </a:r>
          </a:p>
        </p:txBody>
      </p:sp>
      <p:pic>
        <p:nvPicPr>
          <p:cNvPr id="2" name="Picture 1">
            <a:extLst>
              <a:ext uri="{FF2B5EF4-FFF2-40B4-BE49-F238E27FC236}">
                <a16:creationId xmlns:a16="http://schemas.microsoft.com/office/drawing/2014/main" id="{1937873D-736A-B7CD-2BF2-F667BEEB3F6D}"/>
              </a:ext>
            </a:extLst>
          </p:cNvPr>
          <p:cNvPicPr>
            <a:picLocks noChangeAspect="1"/>
          </p:cNvPicPr>
          <p:nvPr/>
        </p:nvPicPr>
        <p:blipFill>
          <a:blip r:embed="rId4"/>
          <a:stretch>
            <a:fillRect/>
          </a:stretch>
        </p:blipFill>
        <p:spPr>
          <a:xfrm>
            <a:off x="12410832" y="4789276"/>
            <a:ext cx="11754336" cy="10995448"/>
          </a:xfrm>
          <a:prstGeom prst="rect">
            <a:avLst/>
          </a:prstGeom>
        </p:spPr>
      </p:pic>
    </p:spTree>
    <p:extLst>
      <p:ext uri="{BB962C8B-B14F-4D97-AF65-F5344CB8AC3E}">
        <p14:creationId xmlns:p14="http://schemas.microsoft.com/office/powerpoint/2010/main" val="3640644580"/>
      </p:ext>
    </p:extLst>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821539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Code Re-use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2</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All subclasses can execute methods, even though the code is declared on the parent class.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code doesn't have to be duplicated in each subclass.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can use code, from the parent.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Or we can change that code for the subclass. </a:t>
            </a:r>
          </a:p>
        </p:txBody>
      </p:sp>
    </p:spTree>
    <p:extLst>
      <p:ext uri="{BB962C8B-B14F-4D97-AF65-F5344CB8AC3E}">
        <p14:creationId xmlns:p14="http://schemas.microsoft.com/office/powerpoint/2010/main" val="338440976"/>
      </p:ext>
    </p:extLst>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357262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Overriding a method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2</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Overriding a method is when you create a method on a subclass, which has the same signature as a method on a super class.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override a parent class method, when you want the child class to show different behavior for that method.</a:t>
            </a:r>
          </a:p>
        </p:txBody>
      </p:sp>
    </p:spTree>
    <p:extLst>
      <p:ext uri="{BB962C8B-B14F-4D97-AF65-F5344CB8AC3E}">
        <p14:creationId xmlns:p14="http://schemas.microsoft.com/office/powerpoint/2010/main" val="2726836475"/>
      </p:ext>
    </p:extLst>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95867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Overridden method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2</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overridden method can do one of three things: </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It can implement completely different behavior, overriding the behavior of the parent.</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It can simply call the parent class's method, which is somewhat redundant to do.</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Or the method can call the parent class's method, and include other code to run, so it can extend the functionality for the Dog, for that behavior.</a:t>
            </a:r>
          </a:p>
        </p:txBody>
      </p:sp>
    </p:spTree>
    <p:extLst>
      <p:ext uri="{BB962C8B-B14F-4D97-AF65-F5344CB8AC3E}">
        <p14:creationId xmlns:p14="http://schemas.microsoft.com/office/powerpoint/2010/main" val="931817732"/>
      </p:ext>
    </p:extLst>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2216018"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Class Diagram for Dog and Animal</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3</a:t>
            </a:r>
          </a:p>
        </p:txBody>
      </p:sp>
      <p:pic>
        <p:nvPicPr>
          <p:cNvPr id="3" name="Picture 2" descr="Graphical user interface, application&#10;&#10;Description automatically generated">
            <a:extLst>
              <a:ext uri="{FF2B5EF4-FFF2-40B4-BE49-F238E27FC236}">
                <a16:creationId xmlns:a16="http://schemas.microsoft.com/office/drawing/2014/main" id="{9E7DADF9-9B24-6551-0091-7CBB87B211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81516" y="3639328"/>
            <a:ext cx="14212968" cy="13295345"/>
          </a:xfrm>
          <a:prstGeom prst="rect">
            <a:avLst/>
          </a:prstGeom>
        </p:spPr>
      </p:pic>
    </p:spTree>
    <p:extLst>
      <p:ext uri="{BB962C8B-B14F-4D97-AF65-F5344CB8AC3E}">
        <p14:creationId xmlns:p14="http://schemas.microsoft.com/office/powerpoint/2010/main" val="4213699383"/>
      </p:ext>
    </p:extLst>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D4C28C-872B-DC7E-3CA2-DB08AA869D22}"/>
              </a:ext>
            </a:extLst>
          </p:cNvPr>
          <p:cNvPicPr>
            <a:picLocks noChangeAspect="1"/>
          </p:cNvPicPr>
          <p:nvPr/>
        </p:nvPicPr>
        <p:blipFill>
          <a:blip r:embed="rId3"/>
          <a:stretch>
            <a:fillRect/>
          </a:stretch>
        </p:blipFill>
        <p:spPr>
          <a:xfrm>
            <a:off x="9921648" y="2288654"/>
            <a:ext cx="16732704" cy="15921421"/>
          </a:xfrm>
          <a:prstGeom prst="rect">
            <a:avLst/>
          </a:prstGeom>
        </p:spPr>
      </p:pic>
      <p:sp>
        <p:nvSpPr>
          <p:cNvPr id="126" name="Shape 126"/>
          <p:cNvSpPr/>
          <p:nvPr/>
        </p:nvSpPr>
        <p:spPr>
          <a:xfrm>
            <a:off x="952498" y="459786"/>
            <a:ext cx="26032768"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Class Diagram with additional class, Fish</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4"/>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3</a:t>
            </a:r>
          </a:p>
        </p:txBody>
      </p:sp>
    </p:spTree>
    <p:extLst>
      <p:ext uri="{BB962C8B-B14F-4D97-AF65-F5344CB8AC3E}">
        <p14:creationId xmlns:p14="http://schemas.microsoft.com/office/powerpoint/2010/main" val="4092011097"/>
      </p:ext>
    </p:extLst>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56191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Polymorphism</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 Part 3</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Polymorphism simply means 'many forms’.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And as you've seen, some advantages of Polymorphism are: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It makes code simpler.</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It encourages code extensibility.</a:t>
            </a:r>
          </a:p>
        </p:txBody>
      </p:sp>
    </p:spTree>
    <p:extLst>
      <p:ext uri="{BB962C8B-B14F-4D97-AF65-F5344CB8AC3E}">
        <p14:creationId xmlns:p14="http://schemas.microsoft.com/office/powerpoint/2010/main" val="2864722840"/>
      </p:ext>
    </p:extLst>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7479612"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Inheritance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What is </a:t>
            </a:r>
            <a:r>
              <a:rPr lang="en-US" sz="4500" dirty="0" err="1">
                <a:latin typeface="Open Sans" panose="020B0606030504020204" pitchFamily="34" charset="0"/>
                <a:ea typeface="Open Sans" panose="020B0606030504020204" pitchFamily="34" charset="0"/>
                <a:cs typeface="Open Sans" panose="020B0606030504020204" pitchFamily="34" charset="0"/>
              </a:rPr>
              <a:t>java.lang.Object</a:t>
            </a:r>
            <a:r>
              <a:rPr lang="en-US" sz="4500" dirty="0">
                <a:latin typeface="Open Sans" panose="020B0606030504020204" pitchFamily="34" charset="0"/>
                <a:ea typeface="Open Sans" panose="020B0606030504020204" pitchFamily="34" charset="0"/>
                <a:cs typeface="Open Sans" panose="020B0606030504020204" pitchFamily="34" charset="0"/>
              </a:rPr>
              <a:t>?</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Inheritance looks kind of interesting, but when would we really use it?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Well, it turns out, in Java, we've been using Inheritance all along.</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31694364"/>
      </p:ext>
    </p:extLst>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041150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err="1">
                <a:latin typeface="Open Sans" panose="020B0606030504020204" pitchFamily="34" charset="0"/>
                <a:ea typeface="Open Sans" panose="020B0606030504020204" pitchFamily="34" charset="0"/>
                <a:cs typeface="Open Sans" panose="020B0606030504020204" pitchFamily="34" charset="0"/>
              </a:rPr>
              <a:t>java.lang.Object</a:t>
            </a:r>
            <a:endParaRPr lang="en-US" sz="10800" dirty="0">
              <a:latin typeface="Open Sans" panose="020B0606030504020204" pitchFamily="34" charset="0"/>
              <a:ea typeface="Open Sans" panose="020B0606030504020204" pitchFamily="34" charset="0"/>
              <a:cs typeface="Open Sans" panose="020B0606030504020204" pitchFamily="34" charset="0"/>
            </a:endParaRP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What is </a:t>
            </a:r>
            <a:r>
              <a:rPr lang="en-US" sz="4500" dirty="0" err="1">
                <a:latin typeface="Open Sans" panose="020B0606030504020204" pitchFamily="34" charset="0"/>
                <a:ea typeface="Open Sans" panose="020B0606030504020204" pitchFamily="34" charset="0"/>
                <a:cs typeface="Open Sans" panose="020B0606030504020204" pitchFamily="34" charset="0"/>
              </a:rPr>
              <a:t>java.lang.Object</a:t>
            </a:r>
            <a:r>
              <a:rPr lang="en-US" sz="4500" dirty="0">
                <a:latin typeface="Open Sans" panose="020B0606030504020204" pitchFamily="34" charset="0"/>
                <a:ea typeface="Open Sans" panose="020B0606030504020204" pitchFamily="34" charset="0"/>
                <a:cs typeface="Open Sans" panose="020B0606030504020204" pitchFamily="34" charset="0"/>
              </a:rPr>
              <a:t>?</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because every class you create in Java, intrinsically extends a special Java class.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class is named Object, and it's in the </a:t>
            </a:r>
            <a:r>
              <a:rPr lang="en-US" sz="6400" dirty="0" err="1">
                <a:latin typeface="Open Sans" panose="020B0606030504020204" pitchFamily="34" charset="0"/>
                <a:ea typeface="Open Sans" panose="020B0606030504020204" pitchFamily="34" charset="0"/>
                <a:cs typeface="Open Sans" panose="020B0606030504020204" pitchFamily="34" charset="0"/>
              </a:rPr>
              <a:t>java.lang</a:t>
            </a:r>
            <a:r>
              <a:rPr lang="en-US" sz="6400" dirty="0">
                <a:latin typeface="Open Sans" panose="020B0606030504020204" pitchFamily="34" charset="0"/>
                <a:ea typeface="Open Sans" panose="020B0606030504020204" pitchFamily="34" charset="0"/>
                <a:cs typeface="Open Sans" panose="020B0606030504020204" pitchFamily="34" charset="0"/>
              </a:rPr>
              <a:t> package.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Ok, that's confusing, a class called Object?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Let's see what Java has to say about </a:t>
            </a:r>
            <a:r>
              <a:rPr lang="en-US" sz="6400">
                <a:latin typeface="Open Sans" panose="020B0606030504020204" pitchFamily="34" charset="0"/>
                <a:ea typeface="Open Sans" panose="020B0606030504020204" pitchFamily="34" charset="0"/>
                <a:cs typeface="Open Sans" panose="020B0606030504020204" pitchFamily="34" charset="0"/>
              </a:rPr>
              <a:t>this class.</a:t>
            </a: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We'll use the link to Java's Application Programming Interface (API) for this class, which you can find in the resources section of this video.</a:t>
            </a:r>
          </a:p>
        </p:txBody>
      </p:sp>
    </p:spTree>
    <p:extLst>
      <p:ext uri="{BB962C8B-B14F-4D97-AF65-F5344CB8AC3E}">
        <p14:creationId xmlns:p14="http://schemas.microsoft.com/office/powerpoint/2010/main" val="1148343118"/>
      </p:ext>
    </p:extLst>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067072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Every Class inherits from Object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What is </a:t>
            </a:r>
            <a:r>
              <a:rPr lang="en-US" sz="4500" dirty="0" err="1">
                <a:latin typeface="Open Sans" panose="020B0606030504020204" pitchFamily="34" charset="0"/>
                <a:ea typeface="Open Sans" panose="020B0606030504020204" pitchFamily="34" charset="0"/>
                <a:cs typeface="Open Sans" panose="020B0606030504020204" pitchFamily="34" charset="0"/>
              </a:rPr>
              <a:t>java.lang.Object</a:t>
            </a:r>
            <a:r>
              <a:rPr lang="en-US" sz="4500" dirty="0">
                <a:latin typeface="Open Sans" panose="020B0606030504020204" pitchFamily="34" charset="0"/>
                <a:ea typeface="Open Sans" panose="020B0606030504020204" pitchFamily="34" charset="0"/>
                <a:cs typeface="Open Sans" panose="020B0606030504020204" pitchFamily="34" charset="0"/>
              </a:rPr>
              <a:t>?</a:t>
            </a:r>
          </a:p>
        </p:txBody>
      </p:sp>
      <p:pic>
        <p:nvPicPr>
          <p:cNvPr id="1026" name="Picture 2">
            <a:extLst>
              <a:ext uri="{FF2B5EF4-FFF2-40B4-BE49-F238E27FC236}">
                <a16:creationId xmlns:a16="http://schemas.microsoft.com/office/drawing/2014/main" id="{4DA6098F-681C-B156-4685-B1B1642FF4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498" y="2607556"/>
            <a:ext cx="21123731" cy="153588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D092269-4A3B-7A5A-6A50-5C898F067EE8}"/>
              </a:ext>
            </a:extLst>
          </p:cNvPr>
          <p:cNvSpPr/>
          <p:nvPr/>
        </p:nvSpPr>
        <p:spPr>
          <a:xfrm>
            <a:off x="22225518" y="4285904"/>
            <a:ext cx="13509653"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slide shows that our Main class inherits from, or is a subclass of Object, as also is String.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String class has over 60 methods!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String class overrides several methods on Object, two of which are </a:t>
            </a:r>
            <a:r>
              <a:rPr lang="en-US" sz="6400" dirty="0">
                <a:latin typeface="Roboto Mono" panose="00000009000000000000" pitchFamily="49" charset="0"/>
                <a:ea typeface="Roboto Mono" panose="00000009000000000000" pitchFamily="49" charset="0"/>
                <a:cs typeface="Open Sans" panose="020B0606030504020204" pitchFamily="34" charset="0"/>
              </a:rPr>
              <a:t>equals()</a:t>
            </a:r>
            <a:r>
              <a:rPr lang="en-US" sz="6400" dirty="0">
                <a:latin typeface="Open Sans" panose="020B0606030504020204" pitchFamily="34" charset="0"/>
                <a:ea typeface="Open Sans" panose="020B0606030504020204" pitchFamily="34" charset="0"/>
                <a:cs typeface="Open Sans" panose="020B0606030504020204" pitchFamily="34" charset="0"/>
              </a:rPr>
              <a:t>, and </a:t>
            </a:r>
            <a:r>
              <a:rPr lang="en-US" sz="6400" dirty="0" err="1">
                <a:latin typeface="Roboto Mono" panose="00000009000000000000" pitchFamily="49" charset="0"/>
                <a:ea typeface="Roboto Mono" panose="00000009000000000000" pitchFamily="49" charset="0"/>
                <a:cs typeface="Open Sans" panose="020B0606030504020204" pitchFamily="34" charset="0"/>
              </a:rPr>
              <a:t>toString</a:t>
            </a:r>
            <a:r>
              <a:rPr lang="en-US" sz="6400" dirty="0">
                <a:latin typeface="Roboto Mono" panose="00000009000000000000" pitchFamily="49" charset="0"/>
                <a:ea typeface="Roboto Mono" panose="00000009000000000000" pitchFamily="49" charset="0"/>
                <a:cs typeface="Open Sans" panose="020B0606030504020204" pitchFamily="34" charset="0"/>
              </a:rPr>
              <a:t>()</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282000930"/>
      </p:ext>
    </p:extLst>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93DF95EA-78D4-98B6-DB76-9AB6CA3AD8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41363" y="2275668"/>
            <a:ext cx="13508037" cy="16014053"/>
          </a:xfrm>
          <a:prstGeom prst="rect">
            <a:avLst/>
          </a:prstGeom>
          <a:noFill/>
          <a:extLst>
            <a:ext uri="{909E8E84-426E-40DD-AFC4-6F175D3DCCD1}">
              <a14:hiddenFill xmlns:a14="http://schemas.microsoft.com/office/drawing/2010/main">
                <a:solidFill>
                  <a:srgbClr val="FFFFFF"/>
                </a:solidFill>
              </a14:hiddenFill>
            </a:ext>
          </a:extLst>
        </p:spPr>
      </p:pic>
      <p:sp>
        <p:nvSpPr>
          <p:cNvPr id="126" name="Shape 126"/>
          <p:cNvSpPr/>
          <p:nvPr/>
        </p:nvSpPr>
        <p:spPr>
          <a:xfrm>
            <a:off x="952498" y="459786"/>
            <a:ext cx="3461364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Class Diagram for Student and </a:t>
            </a:r>
            <a:r>
              <a:rPr lang="en-US" sz="10800" dirty="0" err="1">
                <a:latin typeface="Open Sans" panose="020B0606030504020204" pitchFamily="34" charset="0"/>
                <a:ea typeface="Open Sans" panose="020B0606030504020204" pitchFamily="34" charset="0"/>
                <a:cs typeface="Open Sans" panose="020B0606030504020204" pitchFamily="34" charset="0"/>
              </a:rPr>
              <a:t>PrimarySchoolStudent</a:t>
            </a:r>
            <a:endParaRPr lang="en-US" sz="10800" dirty="0">
              <a:latin typeface="Open Sans" panose="020B0606030504020204" pitchFamily="34" charset="0"/>
              <a:ea typeface="Open Sans" panose="020B0606030504020204" pitchFamily="34" charset="0"/>
              <a:cs typeface="Open Sans" panose="020B0606030504020204" pitchFamily="34" charset="0"/>
            </a:endParaRP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4"/>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What is </a:t>
            </a:r>
            <a:r>
              <a:rPr lang="en-US" sz="4500" dirty="0" err="1">
                <a:latin typeface="Open Sans" panose="020B0606030504020204" pitchFamily="34" charset="0"/>
                <a:ea typeface="Open Sans" panose="020B0606030504020204" pitchFamily="34" charset="0"/>
                <a:cs typeface="Open Sans" panose="020B0606030504020204" pitchFamily="34" charset="0"/>
              </a:rPr>
              <a:t>java.lang.Object</a:t>
            </a:r>
            <a:r>
              <a:rPr lang="en-US" sz="4500" dirty="0">
                <a:latin typeface="Open Sans" panose="020B0606030504020204" pitchFamily="34" charset="0"/>
                <a:ea typeface="Open Sans" panose="020B0606030504020204" pitchFamily="34" charset="0"/>
                <a:cs typeface="Open Sans" panose="020B0606030504020204" pitchFamily="34" charset="0"/>
              </a:rPr>
              <a:t>?</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21832854"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We've already built Student, which inherits from Object implicitly.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Next, we'll build </a:t>
            </a:r>
            <a:r>
              <a:rPr lang="en-US" sz="6400" dirty="0" err="1">
                <a:latin typeface="Open Sans" panose="020B0606030504020204" pitchFamily="34" charset="0"/>
                <a:ea typeface="Open Sans" panose="020B0606030504020204" pitchFamily="34" charset="0"/>
                <a:cs typeface="Open Sans" panose="020B0606030504020204" pitchFamily="34" charset="0"/>
              </a:rPr>
              <a:t>PrimarySchoolStudent</a:t>
            </a:r>
            <a:r>
              <a:rPr lang="en-US" sz="6400" dirty="0">
                <a:latin typeface="Open Sans" panose="020B0606030504020204" pitchFamily="34" charset="0"/>
                <a:ea typeface="Open Sans" panose="020B0606030504020204" pitchFamily="34" charset="0"/>
                <a:cs typeface="Open Sans" panose="020B0606030504020204" pitchFamily="34" charset="0"/>
              </a:rPr>
              <a:t>, which will inherit from Student. </a:t>
            </a:r>
          </a:p>
        </p:txBody>
      </p:sp>
    </p:spTree>
    <p:extLst>
      <p:ext uri="{BB962C8B-B14F-4D97-AF65-F5344CB8AC3E}">
        <p14:creationId xmlns:p14="http://schemas.microsoft.com/office/powerpoint/2010/main" val="1298383337"/>
      </p:ext>
    </p:extLst>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197797"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Inheritance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Challenge - Part 1</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Now it's time for a challenge, to solidify your understanding, of what inheritance is.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this challenge, I'm going to show you a class diagram, like we worked with in the previous videos. </a:t>
            </a:r>
          </a:p>
        </p:txBody>
      </p:sp>
    </p:spTree>
    <p:extLst>
      <p:ext uri="{BB962C8B-B14F-4D97-AF65-F5344CB8AC3E}">
        <p14:creationId xmlns:p14="http://schemas.microsoft.com/office/powerpoint/2010/main" val="3920451042"/>
      </p:ext>
    </p:extLst>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3B00BA-7BD8-F34D-237B-A006DE6D67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131" y="2485635"/>
            <a:ext cx="18709995" cy="15341529"/>
          </a:xfrm>
          <a:prstGeom prst="rect">
            <a:avLst/>
          </a:prstGeom>
        </p:spPr>
      </p:pic>
      <p:sp>
        <p:nvSpPr>
          <p:cNvPr id="126" name="Shape 126"/>
          <p:cNvSpPr/>
          <p:nvPr/>
        </p:nvSpPr>
        <p:spPr>
          <a:xfrm>
            <a:off x="952498" y="459786"/>
            <a:ext cx="1419779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Inheritance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4"/>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Challenge - Part 1</a:t>
            </a:r>
          </a:p>
        </p:txBody>
      </p:sp>
      <p:sp>
        <p:nvSpPr>
          <p:cNvPr id="8" name="Rectangle 7">
            <a:extLst>
              <a:ext uri="{FF2B5EF4-FFF2-40B4-BE49-F238E27FC236}">
                <a16:creationId xmlns:a16="http://schemas.microsoft.com/office/drawing/2014/main" id="{89DBB243-EF27-4345-872D-E76597E95619}"/>
              </a:ext>
            </a:extLst>
          </p:cNvPr>
          <p:cNvSpPr/>
          <p:nvPr/>
        </p:nvSpPr>
        <p:spPr>
          <a:xfrm>
            <a:off x="18623903" y="2780522"/>
            <a:ext cx="17111268" cy="1500362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Your challenge is to create the Worker class, the Employee class, and either the </a:t>
            </a:r>
            <a:r>
              <a:rPr lang="en-US" sz="6400" dirty="0" err="1">
                <a:latin typeface="Open Sans" panose="020B0606030504020204" pitchFamily="34" charset="0"/>
                <a:ea typeface="Open Sans" panose="020B0606030504020204" pitchFamily="34" charset="0"/>
                <a:cs typeface="Open Sans" panose="020B0606030504020204" pitchFamily="34" charset="0"/>
              </a:rPr>
              <a:t>SalariedEmployee</a:t>
            </a:r>
            <a:r>
              <a:rPr lang="en-US" sz="6400" dirty="0">
                <a:latin typeface="Open Sans" panose="020B0606030504020204" pitchFamily="34" charset="0"/>
                <a:ea typeface="Open Sans" panose="020B0606030504020204" pitchFamily="34" charset="0"/>
                <a:cs typeface="Open Sans" panose="020B0606030504020204" pitchFamily="34" charset="0"/>
              </a:rPr>
              <a:t>, or the </a:t>
            </a:r>
            <a:r>
              <a:rPr lang="en-US" sz="6400" dirty="0" err="1">
                <a:latin typeface="Open Sans" panose="020B0606030504020204" pitchFamily="34" charset="0"/>
                <a:ea typeface="Open Sans" panose="020B0606030504020204" pitchFamily="34" charset="0"/>
                <a:cs typeface="Open Sans" panose="020B0606030504020204" pitchFamily="34" charset="0"/>
              </a:rPr>
              <a:t>HourlyEmployee</a:t>
            </a:r>
            <a:r>
              <a:rPr lang="en-US" sz="6400" dirty="0">
                <a:latin typeface="Open Sans" panose="020B0606030504020204" pitchFamily="34" charset="0"/>
                <a:ea typeface="Open Sans" panose="020B0606030504020204" pitchFamily="34" charset="0"/>
                <a:cs typeface="Open Sans" panose="020B0606030504020204" pitchFamily="34" charset="0"/>
              </a:rPr>
              <a:t> class.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each class, create the attributes and methods shown on this diagram.</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Create a main method that will create either a </a:t>
            </a:r>
            <a:r>
              <a:rPr lang="en-US" sz="6400" dirty="0" err="1">
                <a:latin typeface="Open Sans" panose="020B0606030504020204" pitchFamily="34" charset="0"/>
                <a:ea typeface="Open Sans" panose="020B0606030504020204" pitchFamily="34" charset="0"/>
                <a:cs typeface="Open Sans" panose="020B0606030504020204" pitchFamily="34" charset="0"/>
              </a:rPr>
              <a:t>SalariedEmployee</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dirty="0" err="1">
                <a:latin typeface="Open Sans" panose="020B0606030504020204" pitchFamily="34" charset="0"/>
                <a:ea typeface="Open Sans" panose="020B0606030504020204" pitchFamily="34" charset="0"/>
                <a:cs typeface="Open Sans" panose="020B0606030504020204" pitchFamily="34" charset="0"/>
              </a:rPr>
              <a:t>HourlyEmployee</a:t>
            </a:r>
            <a:r>
              <a:rPr lang="en-US" sz="6400" dirty="0">
                <a:latin typeface="Open Sans" panose="020B0606030504020204" pitchFamily="34" charset="0"/>
                <a:ea typeface="Open Sans" panose="020B0606030504020204" pitchFamily="34" charset="0"/>
                <a:cs typeface="Open Sans" panose="020B0606030504020204" pitchFamily="34" charset="0"/>
              </a:rPr>
              <a:t>, and call the methods, </a:t>
            </a:r>
            <a:r>
              <a:rPr lang="en-US" sz="6400" dirty="0" err="1">
                <a:latin typeface="Open Sans" panose="020B0606030504020204" pitchFamily="34" charset="0"/>
                <a:ea typeface="Open Sans" panose="020B0606030504020204" pitchFamily="34" charset="0"/>
                <a:cs typeface="Open Sans" panose="020B0606030504020204" pitchFamily="34" charset="0"/>
              </a:rPr>
              <a:t>getAge</a:t>
            </a:r>
            <a:r>
              <a:rPr lang="en-US" sz="6400" dirty="0">
                <a:latin typeface="Open Sans" panose="020B0606030504020204" pitchFamily="34" charset="0"/>
                <a:ea typeface="Open Sans" panose="020B0606030504020204" pitchFamily="34" charset="0"/>
                <a:cs typeface="Open Sans" panose="020B0606030504020204" pitchFamily="34" charset="0"/>
              </a:rPr>
              <a:t>, </a:t>
            </a:r>
            <a:r>
              <a:rPr lang="en-US" sz="6400" dirty="0" err="1">
                <a:latin typeface="Open Sans" panose="020B0606030504020204" pitchFamily="34" charset="0"/>
                <a:ea typeface="Open Sans" panose="020B0606030504020204" pitchFamily="34" charset="0"/>
                <a:cs typeface="Open Sans" panose="020B0606030504020204" pitchFamily="34" charset="0"/>
              </a:rPr>
              <a:t>collectPay</a:t>
            </a:r>
            <a:r>
              <a:rPr lang="en-US" sz="6400" dirty="0">
                <a:latin typeface="Open Sans" panose="020B0606030504020204" pitchFamily="34" charset="0"/>
                <a:ea typeface="Open Sans" panose="020B0606030504020204" pitchFamily="34" charset="0"/>
                <a:cs typeface="Open Sans" panose="020B0606030504020204" pitchFamily="34" charset="0"/>
              </a:rPr>
              <a:t>, and the method shown for the specific type of class you decide to implement.</a:t>
            </a:r>
          </a:p>
        </p:txBody>
      </p:sp>
    </p:spTree>
    <p:extLst>
      <p:ext uri="{BB962C8B-B14F-4D97-AF65-F5344CB8AC3E}">
        <p14:creationId xmlns:p14="http://schemas.microsoft.com/office/powerpoint/2010/main" val="2981241321"/>
      </p:ext>
    </p:extLst>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390414-4367-FBDC-324C-578D1BA90B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131" y="2485635"/>
            <a:ext cx="18709995" cy="15341529"/>
          </a:xfrm>
          <a:prstGeom prst="rect">
            <a:avLst/>
          </a:prstGeom>
        </p:spPr>
      </p:pic>
      <p:sp>
        <p:nvSpPr>
          <p:cNvPr id="126" name="Shape 126"/>
          <p:cNvSpPr/>
          <p:nvPr/>
        </p:nvSpPr>
        <p:spPr>
          <a:xfrm>
            <a:off x="952498" y="459786"/>
            <a:ext cx="14197797"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Inheritance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4"/>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Challenge - Part 1</a:t>
            </a:r>
          </a:p>
        </p:txBody>
      </p:sp>
      <p:sp>
        <p:nvSpPr>
          <p:cNvPr id="8" name="Rectangle 7">
            <a:extLst>
              <a:ext uri="{FF2B5EF4-FFF2-40B4-BE49-F238E27FC236}">
                <a16:creationId xmlns:a16="http://schemas.microsoft.com/office/drawing/2014/main" id="{89DBB243-EF27-4345-872D-E76597E95619}"/>
              </a:ext>
            </a:extLst>
          </p:cNvPr>
          <p:cNvSpPr/>
          <p:nvPr/>
        </p:nvSpPr>
        <p:spPr>
          <a:xfrm>
            <a:off x="18623903" y="2780522"/>
            <a:ext cx="17111268" cy="1500362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if you implement </a:t>
            </a:r>
            <a:r>
              <a:rPr lang="en-US" sz="6400" dirty="0" err="1">
                <a:latin typeface="Open Sans" panose="020B0606030504020204" pitchFamily="34" charset="0"/>
                <a:ea typeface="Open Sans" panose="020B0606030504020204" pitchFamily="34" charset="0"/>
                <a:cs typeface="Open Sans" panose="020B0606030504020204" pitchFamily="34" charset="0"/>
              </a:rPr>
              <a:t>SalariedEmployee</a:t>
            </a:r>
            <a:r>
              <a:rPr lang="en-US" sz="6400" dirty="0">
                <a:latin typeface="Open Sans" panose="020B0606030504020204" pitchFamily="34" charset="0"/>
                <a:ea typeface="Open Sans" panose="020B0606030504020204" pitchFamily="34" charset="0"/>
                <a:cs typeface="Open Sans" panose="020B0606030504020204" pitchFamily="34" charset="0"/>
              </a:rPr>
              <a:t>, then execute retire().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implement </a:t>
            </a:r>
            <a:r>
              <a:rPr lang="en-US" sz="6400" dirty="0" err="1">
                <a:latin typeface="Open Sans" panose="020B0606030504020204" pitchFamily="34" charset="0"/>
                <a:ea typeface="Open Sans" panose="020B0606030504020204" pitchFamily="34" charset="0"/>
                <a:cs typeface="Open Sans" panose="020B0606030504020204" pitchFamily="34" charset="0"/>
              </a:rPr>
              <a:t>HourlyEmployee</a:t>
            </a:r>
            <a:r>
              <a:rPr lang="en-US" sz="6400" dirty="0">
                <a:latin typeface="Open Sans" panose="020B0606030504020204" pitchFamily="34" charset="0"/>
                <a:ea typeface="Open Sans" panose="020B0606030504020204" pitchFamily="34" charset="0"/>
                <a:cs typeface="Open Sans" panose="020B0606030504020204" pitchFamily="34" charset="0"/>
              </a:rPr>
              <a:t>, then execute </a:t>
            </a:r>
            <a:r>
              <a:rPr lang="en-US" sz="6400" dirty="0" err="1">
                <a:latin typeface="Open Sans" panose="020B0606030504020204" pitchFamily="34" charset="0"/>
                <a:ea typeface="Open Sans" panose="020B0606030504020204" pitchFamily="34" charset="0"/>
                <a:cs typeface="Open Sans" panose="020B0606030504020204" pitchFamily="34" charset="0"/>
              </a:rPr>
              <a:t>getDoublePay</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399033212"/>
      </p:ext>
    </p:extLst>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837088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Worker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Challenge - Part 1</a:t>
            </a:r>
          </a:p>
        </p:txBody>
      </p:sp>
      <p:pic>
        <p:nvPicPr>
          <p:cNvPr id="2" name="Picture 1">
            <a:extLst>
              <a:ext uri="{FF2B5EF4-FFF2-40B4-BE49-F238E27FC236}">
                <a16:creationId xmlns:a16="http://schemas.microsoft.com/office/drawing/2014/main" id="{DE911963-8116-7D05-E2AE-DE4653D1ECC8}"/>
              </a:ext>
            </a:extLst>
          </p:cNvPr>
          <p:cNvPicPr>
            <a:picLocks noChangeAspect="1"/>
          </p:cNvPicPr>
          <p:nvPr/>
        </p:nvPicPr>
        <p:blipFill>
          <a:blip r:embed="rId4"/>
          <a:stretch>
            <a:fillRect/>
          </a:stretch>
        </p:blipFill>
        <p:spPr>
          <a:xfrm>
            <a:off x="9587040" y="4689507"/>
            <a:ext cx="17401921" cy="11194986"/>
          </a:xfrm>
          <a:prstGeom prst="rect">
            <a:avLst/>
          </a:prstGeom>
        </p:spPr>
      </p:pic>
    </p:spTree>
    <p:extLst>
      <p:ext uri="{BB962C8B-B14F-4D97-AF65-F5344CB8AC3E}">
        <p14:creationId xmlns:p14="http://schemas.microsoft.com/office/powerpoint/2010/main" val="2984990706"/>
      </p:ext>
    </p:extLst>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65250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Employee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Challenge - Part 1</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this class, we have specific Employee attributes, </a:t>
            </a:r>
            <a:r>
              <a:rPr lang="en-US" sz="6400" dirty="0" err="1">
                <a:latin typeface="Open Sans" panose="020B0606030504020204" pitchFamily="34" charset="0"/>
                <a:ea typeface="Open Sans" panose="020B0606030504020204" pitchFamily="34" charset="0"/>
                <a:cs typeface="Open Sans" panose="020B0606030504020204" pitchFamily="34" charset="0"/>
              </a:rPr>
              <a:t>employeeId</a:t>
            </a:r>
            <a:r>
              <a:rPr lang="en-US" sz="6400" dirty="0">
                <a:latin typeface="Open Sans" panose="020B0606030504020204" pitchFamily="34" charset="0"/>
                <a:ea typeface="Open Sans" panose="020B0606030504020204" pitchFamily="34" charset="0"/>
                <a:cs typeface="Open Sans" panose="020B0606030504020204" pitchFamily="34" charset="0"/>
              </a:rPr>
              <a:t>, and </a:t>
            </a:r>
            <a:r>
              <a:rPr lang="en-US" sz="6400" dirty="0" err="1">
                <a:latin typeface="Open Sans" panose="020B0606030504020204" pitchFamily="34" charset="0"/>
                <a:ea typeface="Open Sans" panose="020B0606030504020204" pitchFamily="34" charset="0"/>
                <a:cs typeface="Open Sans" panose="020B0606030504020204" pitchFamily="34" charset="0"/>
              </a:rPr>
              <a:t>hireDate</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simplicity's sake, we haven't included any methods specific to an Employee.</a:t>
            </a:r>
          </a:p>
        </p:txBody>
      </p:sp>
      <p:pic>
        <p:nvPicPr>
          <p:cNvPr id="2050" name="Picture 2">
            <a:extLst>
              <a:ext uri="{FF2B5EF4-FFF2-40B4-BE49-F238E27FC236}">
                <a16:creationId xmlns:a16="http://schemas.microsoft.com/office/drawing/2014/main" id="{55305436-B93D-420A-07CD-AEDCE9E1F4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05623" y="7588209"/>
            <a:ext cx="17764755" cy="7109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2539455"/>
      </p:ext>
    </p:extLst>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01DEB1D-146A-7BFA-C158-0D2858688F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694" y="2167610"/>
            <a:ext cx="18492498" cy="15888999"/>
          </a:xfrm>
          <a:prstGeom prst="rect">
            <a:avLst/>
          </a:prstGeom>
          <a:noFill/>
          <a:extLst>
            <a:ext uri="{909E8E84-426E-40DD-AFC4-6F175D3DCCD1}">
              <a14:hiddenFill xmlns:a14="http://schemas.microsoft.com/office/drawing/2010/main">
                <a:solidFill>
                  <a:srgbClr val="FFFFFF"/>
                </a:solidFill>
              </a14:hiddenFill>
            </a:ext>
          </a:extLst>
        </p:spPr>
      </p:pic>
      <p:sp>
        <p:nvSpPr>
          <p:cNvPr id="126" name="Shape 126"/>
          <p:cNvSpPr/>
          <p:nvPr/>
        </p:nvSpPr>
        <p:spPr>
          <a:xfrm>
            <a:off x="952498" y="459786"/>
            <a:ext cx="21621304"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Inheritance Challenge, Continued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4"/>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dirty="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Challenge Part 2</a:t>
            </a:r>
          </a:p>
        </p:txBody>
      </p:sp>
      <p:sp>
        <p:nvSpPr>
          <p:cNvPr id="8" name="Rectangle 7">
            <a:extLst>
              <a:ext uri="{FF2B5EF4-FFF2-40B4-BE49-F238E27FC236}">
                <a16:creationId xmlns:a16="http://schemas.microsoft.com/office/drawing/2014/main" id="{89DBB243-EF27-4345-872D-E76597E95619}"/>
              </a:ext>
            </a:extLst>
          </p:cNvPr>
          <p:cNvSpPr/>
          <p:nvPr/>
        </p:nvSpPr>
        <p:spPr>
          <a:xfrm>
            <a:off x="17933437" y="2911151"/>
            <a:ext cx="17801734" cy="15020151"/>
          </a:xfrm>
          <a:prstGeom prst="rect">
            <a:avLst/>
          </a:prstGeom>
        </p:spPr>
        <p:txBody>
          <a:bodyPr wrap="square">
            <a:normAutofit lnSpcReduction="10000"/>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time to build a more specific type of Employee, one that's Salaried, or one that's Hourly.</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 salaried employee, is paid based on some percentage of his or her salary. </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It this person is retired, then the salary may be 100 percent, but it is generally reduced somewhat.</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An hourly employee, is paid by the hours worked, and the hourly rate they agreed to work for.</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An hourly employee may also get double pay, if they work over a certain amount of hours.</a:t>
            </a:r>
          </a:p>
        </p:txBody>
      </p:sp>
    </p:spTree>
    <p:extLst>
      <p:ext uri="{BB962C8B-B14F-4D97-AF65-F5344CB8AC3E}">
        <p14:creationId xmlns:p14="http://schemas.microsoft.com/office/powerpoint/2010/main" val="3789813386"/>
      </p:ext>
    </p:extLst>
  </p:cSld>
  <p:clrMapOvr>
    <a:masterClrMapping/>
  </p:clrMapOvr>
  <p:transition spd="slow"/>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169711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SalariedEmployee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dirty="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Challenge Part 2</a:t>
            </a:r>
          </a:p>
        </p:txBody>
      </p:sp>
      <p:pic>
        <p:nvPicPr>
          <p:cNvPr id="2050" name="Picture 2">
            <a:extLst>
              <a:ext uri="{FF2B5EF4-FFF2-40B4-BE49-F238E27FC236}">
                <a16:creationId xmlns:a16="http://schemas.microsoft.com/office/drawing/2014/main" id="{E8FA3B45-80F1-5621-F607-3B8F3E584C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0100" y="5696341"/>
            <a:ext cx="17735801" cy="9181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738608"/>
      </p:ext>
    </p:extLst>
  </p:cSld>
  <p:clrMapOvr>
    <a:masterClrMapping/>
  </p:clrMapOvr>
  <p:transition spd="slow"/>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28436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err="1">
                <a:latin typeface="Open Sans" panose="020B0606030504020204" pitchFamily="34" charset="0"/>
                <a:ea typeface="Open Sans" panose="020B0606030504020204" pitchFamily="34" charset="0"/>
                <a:cs typeface="Open Sans" panose="020B0606030504020204" pitchFamily="34" charset="0"/>
              </a:rPr>
              <a:t>HourlyEmployee</a:t>
            </a:r>
            <a:r>
              <a:rPr lang="en-US" sz="10800" dirty="0">
                <a:latin typeface="Open Sans" panose="020B0606030504020204" pitchFamily="34" charset="0"/>
                <a:ea typeface="Open Sans" panose="020B0606030504020204" pitchFamily="34" charset="0"/>
                <a:cs typeface="Open Sans" panose="020B0606030504020204" pitchFamily="34" charset="0"/>
              </a:rPr>
              <a:t>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dirty="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Challenge Part 2</a:t>
            </a:r>
          </a:p>
        </p:txBody>
      </p:sp>
      <p:pic>
        <p:nvPicPr>
          <p:cNvPr id="2" name="Picture 1">
            <a:extLst>
              <a:ext uri="{FF2B5EF4-FFF2-40B4-BE49-F238E27FC236}">
                <a16:creationId xmlns:a16="http://schemas.microsoft.com/office/drawing/2014/main" id="{7E38FA50-80BF-5CE1-8040-427536414EAB}"/>
              </a:ext>
            </a:extLst>
          </p:cNvPr>
          <p:cNvPicPr>
            <a:picLocks noChangeAspect="1"/>
          </p:cNvPicPr>
          <p:nvPr/>
        </p:nvPicPr>
        <p:blipFill>
          <a:blip r:embed="rId4"/>
          <a:stretch>
            <a:fillRect/>
          </a:stretch>
        </p:blipFill>
        <p:spPr>
          <a:xfrm>
            <a:off x="9418320" y="5953792"/>
            <a:ext cx="17739360" cy="8666417"/>
          </a:xfrm>
          <a:prstGeom prst="rect">
            <a:avLst/>
          </a:prstGeom>
        </p:spPr>
      </p:pic>
    </p:spTree>
    <p:extLst>
      <p:ext uri="{BB962C8B-B14F-4D97-AF65-F5344CB8AC3E}">
        <p14:creationId xmlns:p14="http://schemas.microsoft.com/office/powerpoint/2010/main" val="2658918075"/>
      </p:ext>
    </p:extLst>
  </p:cSld>
  <p:clrMapOvr>
    <a:masterClrMapping/>
  </p:clrMapOvr>
  <p:transition spd="slow"/>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86648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Making the call</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dirty="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Challenge Part 2</a:t>
            </a:r>
          </a:p>
        </p:txBody>
      </p:sp>
      <p:sp>
        <p:nvSpPr>
          <p:cNvPr id="8" name="Rectangle 7">
            <a:extLst>
              <a:ext uri="{FF2B5EF4-FFF2-40B4-BE49-F238E27FC236}">
                <a16:creationId xmlns:a16="http://schemas.microsoft.com/office/drawing/2014/main" id="{89DBB243-EF27-4345-872D-E76597E95619}"/>
              </a:ext>
            </a:extLst>
          </p:cNvPr>
          <p:cNvSpPr/>
          <p:nvPr/>
        </p:nvSpPr>
        <p:spPr>
          <a:xfrm>
            <a:off x="23905029" y="2649896"/>
            <a:ext cx="11830141" cy="1528140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Each method call, made on these objects, points to the code that will actually be executed.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When joe or </a:t>
            </a:r>
            <a:r>
              <a:rPr lang="en-US" sz="6400" dirty="0" err="1">
                <a:latin typeface="Open Sans" panose="020B0606030504020204" pitchFamily="34" charset="0"/>
                <a:ea typeface="Open Sans" panose="020B0606030504020204" pitchFamily="34" charset="0"/>
                <a:cs typeface="Open Sans" panose="020B0606030504020204" pitchFamily="34" charset="0"/>
              </a:rPr>
              <a:t>mary</a:t>
            </a:r>
            <a:r>
              <a:rPr lang="en-US" sz="6400" dirty="0">
                <a:latin typeface="Open Sans" panose="020B0606030504020204" pitchFamily="34" charset="0"/>
                <a:ea typeface="Open Sans" panose="020B0606030504020204" pitchFamily="34" charset="0"/>
                <a:cs typeface="Open Sans" panose="020B0606030504020204" pitchFamily="34" charset="0"/>
              </a:rPr>
              <a:t> call getAge(), the method's implementation is on Worker, and not overridden by any other class, so the getAge method on Worker is executed.</a:t>
            </a:r>
          </a:p>
        </p:txBody>
      </p:sp>
      <p:sp>
        <p:nvSpPr>
          <p:cNvPr id="2" name="Rectangle 1">
            <a:extLst>
              <a:ext uri="{FF2B5EF4-FFF2-40B4-BE49-F238E27FC236}">
                <a16:creationId xmlns:a16="http://schemas.microsoft.com/office/drawing/2014/main" id="{D63D8C85-851D-081F-9D6D-391A3CBE703D}"/>
              </a:ext>
            </a:extLst>
          </p:cNvPr>
          <p:cNvSpPr/>
          <p:nvPr/>
        </p:nvSpPr>
        <p:spPr>
          <a:xfrm>
            <a:off x="952498" y="3340359"/>
            <a:ext cx="5340447" cy="14590938"/>
          </a:xfrm>
          <a:prstGeom prst="rect">
            <a:avLst/>
          </a:prstGeom>
          <a:ln w="38100"/>
          <a:effectLst/>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3" name="Rectangle 2">
            <a:extLst>
              <a:ext uri="{FF2B5EF4-FFF2-40B4-BE49-F238E27FC236}">
                <a16:creationId xmlns:a16="http://schemas.microsoft.com/office/drawing/2014/main" id="{C7AC01DE-769D-712A-D45E-5EECDCD33433}"/>
              </a:ext>
            </a:extLst>
          </p:cNvPr>
          <p:cNvSpPr/>
          <p:nvPr/>
        </p:nvSpPr>
        <p:spPr>
          <a:xfrm>
            <a:off x="952498" y="3489650"/>
            <a:ext cx="5373657" cy="2609532"/>
          </a:xfrm>
          <a:prstGeom prst="rect">
            <a:avLst/>
          </a:prstGeom>
        </p:spPr>
        <p:txBody>
          <a:bodyPr wrap="square">
            <a:normAutofit/>
          </a:bodyPr>
          <a:lstStyle/>
          <a:p>
            <a:pPr>
              <a:spcAft>
                <a:spcPts val="1200"/>
              </a:spcAft>
            </a:pPr>
            <a:r>
              <a:rPr lang="en-US" sz="6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Joe</a:t>
            </a:r>
            <a:endParaRPr lang="en-US" sz="4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a:spcAft>
                <a:spcPts val="5022"/>
              </a:spcAft>
            </a:pPr>
            <a:r>
              <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 </a:t>
            </a:r>
            <a:r>
              <a:rPr lang="en-US" sz="40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SalariedEmployee</a:t>
            </a:r>
            <a:endPar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Rectangle: Rounded Corners 3">
            <a:extLst>
              <a:ext uri="{FF2B5EF4-FFF2-40B4-BE49-F238E27FC236}">
                <a16:creationId xmlns:a16="http://schemas.microsoft.com/office/drawing/2014/main" id="{42092AC5-964F-E239-6F2B-6D4ADAB41338}"/>
              </a:ext>
            </a:extLst>
          </p:cNvPr>
          <p:cNvSpPr/>
          <p:nvPr/>
        </p:nvSpPr>
        <p:spPr>
          <a:xfrm>
            <a:off x="1511557" y="7623498"/>
            <a:ext cx="4079730" cy="1312803"/>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getAge</a:t>
            </a:r>
            <a:r>
              <a:rPr kumimoji="0" lang="en-US"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5" name="Rectangle: Rounded Corners 4">
            <a:extLst>
              <a:ext uri="{FF2B5EF4-FFF2-40B4-BE49-F238E27FC236}">
                <a16:creationId xmlns:a16="http://schemas.microsoft.com/office/drawing/2014/main" id="{D19BE010-3C41-2DF2-D039-AA94F033A641}"/>
              </a:ext>
            </a:extLst>
          </p:cNvPr>
          <p:cNvSpPr/>
          <p:nvPr/>
        </p:nvSpPr>
        <p:spPr>
          <a:xfrm>
            <a:off x="1511557" y="11225647"/>
            <a:ext cx="4079730"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toString</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6" name="Rectangle: Rounded Corners 5">
            <a:extLst>
              <a:ext uri="{FF2B5EF4-FFF2-40B4-BE49-F238E27FC236}">
                <a16:creationId xmlns:a16="http://schemas.microsoft.com/office/drawing/2014/main" id="{1BBD0913-8A16-2AB7-E4AA-9A4CD585477F}"/>
              </a:ext>
            </a:extLst>
          </p:cNvPr>
          <p:cNvSpPr/>
          <p:nvPr/>
        </p:nvSpPr>
        <p:spPr>
          <a:xfrm>
            <a:off x="1654154" y="13851424"/>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collectPay</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7" name="Rectangle: Rounded Corners 6">
            <a:extLst>
              <a:ext uri="{FF2B5EF4-FFF2-40B4-BE49-F238E27FC236}">
                <a16:creationId xmlns:a16="http://schemas.microsoft.com/office/drawing/2014/main" id="{18C0325E-2C4F-1BAA-6E55-1039463CE8B5}"/>
              </a:ext>
            </a:extLst>
          </p:cNvPr>
          <p:cNvSpPr/>
          <p:nvPr/>
        </p:nvSpPr>
        <p:spPr>
          <a:xfrm>
            <a:off x="1654154" y="15989142"/>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retire()</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11" name="Rectangle 10">
            <a:extLst>
              <a:ext uri="{FF2B5EF4-FFF2-40B4-BE49-F238E27FC236}">
                <a16:creationId xmlns:a16="http://schemas.microsoft.com/office/drawing/2014/main" id="{D1ED296E-99AF-3058-95F3-071F0D0A51D4}"/>
              </a:ext>
            </a:extLst>
          </p:cNvPr>
          <p:cNvSpPr/>
          <p:nvPr/>
        </p:nvSpPr>
        <p:spPr>
          <a:xfrm>
            <a:off x="17811750" y="3340359"/>
            <a:ext cx="5533442" cy="14590938"/>
          </a:xfrm>
          <a:prstGeom prst="rect">
            <a:avLst/>
          </a:prstGeom>
          <a:ln w="38100"/>
          <a:effectLst/>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12" name="Rectangle 11">
            <a:extLst>
              <a:ext uri="{FF2B5EF4-FFF2-40B4-BE49-F238E27FC236}">
                <a16:creationId xmlns:a16="http://schemas.microsoft.com/office/drawing/2014/main" id="{EB4B2921-E42C-2DF4-9C3E-196B94B92B48}"/>
              </a:ext>
            </a:extLst>
          </p:cNvPr>
          <p:cNvSpPr/>
          <p:nvPr/>
        </p:nvSpPr>
        <p:spPr>
          <a:xfrm>
            <a:off x="9545425" y="3648518"/>
            <a:ext cx="5047053" cy="2450667"/>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13" name="Rectangle 12">
            <a:extLst>
              <a:ext uri="{FF2B5EF4-FFF2-40B4-BE49-F238E27FC236}">
                <a16:creationId xmlns:a16="http://schemas.microsoft.com/office/drawing/2014/main" id="{D090708C-4611-AA3C-A432-9114AF9CA592}"/>
              </a:ext>
            </a:extLst>
          </p:cNvPr>
          <p:cNvSpPr/>
          <p:nvPr/>
        </p:nvSpPr>
        <p:spPr>
          <a:xfrm>
            <a:off x="9578633" y="3940790"/>
            <a:ext cx="5013846" cy="1866122"/>
          </a:xfrm>
          <a:prstGeom prst="rect">
            <a:avLst/>
          </a:prstGeom>
        </p:spPr>
        <p:txBody>
          <a:bodyPr wrap="square">
            <a:normAutofit fontScale="85000" lnSpcReduction="20000"/>
          </a:bodyPr>
          <a:lstStyle/>
          <a:p>
            <a:pPr>
              <a:spcAft>
                <a:spcPts val="1200"/>
              </a:spcAft>
            </a:pPr>
            <a:r>
              <a:rPr lang="en-US" sz="5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Object</a:t>
            </a:r>
          </a:p>
          <a:p>
            <a:pPr>
              <a:spcAft>
                <a:spcPts val="1200"/>
              </a:spcAft>
            </a:pP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36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toString</a:t>
            </a:r>
            <a:r>
              <a:rPr lang="en-US"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14" name="Rectangle 13">
            <a:extLst>
              <a:ext uri="{FF2B5EF4-FFF2-40B4-BE49-F238E27FC236}">
                <a16:creationId xmlns:a16="http://schemas.microsoft.com/office/drawing/2014/main" id="{BF88C544-AF0D-21AE-08D9-52F9738719DF}"/>
              </a:ext>
            </a:extLst>
          </p:cNvPr>
          <p:cNvSpPr/>
          <p:nvPr/>
        </p:nvSpPr>
        <p:spPr>
          <a:xfrm>
            <a:off x="9545424" y="6416016"/>
            <a:ext cx="5013847" cy="3903031"/>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15" name="Rectangle 14">
            <a:extLst>
              <a:ext uri="{FF2B5EF4-FFF2-40B4-BE49-F238E27FC236}">
                <a16:creationId xmlns:a16="http://schemas.microsoft.com/office/drawing/2014/main" id="{08F2BE53-9FA7-CDC8-2CC5-F0F628567B00}"/>
              </a:ext>
            </a:extLst>
          </p:cNvPr>
          <p:cNvSpPr/>
          <p:nvPr/>
        </p:nvSpPr>
        <p:spPr>
          <a:xfrm>
            <a:off x="9578632" y="6708288"/>
            <a:ext cx="5013846" cy="3242198"/>
          </a:xfrm>
          <a:prstGeom prst="rect">
            <a:avLst/>
          </a:prstGeom>
        </p:spPr>
        <p:txBody>
          <a:bodyPr wrap="square">
            <a:normAutofit/>
          </a:bodyPr>
          <a:lstStyle/>
          <a:p>
            <a:pPr>
              <a:spcAft>
                <a:spcPts val="1200"/>
              </a:spcAft>
            </a:pPr>
            <a:r>
              <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Worker</a:t>
            </a:r>
            <a:endParaRPr lang="en-US" sz="32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getAge</a:t>
            </a:r>
          </a:p>
          <a:p>
            <a:pPr>
              <a:spcAft>
                <a:spcPts val="1200"/>
              </a:spcAft>
            </a:pP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collectPay</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toString</a:t>
            </a: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18" name="Rectangle 17">
            <a:extLst>
              <a:ext uri="{FF2B5EF4-FFF2-40B4-BE49-F238E27FC236}">
                <a16:creationId xmlns:a16="http://schemas.microsoft.com/office/drawing/2014/main" id="{A6135DF0-6476-168C-0E31-82C94639BC67}"/>
              </a:ext>
            </a:extLst>
          </p:cNvPr>
          <p:cNvSpPr/>
          <p:nvPr/>
        </p:nvSpPr>
        <p:spPr>
          <a:xfrm>
            <a:off x="9545426" y="10559589"/>
            <a:ext cx="5013845" cy="3094554"/>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19" name="Rectangle 18">
            <a:extLst>
              <a:ext uri="{FF2B5EF4-FFF2-40B4-BE49-F238E27FC236}">
                <a16:creationId xmlns:a16="http://schemas.microsoft.com/office/drawing/2014/main" id="{9C66FE11-8C91-0B06-3932-DA7523E6A0A7}"/>
              </a:ext>
            </a:extLst>
          </p:cNvPr>
          <p:cNvSpPr/>
          <p:nvPr/>
        </p:nvSpPr>
        <p:spPr>
          <a:xfrm>
            <a:off x="9578633" y="10851860"/>
            <a:ext cx="5013846" cy="2581485"/>
          </a:xfrm>
          <a:prstGeom prst="rect">
            <a:avLst/>
          </a:prstGeom>
        </p:spPr>
        <p:txBody>
          <a:bodyPr wrap="square">
            <a:normAutofit/>
          </a:bodyPr>
          <a:lstStyle/>
          <a:p>
            <a:pPr>
              <a:spcAft>
                <a:spcPts val="1200"/>
              </a:spcAft>
            </a:pPr>
            <a:r>
              <a:rPr lang="en-US" sz="4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Employee</a:t>
            </a: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toString</a:t>
            </a: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a:p>
            <a:pPr>
              <a:spcAft>
                <a:spcPts val="1200"/>
              </a:spcAft>
            </a:pP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getJobReview</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Rectangle 19">
            <a:extLst>
              <a:ext uri="{FF2B5EF4-FFF2-40B4-BE49-F238E27FC236}">
                <a16:creationId xmlns:a16="http://schemas.microsoft.com/office/drawing/2014/main" id="{E0684182-BCC9-17E1-7A05-4E0C2F8A3087}"/>
              </a:ext>
            </a:extLst>
          </p:cNvPr>
          <p:cNvSpPr/>
          <p:nvPr/>
        </p:nvSpPr>
        <p:spPr>
          <a:xfrm>
            <a:off x="17891642" y="3506281"/>
            <a:ext cx="5373657" cy="2592901"/>
          </a:xfrm>
          <a:prstGeom prst="rect">
            <a:avLst/>
          </a:prstGeom>
        </p:spPr>
        <p:txBody>
          <a:bodyPr wrap="square">
            <a:normAutofit/>
          </a:bodyPr>
          <a:lstStyle/>
          <a:p>
            <a:pPr>
              <a:spcAft>
                <a:spcPts val="1200"/>
              </a:spcAft>
            </a:pPr>
            <a:r>
              <a:rPr lang="en-US" sz="6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Mary</a:t>
            </a:r>
            <a:endParaRPr lang="en-US" sz="4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a:spcAft>
                <a:spcPts val="5022"/>
              </a:spcAft>
            </a:pPr>
            <a:r>
              <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An </a:t>
            </a:r>
            <a:r>
              <a:rPr lang="en-US" sz="40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HourlyEmployee</a:t>
            </a:r>
            <a:endPar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Rectangle 20">
            <a:extLst>
              <a:ext uri="{FF2B5EF4-FFF2-40B4-BE49-F238E27FC236}">
                <a16:creationId xmlns:a16="http://schemas.microsoft.com/office/drawing/2014/main" id="{295A8985-6890-61D1-9BB7-C5DB84EBD759}"/>
              </a:ext>
            </a:extLst>
          </p:cNvPr>
          <p:cNvSpPr/>
          <p:nvPr/>
        </p:nvSpPr>
        <p:spPr>
          <a:xfrm>
            <a:off x="6852782" y="14106399"/>
            <a:ext cx="5013845" cy="3094554"/>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22" name="Rectangle 21">
            <a:extLst>
              <a:ext uri="{FF2B5EF4-FFF2-40B4-BE49-F238E27FC236}">
                <a16:creationId xmlns:a16="http://schemas.microsoft.com/office/drawing/2014/main" id="{76BFD05F-EC06-0AEB-4D7F-E904ED4B7C11}"/>
              </a:ext>
            </a:extLst>
          </p:cNvPr>
          <p:cNvSpPr/>
          <p:nvPr/>
        </p:nvSpPr>
        <p:spPr>
          <a:xfrm>
            <a:off x="6885988" y="14398670"/>
            <a:ext cx="4980639" cy="2581485"/>
          </a:xfrm>
          <a:prstGeom prst="rect">
            <a:avLst/>
          </a:prstGeom>
        </p:spPr>
        <p:txBody>
          <a:bodyPr wrap="square">
            <a:normAutofit/>
          </a:bodyPr>
          <a:lstStyle/>
          <a:p>
            <a:pPr>
              <a:spcAft>
                <a:spcPts val="1200"/>
              </a:spcAft>
            </a:pPr>
            <a:r>
              <a:rPr lang="en-US" sz="40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SalariedEmployee</a:t>
            </a: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collectPay</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retire</a:t>
            </a:r>
          </a:p>
        </p:txBody>
      </p:sp>
      <p:sp>
        <p:nvSpPr>
          <p:cNvPr id="23" name="Rectangle 22">
            <a:extLst>
              <a:ext uri="{FF2B5EF4-FFF2-40B4-BE49-F238E27FC236}">
                <a16:creationId xmlns:a16="http://schemas.microsoft.com/office/drawing/2014/main" id="{E2E8199B-D7A8-0259-1EDB-54091413C131}"/>
              </a:ext>
            </a:extLst>
          </p:cNvPr>
          <p:cNvSpPr/>
          <p:nvPr/>
        </p:nvSpPr>
        <p:spPr>
          <a:xfrm>
            <a:off x="12315662" y="14106399"/>
            <a:ext cx="5013845" cy="3094554"/>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24" name="Rectangle 23">
            <a:extLst>
              <a:ext uri="{FF2B5EF4-FFF2-40B4-BE49-F238E27FC236}">
                <a16:creationId xmlns:a16="http://schemas.microsoft.com/office/drawing/2014/main" id="{EE6F6780-5170-E0CB-D424-4F9E52846162}"/>
              </a:ext>
            </a:extLst>
          </p:cNvPr>
          <p:cNvSpPr/>
          <p:nvPr/>
        </p:nvSpPr>
        <p:spPr>
          <a:xfrm>
            <a:off x="12348869" y="14398670"/>
            <a:ext cx="5013846" cy="2581485"/>
          </a:xfrm>
          <a:prstGeom prst="rect">
            <a:avLst/>
          </a:prstGeom>
        </p:spPr>
        <p:txBody>
          <a:bodyPr wrap="square">
            <a:normAutofit/>
          </a:bodyPr>
          <a:lstStyle/>
          <a:p>
            <a:pPr>
              <a:spcAft>
                <a:spcPts val="1200"/>
              </a:spcAft>
            </a:pPr>
            <a:r>
              <a:rPr lang="en-US" sz="40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HourlyEmployee</a:t>
            </a: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collectPay</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getDoublePay</a:t>
            </a: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25" name="Rectangle: Rounded Corners 24">
            <a:extLst>
              <a:ext uri="{FF2B5EF4-FFF2-40B4-BE49-F238E27FC236}">
                <a16:creationId xmlns:a16="http://schemas.microsoft.com/office/drawing/2014/main" id="{44692286-3748-4BEC-E1C5-1231A4866FE5}"/>
              </a:ext>
            </a:extLst>
          </p:cNvPr>
          <p:cNvSpPr/>
          <p:nvPr/>
        </p:nvSpPr>
        <p:spPr>
          <a:xfrm>
            <a:off x="18575329" y="7623498"/>
            <a:ext cx="4079730" cy="1312803"/>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getAge</a:t>
            </a:r>
            <a:r>
              <a:rPr kumimoji="0" lang="en-US"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26" name="Rectangle: Rounded Corners 25">
            <a:extLst>
              <a:ext uri="{FF2B5EF4-FFF2-40B4-BE49-F238E27FC236}">
                <a16:creationId xmlns:a16="http://schemas.microsoft.com/office/drawing/2014/main" id="{E18BD94E-EA15-58F1-4AF4-3996B4B46D2C}"/>
              </a:ext>
            </a:extLst>
          </p:cNvPr>
          <p:cNvSpPr/>
          <p:nvPr/>
        </p:nvSpPr>
        <p:spPr>
          <a:xfrm>
            <a:off x="18575329" y="11225647"/>
            <a:ext cx="4079730"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toString</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27" name="Rectangle: Rounded Corners 26">
            <a:extLst>
              <a:ext uri="{FF2B5EF4-FFF2-40B4-BE49-F238E27FC236}">
                <a16:creationId xmlns:a16="http://schemas.microsoft.com/office/drawing/2014/main" id="{78573BFA-4A35-3C53-C8B4-0B1AEBC98A71}"/>
              </a:ext>
            </a:extLst>
          </p:cNvPr>
          <p:cNvSpPr/>
          <p:nvPr/>
        </p:nvSpPr>
        <p:spPr>
          <a:xfrm>
            <a:off x="18717926" y="13851424"/>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collectPay</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28" name="Rectangle: Rounded Corners 27">
            <a:extLst>
              <a:ext uri="{FF2B5EF4-FFF2-40B4-BE49-F238E27FC236}">
                <a16:creationId xmlns:a16="http://schemas.microsoft.com/office/drawing/2014/main" id="{4BBFF1A4-2B8B-A452-7918-DE6B0F16F19D}"/>
              </a:ext>
            </a:extLst>
          </p:cNvPr>
          <p:cNvSpPr/>
          <p:nvPr/>
        </p:nvSpPr>
        <p:spPr>
          <a:xfrm>
            <a:off x="18717926" y="15989142"/>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getDoubePay</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cxnSp>
        <p:nvCxnSpPr>
          <p:cNvPr id="30" name="Straight Arrow Connector 29">
            <a:extLst>
              <a:ext uri="{FF2B5EF4-FFF2-40B4-BE49-F238E27FC236}">
                <a16:creationId xmlns:a16="http://schemas.microsoft.com/office/drawing/2014/main" id="{C5BF40C5-789F-76E4-1DB7-127FE45C1D5E}"/>
              </a:ext>
            </a:extLst>
          </p:cNvPr>
          <p:cNvCxnSpPr/>
          <p:nvPr/>
        </p:nvCxnSpPr>
        <p:spPr>
          <a:xfrm>
            <a:off x="5591287" y="8341567"/>
            <a:ext cx="3954137"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31" name="Straight Arrow Connector 30">
            <a:extLst>
              <a:ext uri="{FF2B5EF4-FFF2-40B4-BE49-F238E27FC236}">
                <a16:creationId xmlns:a16="http://schemas.microsoft.com/office/drawing/2014/main" id="{DCC987B3-A738-D9F5-9FFF-EDD8A5B9401A}"/>
              </a:ext>
            </a:extLst>
          </p:cNvPr>
          <p:cNvCxnSpPr>
            <a:cxnSpLocks/>
            <a:stCxn id="5" idx="3"/>
          </p:cNvCxnSpPr>
          <p:nvPr/>
        </p:nvCxnSpPr>
        <p:spPr>
          <a:xfrm>
            <a:off x="5591287" y="11817130"/>
            <a:ext cx="3954137"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35" name="Connector: Elbow 34">
            <a:extLst>
              <a:ext uri="{FF2B5EF4-FFF2-40B4-BE49-F238E27FC236}">
                <a16:creationId xmlns:a16="http://schemas.microsoft.com/office/drawing/2014/main" id="{398F2AF7-9BA0-1F57-BEC5-723F2ECE66AB}"/>
              </a:ext>
            </a:extLst>
          </p:cNvPr>
          <p:cNvCxnSpPr>
            <a:stCxn id="6" idx="3"/>
            <a:endCxn id="7" idx="3"/>
          </p:cNvCxnSpPr>
          <p:nvPr/>
        </p:nvCxnSpPr>
        <p:spPr>
          <a:xfrm>
            <a:off x="5591287" y="14442907"/>
            <a:ext cx="12700" cy="2137718"/>
          </a:xfrm>
          <a:prstGeom prst="bentConnector3">
            <a:avLst>
              <a:gd name="adj1" fmla="val 3563268"/>
            </a:avLst>
          </a:prstGeom>
          <a:ln w="133350"/>
          <a:effectLst/>
        </p:spPr>
        <p:style>
          <a:lnRef idx="3">
            <a:schemeClr val="accent1"/>
          </a:lnRef>
          <a:fillRef idx="0">
            <a:schemeClr val="accent1"/>
          </a:fillRef>
          <a:effectRef idx="2">
            <a:schemeClr val="accent1"/>
          </a:effectRef>
          <a:fontRef idx="minor">
            <a:schemeClr val="tx1"/>
          </a:fontRef>
        </p:style>
      </p:cxnSp>
      <p:cxnSp>
        <p:nvCxnSpPr>
          <p:cNvPr id="37" name="Straight Arrow Connector 36">
            <a:extLst>
              <a:ext uri="{FF2B5EF4-FFF2-40B4-BE49-F238E27FC236}">
                <a16:creationId xmlns:a16="http://schemas.microsoft.com/office/drawing/2014/main" id="{79F365C8-C649-9C12-F75F-872938FB9BF0}"/>
              </a:ext>
            </a:extLst>
          </p:cNvPr>
          <p:cNvCxnSpPr>
            <a:cxnSpLocks/>
          </p:cNvCxnSpPr>
          <p:nvPr/>
        </p:nvCxnSpPr>
        <p:spPr>
          <a:xfrm>
            <a:off x="6027576" y="15683114"/>
            <a:ext cx="858412"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42" name="Connector: Elbow 41">
            <a:extLst>
              <a:ext uri="{FF2B5EF4-FFF2-40B4-BE49-F238E27FC236}">
                <a16:creationId xmlns:a16="http://schemas.microsoft.com/office/drawing/2014/main" id="{D7724691-B4E9-5CED-8CE5-7843056E78C4}"/>
              </a:ext>
            </a:extLst>
          </p:cNvPr>
          <p:cNvCxnSpPr>
            <a:cxnSpLocks/>
            <a:stCxn id="27" idx="1"/>
            <a:endCxn id="28" idx="1"/>
          </p:cNvCxnSpPr>
          <p:nvPr/>
        </p:nvCxnSpPr>
        <p:spPr>
          <a:xfrm rot="10800000" flipV="1">
            <a:off x="18717926" y="14442907"/>
            <a:ext cx="12700" cy="2137718"/>
          </a:xfrm>
          <a:prstGeom prst="bentConnector3">
            <a:avLst>
              <a:gd name="adj1" fmla="val 1800000"/>
            </a:avLst>
          </a:prstGeom>
          <a:ln w="133350"/>
          <a:effectLst/>
        </p:spPr>
        <p:style>
          <a:lnRef idx="3">
            <a:schemeClr val="accent1"/>
          </a:lnRef>
          <a:fillRef idx="0">
            <a:schemeClr val="accent1"/>
          </a:fillRef>
          <a:effectRef idx="2">
            <a:schemeClr val="accent1"/>
          </a:effectRef>
          <a:fontRef idx="minor">
            <a:schemeClr val="tx1"/>
          </a:fontRef>
        </p:style>
      </p:cxnSp>
      <p:cxnSp>
        <p:nvCxnSpPr>
          <p:cNvPr id="43" name="Straight Arrow Connector 42">
            <a:extLst>
              <a:ext uri="{FF2B5EF4-FFF2-40B4-BE49-F238E27FC236}">
                <a16:creationId xmlns:a16="http://schemas.microsoft.com/office/drawing/2014/main" id="{4C3A8863-981F-4690-37BE-687009637B31}"/>
              </a:ext>
            </a:extLst>
          </p:cNvPr>
          <p:cNvCxnSpPr>
            <a:cxnSpLocks/>
            <a:endCxn id="24" idx="3"/>
          </p:cNvCxnSpPr>
          <p:nvPr/>
        </p:nvCxnSpPr>
        <p:spPr>
          <a:xfrm flipH="1">
            <a:off x="17362715" y="15689413"/>
            <a:ext cx="1212614"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51" name="Straight Arrow Connector 50">
            <a:extLst>
              <a:ext uri="{FF2B5EF4-FFF2-40B4-BE49-F238E27FC236}">
                <a16:creationId xmlns:a16="http://schemas.microsoft.com/office/drawing/2014/main" id="{0930884E-700C-3265-BC04-532B003AC585}"/>
              </a:ext>
            </a:extLst>
          </p:cNvPr>
          <p:cNvCxnSpPr>
            <a:cxnSpLocks/>
            <a:stCxn id="26" idx="1"/>
          </p:cNvCxnSpPr>
          <p:nvPr/>
        </p:nvCxnSpPr>
        <p:spPr>
          <a:xfrm flipH="1" flipV="1">
            <a:off x="14592478" y="11817129"/>
            <a:ext cx="3982851" cy="1"/>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65" name="Straight Arrow Connector 64">
            <a:extLst>
              <a:ext uri="{FF2B5EF4-FFF2-40B4-BE49-F238E27FC236}">
                <a16:creationId xmlns:a16="http://schemas.microsoft.com/office/drawing/2014/main" id="{F94E274F-B703-CB7D-3246-786889F01123}"/>
              </a:ext>
            </a:extLst>
          </p:cNvPr>
          <p:cNvCxnSpPr>
            <a:cxnSpLocks/>
          </p:cNvCxnSpPr>
          <p:nvPr/>
        </p:nvCxnSpPr>
        <p:spPr>
          <a:xfrm flipH="1">
            <a:off x="14528324" y="8279899"/>
            <a:ext cx="4202302"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60425515"/>
      </p:ext>
    </p:extLst>
  </p:cSld>
  <p:clrMapOvr>
    <a:masterClrMapping/>
  </p:clrMapOvr>
  <p:transition spd="slow"/>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866484"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Making the call</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dirty="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Challenge Part 2</a:t>
            </a:r>
          </a:p>
        </p:txBody>
      </p:sp>
      <p:sp>
        <p:nvSpPr>
          <p:cNvPr id="8" name="Rectangle 7">
            <a:extLst>
              <a:ext uri="{FF2B5EF4-FFF2-40B4-BE49-F238E27FC236}">
                <a16:creationId xmlns:a16="http://schemas.microsoft.com/office/drawing/2014/main" id="{89DBB243-EF27-4345-872D-E76597E95619}"/>
              </a:ext>
            </a:extLst>
          </p:cNvPr>
          <p:cNvSpPr/>
          <p:nvPr/>
        </p:nvSpPr>
        <p:spPr>
          <a:xfrm>
            <a:off x="23905029" y="2649896"/>
            <a:ext cx="11830141" cy="15414164"/>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When joe or </a:t>
            </a:r>
            <a:r>
              <a:rPr lang="en-US" sz="6400" dirty="0" err="1">
                <a:latin typeface="Open Sans" panose="020B0606030504020204" pitchFamily="34" charset="0"/>
                <a:ea typeface="Open Sans" panose="020B0606030504020204" pitchFamily="34" charset="0"/>
                <a:cs typeface="Open Sans" panose="020B0606030504020204" pitchFamily="34" charset="0"/>
              </a:rPr>
              <a:t>mary</a:t>
            </a:r>
            <a:r>
              <a:rPr lang="en-US" sz="6400" dirty="0">
                <a:latin typeface="Open Sans" panose="020B0606030504020204" pitchFamily="34" charset="0"/>
                <a:ea typeface="Open Sans" panose="020B0606030504020204" pitchFamily="34" charset="0"/>
                <a:cs typeface="Open Sans" panose="020B0606030504020204" pitchFamily="34" charset="0"/>
              </a:rPr>
              <a:t> call </a:t>
            </a:r>
            <a:r>
              <a:rPr lang="en-US" sz="6400" dirty="0" err="1">
                <a:latin typeface="Open Sans" panose="020B0606030504020204" pitchFamily="34" charset="0"/>
                <a:ea typeface="Open Sans" panose="020B0606030504020204" pitchFamily="34" charset="0"/>
                <a:cs typeface="Open Sans" panose="020B0606030504020204" pitchFamily="34" charset="0"/>
              </a:rPr>
              <a:t>toString</a:t>
            </a:r>
            <a:r>
              <a:rPr lang="en-US" sz="6400" dirty="0">
                <a:latin typeface="Open Sans" panose="020B0606030504020204" pitchFamily="34" charset="0"/>
                <a:ea typeface="Open Sans" panose="020B0606030504020204" pitchFamily="34" charset="0"/>
                <a:cs typeface="Open Sans" panose="020B0606030504020204" pitchFamily="34" charset="0"/>
              </a:rPr>
              <a:t>(), this method has been overridden twice, first by Worker, and then by Employee.  But it wasn't overridden by either SalariedEmployee, or </a:t>
            </a:r>
            <a:r>
              <a:rPr lang="en-US" sz="6400" dirty="0" err="1">
                <a:latin typeface="Open Sans" panose="020B0606030504020204" pitchFamily="34" charset="0"/>
                <a:ea typeface="Open Sans" panose="020B0606030504020204" pitchFamily="34" charset="0"/>
                <a:cs typeface="Open Sans" panose="020B0606030504020204" pitchFamily="34" charset="0"/>
              </a:rPr>
              <a:t>HourlyEmployee</a:t>
            </a:r>
            <a:r>
              <a:rPr lang="en-US" sz="6400" dirty="0">
                <a:latin typeface="Open Sans" panose="020B0606030504020204" pitchFamily="34" charset="0"/>
                <a:ea typeface="Open Sans" panose="020B0606030504020204" pitchFamily="34" charset="0"/>
                <a:cs typeface="Open Sans" panose="020B0606030504020204" pitchFamily="34" charset="0"/>
              </a:rPr>
              <a:t>, so the method from the Employee class is the one that's used.</a:t>
            </a:r>
          </a:p>
        </p:txBody>
      </p:sp>
      <p:sp>
        <p:nvSpPr>
          <p:cNvPr id="2" name="Rectangle 1">
            <a:extLst>
              <a:ext uri="{FF2B5EF4-FFF2-40B4-BE49-F238E27FC236}">
                <a16:creationId xmlns:a16="http://schemas.microsoft.com/office/drawing/2014/main" id="{6E9755E4-B181-1DD4-CC60-3006DCD1114B}"/>
              </a:ext>
            </a:extLst>
          </p:cNvPr>
          <p:cNvSpPr/>
          <p:nvPr/>
        </p:nvSpPr>
        <p:spPr>
          <a:xfrm>
            <a:off x="952498" y="3340359"/>
            <a:ext cx="5340447" cy="14590938"/>
          </a:xfrm>
          <a:prstGeom prst="rect">
            <a:avLst/>
          </a:prstGeom>
          <a:ln w="38100"/>
          <a:effectLst/>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3" name="Rectangle 2">
            <a:extLst>
              <a:ext uri="{FF2B5EF4-FFF2-40B4-BE49-F238E27FC236}">
                <a16:creationId xmlns:a16="http://schemas.microsoft.com/office/drawing/2014/main" id="{B0CD3279-CA56-965E-8B56-F5B49B46A6E5}"/>
              </a:ext>
            </a:extLst>
          </p:cNvPr>
          <p:cNvSpPr/>
          <p:nvPr/>
        </p:nvSpPr>
        <p:spPr>
          <a:xfrm>
            <a:off x="952498" y="3489650"/>
            <a:ext cx="5373657" cy="2609532"/>
          </a:xfrm>
          <a:prstGeom prst="rect">
            <a:avLst/>
          </a:prstGeom>
        </p:spPr>
        <p:txBody>
          <a:bodyPr wrap="square">
            <a:normAutofit/>
          </a:bodyPr>
          <a:lstStyle/>
          <a:p>
            <a:pPr>
              <a:spcAft>
                <a:spcPts val="1200"/>
              </a:spcAft>
            </a:pPr>
            <a:r>
              <a:rPr lang="en-US" sz="6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Joe</a:t>
            </a:r>
            <a:endParaRPr lang="en-US" sz="4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a:spcAft>
                <a:spcPts val="5022"/>
              </a:spcAft>
            </a:pPr>
            <a:r>
              <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 </a:t>
            </a:r>
            <a:r>
              <a:rPr lang="en-US" sz="40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SalariedEmployee</a:t>
            </a:r>
            <a:endPar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Rectangle: Rounded Corners 3">
            <a:extLst>
              <a:ext uri="{FF2B5EF4-FFF2-40B4-BE49-F238E27FC236}">
                <a16:creationId xmlns:a16="http://schemas.microsoft.com/office/drawing/2014/main" id="{56E3DEB7-EA78-9964-ADB5-C3517D086EA5}"/>
              </a:ext>
            </a:extLst>
          </p:cNvPr>
          <p:cNvSpPr/>
          <p:nvPr/>
        </p:nvSpPr>
        <p:spPr>
          <a:xfrm>
            <a:off x="1511557" y="7623498"/>
            <a:ext cx="4079730" cy="1312803"/>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getAge</a:t>
            </a:r>
            <a:r>
              <a:rPr kumimoji="0" lang="en-US"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5" name="Rectangle: Rounded Corners 4">
            <a:extLst>
              <a:ext uri="{FF2B5EF4-FFF2-40B4-BE49-F238E27FC236}">
                <a16:creationId xmlns:a16="http://schemas.microsoft.com/office/drawing/2014/main" id="{7D94B6FB-2624-E915-4FA6-8ED5260E002D}"/>
              </a:ext>
            </a:extLst>
          </p:cNvPr>
          <p:cNvSpPr/>
          <p:nvPr/>
        </p:nvSpPr>
        <p:spPr>
          <a:xfrm>
            <a:off x="1511557" y="11225647"/>
            <a:ext cx="4079730"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toString</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6" name="Rectangle: Rounded Corners 5">
            <a:extLst>
              <a:ext uri="{FF2B5EF4-FFF2-40B4-BE49-F238E27FC236}">
                <a16:creationId xmlns:a16="http://schemas.microsoft.com/office/drawing/2014/main" id="{31C93C68-9D9E-2733-49B3-4451FE68A8A7}"/>
              </a:ext>
            </a:extLst>
          </p:cNvPr>
          <p:cNvSpPr/>
          <p:nvPr/>
        </p:nvSpPr>
        <p:spPr>
          <a:xfrm>
            <a:off x="1654154" y="13851424"/>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collectPay</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7" name="Rectangle: Rounded Corners 6">
            <a:extLst>
              <a:ext uri="{FF2B5EF4-FFF2-40B4-BE49-F238E27FC236}">
                <a16:creationId xmlns:a16="http://schemas.microsoft.com/office/drawing/2014/main" id="{F29D0C8D-6BAB-86E7-8E56-65D7C0C3E015}"/>
              </a:ext>
            </a:extLst>
          </p:cNvPr>
          <p:cNvSpPr/>
          <p:nvPr/>
        </p:nvSpPr>
        <p:spPr>
          <a:xfrm>
            <a:off x="1654154" y="15989142"/>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retire()</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11" name="Rectangle 10">
            <a:extLst>
              <a:ext uri="{FF2B5EF4-FFF2-40B4-BE49-F238E27FC236}">
                <a16:creationId xmlns:a16="http://schemas.microsoft.com/office/drawing/2014/main" id="{9521A3FA-BEA7-8D60-E064-CA0DFC4DC8BF}"/>
              </a:ext>
            </a:extLst>
          </p:cNvPr>
          <p:cNvSpPr/>
          <p:nvPr/>
        </p:nvSpPr>
        <p:spPr>
          <a:xfrm>
            <a:off x="17811750" y="3340359"/>
            <a:ext cx="5533442" cy="14590938"/>
          </a:xfrm>
          <a:prstGeom prst="rect">
            <a:avLst/>
          </a:prstGeom>
          <a:ln w="38100"/>
          <a:effectLst/>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12" name="Rectangle 11">
            <a:extLst>
              <a:ext uri="{FF2B5EF4-FFF2-40B4-BE49-F238E27FC236}">
                <a16:creationId xmlns:a16="http://schemas.microsoft.com/office/drawing/2014/main" id="{2B37D069-A117-DFAB-CE92-D0FE68C8265A}"/>
              </a:ext>
            </a:extLst>
          </p:cNvPr>
          <p:cNvSpPr/>
          <p:nvPr/>
        </p:nvSpPr>
        <p:spPr>
          <a:xfrm>
            <a:off x="9545425" y="3648518"/>
            <a:ext cx="5047053" cy="2450667"/>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13" name="Rectangle 12">
            <a:extLst>
              <a:ext uri="{FF2B5EF4-FFF2-40B4-BE49-F238E27FC236}">
                <a16:creationId xmlns:a16="http://schemas.microsoft.com/office/drawing/2014/main" id="{EA45CC08-88DC-DE68-FD8F-7F6E6C9E48F0}"/>
              </a:ext>
            </a:extLst>
          </p:cNvPr>
          <p:cNvSpPr/>
          <p:nvPr/>
        </p:nvSpPr>
        <p:spPr>
          <a:xfrm>
            <a:off x="9578633" y="3940790"/>
            <a:ext cx="5013846" cy="1866122"/>
          </a:xfrm>
          <a:prstGeom prst="rect">
            <a:avLst/>
          </a:prstGeom>
        </p:spPr>
        <p:txBody>
          <a:bodyPr wrap="square">
            <a:normAutofit fontScale="85000" lnSpcReduction="20000"/>
          </a:bodyPr>
          <a:lstStyle/>
          <a:p>
            <a:pPr>
              <a:spcAft>
                <a:spcPts val="1200"/>
              </a:spcAft>
            </a:pPr>
            <a:r>
              <a:rPr lang="en-US" sz="5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Object</a:t>
            </a:r>
          </a:p>
          <a:p>
            <a:pPr>
              <a:spcAft>
                <a:spcPts val="1200"/>
              </a:spcAft>
            </a:pP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36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toString</a:t>
            </a:r>
            <a:r>
              <a:rPr lang="en-US"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14" name="Rectangle 13">
            <a:extLst>
              <a:ext uri="{FF2B5EF4-FFF2-40B4-BE49-F238E27FC236}">
                <a16:creationId xmlns:a16="http://schemas.microsoft.com/office/drawing/2014/main" id="{0CB8F0D0-AB25-CB59-40F7-F5354A099496}"/>
              </a:ext>
            </a:extLst>
          </p:cNvPr>
          <p:cNvSpPr/>
          <p:nvPr/>
        </p:nvSpPr>
        <p:spPr>
          <a:xfrm>
            <a:off x="9545424" y="6416016"/>
            <a:ext cx="5013847" cy="3903031"/>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15" name="Rectangle 14">
            <a:extLst>
              <a:ext uri="{FF2B5EF4-FFF2-40B4-BE49-F238E27FC236}">
                <a16:creationId xmlns:a16="http://schemas.microsoft.com/office/drawing/2014/main" id="{21B85D3F-29BC-D884-A8A9-8F9E030F35DD}"/>
              </a:ext>
            </a:extLst>
          </p:cNvPr>
          <p:cNvSpPr/>
          <p:nvPr/>
        </p:nvSpPr>
        <p:spPr>
          <a:xfrm>
            <a:off x="9578632" y="6708288"/>
            <a:ext cx="5013846" cy="3242198"/>
          </a:xfrm>
          <a:prstGeom prst="rect">
            <a:avLst/>
          </a:prstGeom>
        </p:spPr>
        <p:txBody>
          <a:bodyPr wrap="square">
            <a:normAutofit/>
          </a:bodyPr>
          <a:lstStyle/>
          <a:p>
            <a:pPr>
              <a:spcAft>
                <a:spcPts val="1200"/>
              </a:spcAft>
            </a:pPr>
            <a:r>
              <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Worker</a:t>
            </a:r>
            <a:endParaRPr lang="en-US" sz="32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getAge</a:t>
            </a:r>
          </a:p>
          <a:p>
            <a:pPr>
              <a:spcAft>
                <a:spcPts val="1200"/>
              </a:spcAft>
            </a:pP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collectPay</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toString</a:t>
            </a: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16" name="Rectangle 15">
            <a:extLst>
              <a:ext uri="{FF2B5EF4-FFF2-40B4-BE49-F238E27FC236}">
                <a16:creationId xmlns:a16="http://schemas.microsoft.com/office/drawing/2014/main" id="{1C3AFD82-3100-D7DC-23F5-3DD45329C61D}"/>
              </a:ext>
            </a:extLst>
          </p:cNvPr>
          <p:cNvSpPr/>
          <p:nvPr/>
        </p:nvSpPr>
        <p:spPr>
          <a:xfrm>
            <a:off x="9545426" y="10559589"/>
            <a:ext cx="5013845" cy="3094554"/>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17" name="Rectangle 16">
            <a:extLst>
              <a:ext uri="{FF2B5EF4-FFF2-40B4-BE49-F238E27FC236}">
                <a16:creationId xmlns:a16="http://schemas.microsoft.com/office/drawing/2014/main" id="{700B27A9-4665-C60F-F32B-6CD1FA0A528B}"/>
              </a:ext>
            </a:extLst>
          </p:cNvPr>
          <p:cNvSpPr/>
          <p:nvPr/>
        </p:nvSpPr>
        <p:spPr>
          <a:xfrm>
            <a:off x="9578633" y="10851860"/>
            <a:ext cx="5013846" cy="2581485"/>
          </a:xfrm>
          <a:prstGeom prst="rect">
            <a:avLst/>
          </a:prstGeom>
        </p:spPr>
        <p:txBody>
          <a:bodyPr wrap="square">
            <a:normAutofit/>
          </a:bodyPr>
          <a:lstStyle/>
          <a:p>
            <a:pPr>
              <a:spcAft>
                <a:spcPts val="1200"/>
              </a:spcAft>
            </a:pPr>
            <a:r>
              <a:rPr lang="en-US" sz="4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Employee</a:t>
            </a: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toString</a:t>
            </a: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a:p>
            <a:pPr>
              <a:spcAft>
                <a:spcPts val="1200"/>
              </a:spcAft>
            </a:pP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getJobReview</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Rectangle 17">
            <a:extLst>
              <a:ext uri="{FF2B5EF4-FFF2-40B4-BE49-F238E27FC236}">
                <a16:creationId xmlns:a16="http://schemas.microsoft.com/office/drawing/2014/main" id="{2E6DCD68-95AA-2FDE-A5CE-21367B63C83C}"/>
              </a:ext>
            </a:extLst>
          </p:cNvPr>
          <p:cNvSpPr/>
          <p:nvPr/>
        </p:nvSpPr>
        <p:spPr>
          <a:xfrm>
            <a:off x="17891642" y="3506281"/>
            <a:ext cx="5373657" cy="2592901"/>
          </a:xfrm>
          <a:prstGeom prst="rect">
            <a:avLst/>
          </a:prstGeom>
        </p:spPr>
        <p:txBody>
          <a:bodyPr wrap="square">
            <a:normAutofit/>
          </a:bodyPr>
          <a:lstStyle/>
          <a:p>
            <a:pPr>
              <a:spcAft>
                <a:spcPts val="1200"/>
              </a:spcAft>
            </a:pPr>
            <a:r>
              <a:rPr lang="en-US" sz="6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Mary</a:t>
            </a:r>
            <a:endParaRPr lang="en-US" sz="4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a:spcAft>
                <a:spcPts val="5022"/>
              </a:spcAft>
            </a:pPr>
            <a:r>
              <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An </a:t>
            </a:r>
            <a:r>
              <a:rPr lang="en-US" sz="40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HourlyEmployee</a:t>
            </a:r>
            <a:endPar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Rectangle 18">
            <a:extLst>
              <a:ext uri="{FF2B5EF4-FFF2-40B4-BE49-F238E27FC236}">
                <a16:creationId xmlns:a16="http://schemas.microsoft.com/office/drawing/2014/main" id="{7FB00F36-D4E2-20D3-011C-58423DB7BB9A}"/>
              </a:ext>
            </a:extLst>
          </p:cNvPr>
          <p:cNvSpPr/>
          <p:nvPr/>
        </p:nvSpPr>
        <p:spPr>
          <a:xfrm>
            <a:off x="6852782" y="14106399"/>
            <a:ext cx="5013845" cy="3094554"/>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20" name="Rectangle 19">
            <a:extLst>
              <a:ext uri="{FF2B5EF4-FFF2-40B4-BE49-F238E27FC236}">
                <a16:creationId xmlns:a16="http://schemas.microsoft.com/office/drawing/2014/main" id="{460A7BEA-8BF7-BDDB-5A8B-B2B83BD6E823}"/>
              </a:ext>
            </a:extLst>
          </p:cNvPr>
          <p:cNvSpPr/>
          <p:nvPr/>
        </p:nvSpPr>
        <p:spPr>
          <a:xfrm>
            <a:off x="6885988" y="14398670"/>
            <a:ext cx="4980639" cy="2581485"/>
          </a:xfrm>
          <a:prstGeom prst="rect">
            <a:avLst/>
          </a:prstGeom>
        </p:spPr>
        <p:txBody>
          <a:bodyPr wrap="square">
            <a:normAutofit/>
          </a:bodyPr>
          <a:lstStyle/>
          <a:p>
            <a:pPr>
              <a:spcAft>
                <a:spcPts val="1200"/>
              </a:spcAft>
            </a:pPr>
            <a:r>
              <a:rPr lang="en-US" sz="40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SalariedEmployee</a:t>
            </a: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collectPay</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retire</a:t>
            </a:r>
          </a:p>
        </p:txBody>
      </p:sp>
      <p:sp>
        <p:nvSpPr>
          <p:cNvPr id="21" name="Rectangle 20">
            <a:extLst>
              <a:ext uri="{FF2B5EF4-FFF2-40B4-BE49-F238E27FC236}">
                <a16:creationId xmlns:a16="http://schemas.microsoft.com/office/drawing/2014/main" id="{FB1F5402-330B-0ACA-E1D3-D77DDF036FC3}"/>
              </a:ext>
            </a:extLst>
          </p:cNvPr>
          <p:cNvSpPr/>
          <p:nvPr/>
        </p:nvSpPr>
        <p:spPr>
          <a:xfrm>
            <a:off x="12315662" y="14106399"/>
            <a:ext cx="5013845" cy="3094554"/>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22" name="Rectangle 21">
            <a:extLst>
              <a:ext uri="{FF2B5EF4-FFF2-40B4-BE49-F238E27FC236}">
                <a16:creationId xmlns:a16="http://schemas.microsoft.com/office/drawing/2014/main" id="{547FBFDE-5FB1-6F91-27AA-442C65867F2A}"/>
              </a:ext>
            </a:extLst>
          </p:cNvPr>
          <p:cNvSpPr/>
          <p:nvPr/>
        </p:nvSpPr>
        <p:spPr>
          <a:xfrm>
            <a:off x="12348869" y="14398670"/>
            <a:ext cx="5013846" cy="2581485"/>
          </a:xfrm>
          <a:prstGeom prst="rect">
            <a:avLst/>
          </a:prstGeom>
        </p:spPr>
        <p:txBody>
          <a:bodyPr wrap="square">
            <a:normAutofit/>
          </a:bodyPr>
          <a:lstStyle/>
          <a:p>
            <a:pPr>
              <a:spcAft>
                <a:spcPts val="1200"/>
              </a:spcAft>
            </a:pPr>
            <a:r>
              <a:rPr lang="en-US" sz="40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HourlyEmployee</a:t>
            </a: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collectPay</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getDoublePay</a:t>
            </a: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23" name="Rectangle: Rounded Corners 22">
            <a:extLst>
              <a:ext uri="{FF2B5EF4-FFF2-40B4-BE49-F238E27FC236}">
                <a16:creationId xmlns:a16="http://schemas.microsoft.com/office/drawing/2014/main" id="{05A91217-1A6E-1834-4DF4-074DF5D73019}"/>
              </a:ext>
            </a:extLst>
          </p:cNvPr>
          <p:cNvSpPr/>
          <p:nvPr/>
        </p:nvSpPr>
        <p:spPr>
          <a:xfrm>
            <a:off x="18575329" y="7623498"/>
            <a:ext cx="4079730" cy="1312803"/>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getAge</a:t>
            </a:r>
            <a:r>
              <a:rPr kumimoji="0" lang="en-US"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24" name="Rectangle: Rounded Corners 23">
            <a:extLst>
              <a:ext uri="{FF2B5EF4-FFF2-40B4-BE49-F238E27FC236}">
                <a16:creationId xmlns:a16="http://schemas.microsoft.com/office/drawing/2014/main" id="{4290F5C3-7F7D-5446-951C-9D7B1D607D19}"/>
              </a:ext>
            </a:extLst>
          </p:cNvPr>
          <p:cNvSpPr/>
          <p:nvPr/>
        </p:nvSpPr>
        <p:spPr>
          <a:xfrm>
            <a:off x="18575329" y="11225647"/>
            <a:ext cx="4079730"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toString</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25" name="Rectangle: Rounded Corners 24">
            <a:extLst>
              <a:ext uri="{FF2B5EF4-FFF2-40B4-BE49-F238E27FC236}">
                <a16:creationId xmlns:a16="http://schemas.microsoft.com/office/drawing/2014/main" id="{94ED4F09-CC3C-748B-48B0-DF4C389E5483}"/>
              </a:ext>
            </a:extLst>
          </p:cNvPr>
          <p:cNvSpPr/>
          <p:nvPr/>
        </p:nvSpPr>
        <p:spPr>
          <a:xfrm>
            <a:off x="18717926" y="13851424"/>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collectPay</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cxnSp>
        <p:nvCxnSpPr>
          <p:cNvPr id="27" name="Straight Arrow Connector 26">
            <a:extLst>
              <a:ext uri="{FF2B5EF4-FFF2-40B4-BE49-F238E27FC236}">
                <a16:creationId xmlns:a16="http://schemas.microsoft.com/office/drawing/2014/main" id="{01046665-43FB-04D9-348D-1B82B5CCB1F3}"/>
              </a:ext>
            </a:extLst>
          </p:cNvPr>
          <p:cNvCxnSpPr/>
          <p:nvPr/>
        </p:nvCxnSpPr>
        <p:spPr>
          <a:xfrm>
            <a:off x="5591287" y="8341567"/>
            <a:ext cx="3954137"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AE4BD417-438E-43A4-EC3B-6A0F29BEDC59}"/>
              </a:ext>
            </a:extLst>
          </p:cNvPr>
          <p:cNvCxnSpPr>
            <a:cxnSpLocks/>
            <a:stCxn id="5" idx="3"/>
          </p:cNvCxnSpPr>
          <p:nvPr/>
        </p:nvCxnSpPr>
        <p:spPr>
          <a:xfrm>
            <a:off x="5591287" y="11817130"/>
            <a:ext cx="3954137"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29" name="Connector: Elbow 28">
            <a:extLst>
              <a:ext uri="{FF2B5EF4-FFF2-40B4-BE49-F238E27FC236}">
                <a16:creationId xmlns:a16="http://schemas.microsoft.com/office/drawing/2014/main" id="{2B109D12-FA7E-7E5B-E595-350D068D2C73}"/>
              </a:ext>
            </a:extLst>
          </p:cNvPr>
          <p:cNvCxnSpPr>
            <a:stCxn id="6" idx="3"/>
            <a:endCxn id="7" idx="3"/>
          </p:cNvCxnSpPr>
          <p:nvPr/>
        </p:nvCxnSpPr>
        <p:spPr>
          <a:xfrm>
            <a:off x="5591287" y="14442907"/>
            <a:ext cx="12700" cy="2137718"/>
          </a:xfrm>
          <a:prstGeom prst="bentConnector3">
            <a:avLst>
              <a:gd name="adj1" fmla="val 3563268"/>
            </a:avLst>
          </a:prstGeom>
          <a:ln w="133350"/>
          <a:effectLst/>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76372EBA-E7F9-CC86-7A84-FD7F4A16CCF2}"/>
              </a:ext>
            </a:extLst>
          </p:cNvPr>
          <p:cNvCxnSpPr>
            <a:cxnSpLocks/>
          </p:cNvCxnSpPr>
          <p:nvPr/>
        </p:nvCxnSpPr>
        <p:spPr>
          <a:xfrm>
            <a:off x="6027576" y="15683114"/>
            <a:ext cx="858412"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31" name="Connector: Elbow 30">
            <a:extLst>
              <a:ext uri="{FF2B5EF4-FFF2-40B4-BE49-F238E27FC236}">
                <a16:creationId xmlns:a16="http://schemas.microsoft.com/office/drawing/2014/main" id="{1F81293A-DB76-659D-7ADE-57136AB3F232}"/>
              </a:ext>
            </a:extLst>
          </p:cNvPr>
          <p:cNvCxnSpPr>
            <a:cxnSpLocks/>
            <a:stCxn id="25" idx="1"/>
          </p:cNvCxnSpPr>
          <p:nvPr/>
        </p:nvCxnSpPr>
        <p:spPr>
          <a:xfrm rot="10800000" flipV="1">
            <a:off x="18717926" y="14442907"/>
            <a:ext cx="12700" cy="2137718"/>
          </a:xfrm>
          <a:prstGeom prst="bentConnector3">
            <a:avLst>
              <a:gd name="adj1" fmla="val 1800000"/>
            </a:avLst>
          </a:prstGeom>
          <a:ln w="133350"/>
          <a:effectLst/>
        </p:spPr>
        <p:style>
          <a:lnRef idx="3">
            <a:schemeClr val="accent1"/>
          </a:lnRef>
          <a:fillRef idx="0">
            <a:schemeClr val="accent1"/>
          </a:fillRef>
          <a:effectRef idx="2">
            <a:schemeClr val="accent1"/>
          </a:effectRef>
          <a:fontRef idx="minor">
            <a:schemeClr val="tx1"/>
          </a:fontRef>
        </p:style>
      </p:cxnSp>
      <p:cxnSp>
        <p:nvCxnSpPr>
          <p:cNvPr id="32" name="Straight Arrow Connector 31">
            <a:extLst>
              <a:ext uri="{FF2B5EF4-FFF2-40B4-BE49-F238E27FC236}">
                <a16:creationId xmlns:a16="http://schemas.microsoft.com/office/drawing/2014/main" id="{DE69DE50-3621-F286-14FC-1F44CC4D7825}"/>
              </a:ext>
            </a:extLst>
          </p:cNvPr>
          <p:cNvCxnSpPr>
            <a:cxnSpLocks/>
            <a:endCxn id="22" idx="3"/>
          </p:cNvCxnSpPr>
          <p:nvPr/>
        </p:nvCxnSpPr>
        <p:spPr>
          <a:xfrm flipH="1">
            <a:off x="17362715" y="15689413"/>
            <a:ext cx="1212614"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33" name="Straight Arrow Connector 32">
            <a:extLst>
              <a:ext uri="{FF2B5EF4-FFF2-40B4-BE49-F238E27FC236}">
                <a16:creationId xmlns:a16="http://schemas.microsoft.com/office/drawing/2014/main" id="{C40C5D65-C7B9-723D-8488-541759600425}"/>
              </a:ext>
            </a:extLst>
          </p:cNvPr>
          <p:cNvCxnSpPr>
            <a:cxnSpLocks/>
            <a:stCxn id="24" idx="1"/>
          </p:cNvCxnSpPr>
          <p:nvPr/>
        </p:nvCxnSpPr>
        <p:spPr>
          <a:xfrm flipH="1" flipV="1">
            <a:off x="14592478" y="11817129"/>
            <a:ext cx="3982851" cy="1"/>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34" name="Straight Arrow Connector 33">
            <a:extLst>
              <a:ext uri="{FF2B5EF4-FFF2-40B4-BE49-F238E27FC236}">
                <a16:creationId xmlns:a16="http://schemas.microsoft.com/office/drawing/2014/main" id="{B9DC8353-DA27-2EFB-D1B2-4B8467F71D3B}"/>
              </a:ext>
            </a:extLst>
          </p:cNvPr>
          <p:cNvCxnSpPr>
            <a:cxnSpLocks/>
          </p:cNvCxnSpPr>
          <p:nvPr/>
        </p:nvCxnSpPr>
        <p:spPr>
          <a:xfrm flipH="1">
            <a:off x="14528324" y="8279899"/>
            <a:ext cx="4202302"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sp>
        <p:nvSpPr>
          <p:cNvPr id="35" name="Rectangle: Rounded Corners 34">
            <a:extLst>
              <a:ext uri="{FF2B5EF4-FFF2-40B4-BE49-F238E27FC236}">
                <a16:creationId xmlns:a16="http://schemas.microsoft.com/office/drawing/2014/main" id="{C7D58254-98B1-28F3-736B-6D8BCA7198DE}"/>
              </a:ext>
            </a:extLst>
          </p:cNvPr>
          <p:cNvSpPr/>
          <p:nvPr/>
        </p:nvSpPr>
        <p:spPr>
          <a:xfrm>
            <a:off x="18717926" y="15989142"/>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getDoubePay</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Tree>
    <p:extLst>
      <p:ext uri="{BB962C8B-B14F-4D97-AF65-F5344CB8AC3E}">
        <p14:creationId xmlns:p14="http://schemas.microsoft.com/office/powerpoint/2010/main" val="4208978917"/>
      </p:ext>
    </p:extLst>
  </p:cSld>
  <p:clrMapOvr>
    <a:masterClrMapping/>
  </p:clrMapOvr>
  <p:transition spd="slow"/>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86648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Making the call</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dirty="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Challenge Part 2</a:t>
            </a:r>
          </a:p>
        </p:txBody>
      </p:sp>
      <p:sp>
        <p:nvSpPr>
          <p:cNvPr id="8" name="Rectangle 7">
            <a:extLst>
              <a:ext uri="{FF2B5EF4-FFF2-40B4-BE49-F238E27FC236}">
                <a16:creationId xmlns:a16="http://schemas.microsoft.com/office/drawing/2014/main" id="{89DBB243-EF27-4345-872D-E76597E95619}"/>
              </a:ext>
            </a:extLst>
          </p:cNvPr>
          <p:cNvSpPr/>
          <p:nvPr/>
        </p:nvSpPr>
        <p:spPr>
          <a:xfrm>
            <a:off x="23905029" y="2649896"/>
            <a:ext cx="11830141" cy="13516184"/>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Looking at the </a:t>
            </a:r>
            <a:r>
              <a:rPr lang="en-US" sz="6400" b="1" dirty="0" err="1">
                <a:latin typeface="Open Sans" panose="020B0606030504020204" pitchFamily="34" charset="0"/>
                <a:ea typeface="Open Sans" panose="020B0606030504020204" pitchFamily="34" charset="0"/>
                <a:cs typeface="Open Sans" panose="020B0606030504020204" pitchFamily="34" charset="0"/>
              </a:rPr>
              <a:t>collectPay</a:t>
            </a:r>
            <a:r>
              <a:rPr lang="en-US" sz="6400" dirty="0">
                <a:latin typeface="Open Sans" panose="020B0606030504020204" pitchFamily="34" charset="0"/>
                <a:ea typeface="Open Sans" panose="020B0606030504020204" pitchFamily="34" charset="0"/>
                <a:cs typeface="Open Sans" panose="020B0606030504020204" pitchFamily="34" charset="0"/>
              </a:rPr>
              <a:t> method, this method was overridden by both SalariedEmployee, and </a:t>
            </a:r>
            <a:r>
              <a:rPr lang="en-US" sz="6400" dirty="0" err="1">
                <a:latin typeface="Open Sans" panose="020B0606030504020204" pitchFamily="34" charset="0"/>
                <a:ea typeface="Open Sans" panose="020B0606030504020204" pitchFamily="34" charset="0"/>
                <a:cs typeface="Open Sans" panose="020B0606030504020204" pitchFamily="34" charset="0"/>
              </a:rPr>
              <a:t>HourlyEmployee</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Joe will execute the method on SalariedEmployee.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Mary will execute the one on </a:t>
            </a:r>
            <a:r>
              <a:rPr lang="en-US" sz="6400" dirty="0" err="1">
                <a:latin typeface="Open Sans" panose="020B0606030504020204" pitchFamily="34" charset="0"/>
                <a:ea typeface="Open Sans" panose="020B0606030504020204" pitchFamily="34" charset="0"/>
                <a:cs typeface="Open Sans" panose="020B0606030504020204" pitchFamily="34" charset="0"/>
              </a:rPr>
              <a:t>HourlyEmployee</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sp>
        <p:nvSpPr>
          <p:cNvPr id="2" name="Rectangle 1">
            <a:extLst>
              <a:ext uri="{FF2B5EF4-FFF2-40B4-BE49-F238E27FC236}">
                <a16:creationId xmlns:a16="http://schemas.microsoft.com/office/drawing/2014/main" id="{60A41838-1B02-C040-638A-CB3FEE795EEC}"/>
              </a:ext>
            </a:extLst>
          </p:cNvPr>
          <p:cNvSpPr/>
          <p:nvPr/>
        </p:nvSpPr>
        <p:spPr>
          <a:xfrm>
            <a:off x="952498" y="3340359"/>
            <a:ext cx="5340447" cy="14590938"/>
          </a:xfrm>
          <a:prstGeom prst="rect">
            <a:avLst/>
          </a:prstGeom>
          <a:ln w="38100"/>
          <a:effectLst/>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3" name="Rectangle 2">
            <a:extLst>
              <a:ext uri="{FF2B5EF4-FFF2-40B4-BE49-F238E27FC236}">
                <a16:creationId xmlns:a16="http://schemas.microsoft.com/office/drawing/2014/main" id="{708D5FEB-D9BA-4840-4278-85406F42B8B1}"/>
              </a:ext>
            </a:extLst>
          </p:cNvPr>
          <p:cNvSpPr/>
          <p:nvPr/>
        </p:nvSpPr>
        <p:spPr>
          <a:xfrm>
            <a:off x="952498" y="3489650"/>
            <a:ext cx="5373657" cy="2609532"/>
          </a:xfrm>
          <a:prstGeom prst="rect">
            <a:avLst/>
          </a:prstGeom>
        </p:spPr>
        <p:txBody>
          <a:bodyPr wrap="square">
            <a:normAutofit/>
          </a:bodyPr>
          <a:lstStyle/>
          <a:p>
            <a:pPr>
              <a:spcAft>
                <a:spcPts val="1200"/>
              </a:spcAft>
            </a:pPr>
            <a:r>
              <a:rPr lang="en-US" sz="6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Joe</a:t>
            </a:r>
            <a:endParaRPr lang="en-US" sz="4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a:spcAft>
                <a:spcPts val="5022"/>
              </a:spcAft>
            </a:pPr>
            <a:r>
              <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 </a:t>
            </a:r>
            <a:r>
              <a:rPr lang="en-US" sz="40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SalariedEmployee</a:t>
            </a:r>
            <a:endPar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Rectangle: Rounded Corners 3">
            <a:extLst>
              <a:ext uri="{FF2B5EF4-FFF2-40B4-BE49-F238E27FC236}">
                <a16:creationId xmlns:a16="http://schemas.microsoft.com/office/drawing/2014/main" id="{5A985603-E34B-9EA4-46DA-80C633CE3BE2}"/>
              </a:ext>
            </a:extLst>
          </p:cNvPr>
          <p:cNvSpPr/>
          <p:nvPr/>
        </p:nvSpPr>
        <p:spPr>
          <a:xfrm>
            <a:off x="1511557" y="7623498"/>
            <a:ext cx="4079730" cy="1312803"/>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getAge</a:t>
            </a:r>
            <a:r>
              <a:rPr kumimoji="0" lang="en-US"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5" name="Rectangle: Rounded Corners 4">
            <a:extLst>
              <a:ext uri="{FF2B5EF4-FFF2-40B4-BE49-F238E27FC236}">
                <a16:creationId xmlns:a16="http://schemas.microsoft.com/office/drawing/2014/main" id="{9E861EA5-7B72-6088-D7CF-A25F52548BE6}"/>
              </a:ext>
            </a:extLst>
          </p:cNvPr>
          <p:cNvSpPr/>
          <p:nvPr/>
        </p:nvSpPr>
        <p:spPr>
          <a:xfrm>
            <a:off x="1511557" y="11225647"/>
            <a:ext cx="4079730"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toString</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6" name="Rectangle: Rounded Corners 5">
            <a:extLst>
              <a:ext uri="{FF2B5EF4-FFF2-40B4-BE49-F238E27FC236}">
                <a16:creationId xmlns:a16="http://schemas.microsoft.com/office/drawing/2014/main" id="{29624EFF-A7DA-2BA6-1AD1-8E0A2B746C51}"/>
              </a:ext>
            </a:extLst>
          </p:cNvPr>
          <p:cNvSpPr/>
          <p:nvPr/>
        </p:nvSpPr>
        <p:spPr>
          <a:xfrm>
            <a:off x="1654154" y="13851424"/>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collectPay</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7" name="Rectangle: Rounded Corners 6">
            <a:extLst>
              <a:ext uri="{FF2B5EF4-FFF2-40B4-BE49-F238E27FC236}">
                <a16:creationId xmlns:a16="http://schemas.microsoft.com/office/drawing/2014/main" id="{8A6A8DFD-9EDD-3E73-02C9-9EEACCE6ACA0}"/>
              </a:ext>
            </a:extLst>
          </p:cNvPr>
          <p:cNvSpPr/>
          <p:nvPr/>
        </p:nvSpPr>
        <p:spPr>
          <a:xfrm>
            <a:off x="1654154" y="15989142"/>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retire()</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11" name="Rectangle 10">
            <a:extLst>
              <a:ext uri="{FF2B5EF4-FFF2-40B4-BE49-F238E27FC236}">
                <a16:creationId xmlns:a16="http://schemas.microsoft.com/office/drawing/2014/main" id="{7F6001C3-FF36-930E-33E5-014C5E3A0385}"/>
              </a:ext>
            </a:extLst>
          </p:cNvPr>
          <p:cNvSpPr/>
          <p:nvPr/>
        </p:nvSpPr>
        <p:spPr>
          <a:xfrm>
            <a:off x="17811750" y="3340359"/>
            <a:ext cx="5533442" cy="14590938"/>
          </a:xfrm>
          <a:prstGeom prst="rect">
            <a:avLst/>
          </a:prstGeom>
          <a:ln w="38100"/>
          <a:effectLst/>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12" name="Rectangle 11">
            <a:extLst>
              <a:ext uri="{FF2B5EF4-FFF2-40B4-BE49-F238E27FC236}">
                <a16:creationId xmlns:a16="http://schemas.microsoft.com/office/drawing/2014/main" id="{1133FE6C-3EDC-1A47-EECF-7A76B887F81A}"/>
              </a:ext>
            </a:extLst>
          </p:cNvPr>
          <p:cNvSpPr/>
          <p:nvPr/>
        </p:nvSpPr>
        <p:spPr>
          <a:xfrm>
            <a:off x="9545425" y="3648518"/>
            <a:ext cx="5047053" cy="2450667"/>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13" name="Rectangle 12">
            <a:extLst>
              <a:ext uri="{FF2B5EF4-FFF2-40B4-BE49-F238E27FC236}">
                <a16:creationId xmlns:a16="http://schemas.microsoft.com/office/drawing/2014/main" id="{0CD29B57-3580-3A22-50E2-F7A84A1761C7}"/>
              </a:ext>
            </a:extLst>
          </p:cNvPr>
          <p:cNvSpPr/>
          <p:nvPr/>
        </p:nvSpPr>
        <p:spPr>
          <a:xfrm>
            <a:off x="9578633" y="3940790"/>
            <a:ext cx="5013846" cy="1866122"/>
          </a:xfrm>
          <a:prstGeom prst="rect">
            <a:avLst/>
          </a:prstGeom>
        </p:spPr>
        <p:txBody>
          <a:bodyPr wrap="square">
            <a:normAutofit fontScale="85000" lnSpcReduction="20000"/>
          </a:bodyPr>
          <a:lstStyle/>
          <a:p>
            <a:pPr>
              <a:spcAft>
                <a:spcPts val="1200"/>
              </a:spcAft>
            </a:pPr>
            <a:r>
              <a:rPr lang="en-US" sz="5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Object</a:t>
            </a:r>
          </a:p>
          <a:p>
            <a:pPr>
              <a:spcAft>
                <a:spcPts val="1200"/>
              </a:spcAft>
            </a:pP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36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toString</a:t>
            </a:r>
            <a:r>
              <a:rPr lang="en-US"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14" name="Rectangle 13">
            <a:extLst>
              <a:ext uri="{FF2B5EF4-FFF2-40B4-BE49-F238E27FC236}">
                <a16:creationId xmlns:a16="http://schemas.microsoft.com/office/drawing/2014/main" id="{6FE68F61-A53B-D9EC-4745-5A179CB53CD4}"/>
              </a:ext>
            </a:extLst>
          </p:cNvPr>
          <p:cNvSpPr/>
          <p:nvPr/>
        </p:nvSpPr>
        <p:spPr>
          <a:xfrm>
            <a:off x="9545424" y="6416016"/>
            <a:ext cx="5013847" cy="3903031"/>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15" name="Rectangle 14">
            <a:extLst>
              <a:ext uri="{FF2B5EF4-FFF2-40B4-BE49-F238E27FC236}">
                <a16:creationId xmlns:a16="http://schemas.microsoft.com/office/drawing/2014/main" id="{1D62676E-89EF-0566-D894-0CEB904B0343}"/>
              </a:ext>
            </a:extLst>
          </p:cNvPr>
          <p:cNvSpPr/>
          <p:nvPr/>
        </p:nvSpPr>
        <p:spPr>
          <a:xfrm>
            <a:off x="9578632" y="6708288"/>
            <a:ext cx="5013846" cy="3242198"/>
          </a:xfrm>
          <a:prstGeom prst="rect">
            <a:avLst/>
          </a:prstGeom>
        </p:spPr>
        <p:txBody>
          <a:bodyPr wrap="square">
            <a:normAutofit/>
          </a:bodyPr>
          <a:lstStyle/>
          <a:p>
            <a:pPr>
              <a:spcAft>
                <a:spcPts val="1200"/>
              </a:spcAft>
            </a:pPr>
            <a:r>
              <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Worker</a:t>
            </a:r>
            <a:endParaRPr lang="en-US" sz="32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getAge</a:t>
            </a:r>
          </a:p>
          <a:p>
            <a:pPr>
              <a:spcAft>
                <a:spcPts val="1200"/>
              </a:spcAft>
            </a:pP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collectPay</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toString</a:t>
            </a: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16" name="Rectangle 15">
            <a:extLst>
              <a:ext uri="{FF2B5EF4-FFF2-40B4-BE49-F238E27FC236}">
                <a16:creationId xmlns:a16="http://schemas.microsoft.com/office/drawing/2014/main" id="{6D543B11-D961-49D4-B7A0-3DA275ED92DF}"/>
              </a:ext>
            </a:extLst>
          </p:cNvPr>
          <p:cNvSpPr/>
          <p:nvPr/>
        </p:nvSpPr>
        <p:spPr>
          <a:xfrm>
            <a:off x="9545426" y="10559589"/>
            <a:ext cx="5013845" cy="3094554"/>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17" name="Rectangle 16">
            <a:extLst>
              <a:ext uri="{FF2B5EF4-FFF2-40B4-BE49-F238E27FC236}">
                <a16:creationId xmlns:a16="http://schemas.microsoft.com/office/drawing/2014/main" id="{1357394E-7EE5-9E99-2164-F3F39B6DCAAA}"/>
              </a:ext>
            </a:extLst>
          </p:cNvPr>
          <p:cNvSpPr/>
          <p:nvPr/>
        </p:nvSpPr>
        <p:spPr>
          <a:xfrm>
            <a:off x="9578633" y="10851860"/>
            <a:ext cx="5013846" cy="2581485"/>
          </a:xfrm>
          <a:prstGeom prst="rect">
            <a:avLst/>
          </a:prstGeom>
        </p:spPr>
        <p:txBody>
          <a:bodyPr wrap="square">
            <a:normAutofit/>
          </a:bodyPr>
          <a:lstStyle/>
          <a:p>
            <a:pPr>
              <a:spcAft>
                <a:spcPts val="1200"/>
              </a:spcAft>
            </a:pPr>
            <a:r>
              <a:rPr lang="en-US" sz="4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Employee</a:t>
            </a: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toString</a:t>
            </a: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a:p>
            <a:pPr>
              <a:spcAft>
                <a:spcPts val="1200"/>
              </a:spcAft>
            </a:pP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getJobReview</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Rectangle 17">
            <a:extLst>
              <a:ext uri="{FF2B5EF4-FFF2-40B4-BE49-F238E27FC236}">
                <a16:creationId xmlns:a16="http://schemas.microsoft.com/office/drawing/2014/main" id="{8CDDB635-6D2F-4885-6A7E-1CB5F820F050}"/>
              </a:ext>
            </a:extLst>
          </p:cNvPr>
          <p:cNvSpPr/>
          <p:nvPr/>
        </p:nvSpPr>
        <p:spPr>
          <a:xfrm>
            <a:off x="17891642" y="3506281"/>
            <a:ext cx="5373657" cy="2592901"/>
          </a:xfrm>
          <a:prstGeom prst="rect">
            <a:avLst/>
          </a:prstGeom>
        </p:spPr>
        <p:txBody>
          <a:bodyPr wrap="square">
            <a:normAutofit/>
          </a:bodyPr>
          <a:lstStyle/>
          <a:p>
            <a:pPr>
              <a:spcAft>
                <a:spcPts val="1200"/>
              </a:spcAft>
            </a:pPr>
            <a:r>
              <a:rPr lang="en-US" sz="6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Mary</a:t>
            </a:r>
            <a:endParaRPr lang="en-US" sz="4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a:spcAft>
                <a:spcPts val="5022"/>
              </a:spcAft>
            </a:pPr>
            <a:r>
              <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An </a:t>
            </a:r>
            <a:r>
              <a:rPr lang="en-US" sz="40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HourlyEmployee</a:t>
            </a:r>
            <a:endPar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Rectangle 18">
            <a:extLst>
              <a:ext uri="{FF2B5EF4-FFF2-40B4-BE49-F238E27FC236}">
                <a16:creationId xmlns:a16="http://schemas.microsoft.com/office/drawing/2014/main" id="{72A66AB7-34D1-9AC8-A4C9-72D4F647F93C}"/>
              </a:ext>
            </a:extLst>
          </p:cNvPr>
          <p:cNvSpPr/>
          <p:nvPr/>
        </p:nvSpPr>
        <p:spPr>
          <a:xfrm>
            <a:off x="6852782" y="14106399"/>
            <a:ext cx="5013845" cy="3094554"/>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20" name="Rectangle 19">
            <a:extLst>
              <a:ext uri="{FF2B5EF4-FFF2-40B4-BE49-F238E27FC236}">
                <a16:creationId xmlns:a16="http://schemas.microsoft.com/office/drawing/2014/main" id="{A4A1DCC5-00A5-E304-FC84-B527640F02CD}"/>
              </a:ext>
            </a:extLst>
          </p:cNvPr>
          <p:cNvSpPr/>
          <p:nvPr/>
        </p:nvSpPr>
        <p:spPr>
          <a:xfrm>
            <a:off x="6885988" y="14398670"/>
            <a:ext cx="4980639" cy="2581485"/>
          </a:xfrm>
          <a:prstGeom prst="rect">
            <a:avLst/>
          </a:prstGeom>
        </p:spPr>
        <p:txBody>
          <a:bodyPr wrap="square">
            <a:normAutofit/>
          </a:bodyPr>
          <a:lstStyle/>
          <a:p>
            <a:pPr>
              <a:spcAft>
                <a:spcPts val="1200"/>
              </a:spcAft>
            </a:pPr>
            <a:r>
              <a:rPr lang="en-US" sz="40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SalariedEmployee</a:t>
            </a: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collectPay</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retire</a:t>
            </a:r>
          </a:p>
        </p:txBody>
      </p:sp>
      <p:sp>
        <p:nvSpPr>
          <p:cNvPr id="21" name="Rectangle 20">
            <a:extLst>
              <a:ext uri="{FF2B5EF4-FFF2-40B4-BE49-F238E27FC236}">
                <a16:creationId xmlns:a16="http://schemas.microsoft.com/office/drawing/2014/main" id="{37B49945-7F7D-7F0F-CCB9-193DA098F7AF}"/>
              </a:ext>
            </a:extLst>
          </p:cNvPr>
          <p:cNvSpPr/>
          <p:nvPr/>
        </p:nvSpPr>
        <p:spPr>
          <a:xfrm>
            <a:off x="12315662" y="14106399"/>
            <a:ext cx="5013845" cy="3094554"/>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22" name="Rectangle 21">
            <a:extLst>
              <a:ext uri="{FF2B5EF4-FFF2-40B4-BE49-F238E27FC236}">
                <a16:creationId xmlns:a16="http://schemas.microsoft.com/office/drawing/2014/main" id="{8CCAA6BB-16C5-CCCB-387B-F57CEA7E6911}"/>
              </a:ext>
            </a:extLst>
          </p:cNvPr>
          <p:cNvSpPr/>
          <p:nvPr/>
        </p:nvSpPr>
        <p:spPr>
          <a:xfrm>
            <a:off x="12348869" y="14398670"/>
            <a:ext cx="5013846" cy="2581485"/>
          </a:xfrm>
          <a:prstGeom prst="rect">
            <a:avLst/>
          </a:prstGeom>
        </p:spPr>
        <p:txBody>
          <a:bodyPr wrap="square">
            <a:normAutofit/>
          </a:bodyPr>
          <a:lstStyle/>
          <a:p>
            <a:pPr>
              <a:spcAft>
                <a:spcPts val="1200"/>
              </a:spcAft>
            </a:pPr>
            <a:r>
              <a:rPr lang="en-US" sz="40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HourlyEmployee</a:t>
            </a: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collectPay</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getDoublePay</a:t>
            </a: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23" name="Rectangle: Rounded Corners 22">
            <a:extLst>
              <a:ext uri="{FF2B5EF4-FFF2-40B4-BE49-F238E27FC236}">
                <a16:creationId xmlns:a16="http://schemas.microsoft.com/office/drawing/2014/main" id="{C2867099-A43D-F6CC-94F8-7D233CFCDC7F}"/>
              </a:ext>
            </a:extLst>
          </p:cNvPr>
          <p:cNvSpPr/>
          <p:nvPr/>
        </p:nvSpPr>
        <p:spPr>
          <a:xfrm>
            <a:off x="18575329" y="7623498"/>
            <a:ext cx="4079730" cy="1312803"/>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getAge</a:t>
            </a:r>
            <a:r>
              <a:rPr kumimoji="0" lang="en-US"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24" name="Rectangle: Rounded Corners 23">
            <a:extLst>
              <a:ext uri="{FF2B5EF4-FFF2-40B4-BE49-F238E27FC236}">
                <a16:creationId xmlns:a16="http://schemas.microsoft.com/office/drawing/2014/main" id="{63755613-D0A5-0F41-93F3-388E14897070}"/>
              </a:ext>
            </a:extLst>
          </p:cNvPr>
          <p:cNvSpPr/>
          <p:nvPr/>
        </p:nvSpPr>
        <p:spPr>
          <a:xfrm>
            <a:off x="18575329" y="11225647"/>
            <a:ext cx="4079730"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toString</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25" name="Rectangle: Rounded Corners 24">
            <a:extLst>
              <a:ext uri="{FF2B5EF4-FFF2-40B4-BE49-F238E27FC236}">
                <a16:creationId xmlns:a16="http://schemas.microsoft.com/office/drawing/2014/main" id="{7B92EC1A-4CB7-0DA8-C7F9-9E588649360D}"/>
              </a:ext>
            </a:extLst>
          </p:cNvPr>
          <p:cNvSpPr/>
          <p:nvPr/>
        </p:nvSpPr>
        <p:spPr>
          <a:xfrm>
            <a:off x="18717926" y="13851424"/>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collectPay</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cxnSp>
        <p:nvCxnSpPr>
          <p:cNvPr id="27" name="Straight Arrow Connector 26">
            <a:extLst>
              <a:ext uri="{FF2B5EF4-FFF2-40B4-BE49-F238E27FC236}">
                <a16:creationId xmlns:a16="http://schemas.microsoft.com/office/drawing/2014/main" id="{20CD3281-8E8B-2F31-6AAD-00A575FC044A}"/>
              </a:ext>
            </a:extLst>
          </p:cNvPr>
          <p:cNvCxnSpPr/>
          <p:nvPr/>
        </p:nvCxnSpPr>
        <p:spPr>
          <a:xfrm>
            <a:off x="5591287" y="8341567"/>
            <a:ext cx="3954137"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8E4625D5-4016-30DA-A4A7-7F1A265D4D34}"/>
              </a:ext>
            </a:extLst>
          </p:cNvPr>
          <p:cNvCxnSpPr>
            <a:cxnSpLocks/>
            <a:stCxn id="5" idx="3"/>
          </p:cNvCxnSpPr>
          <p:nvPr/>
        </p:nvCxnSpPr>
        <p:spPr>
          <a:xfrm>
            <a:off x="5591287" y="11817130"/>
            <a:ext cx="3954137"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29" name="Connector: Elbow 28">
            <a:extLst>
              <a:ext uri="{FF2B5EF4-FFF2-40B4-BE49-F238E27FC236}">
                <a16:creationId xmlns:a16="http://schemas.microsoft.com/office/drawing/2014/main" id="{A5907837-02E3-13E2-8EE8-94EDD6FF1296}"/>
              </a:ext>
            </a:extLst>
          </p:cNvPr>
          <p:cNvCxnSpPr>
            <a:stCxn id="6" idx="3"/>
            <a:endCxn id="7" idx="3"/>
          </p:cNvCxnSpPr>
          <p:nvPr/>
        </p:nvCxnSpPr>
        <p:spPr>
          <a:xfrm>
            <a:off x="5591287" y="14442907"/>
            <a:ext cx="12700" cy="2137718"/>
          </a:xfrm>
          <a:prstGeom prst="bentConnector3">
            <a:avLst>
              <a:gd name="adj1" fmla="val 3563268"/>
            </a:avLst>
          </a:prstGeom>
          <a:ln w="133350"/>
          <a:effectLst/>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BB558948-2B8C-4CBE-8279-0A61FEAC72BD}"/>
              </a:ext>
            </a:extLst>
          </p:cNvPr>
          <p:cNvCxnSpPr>
            <a:cxnSpLocks/>
          </p:cNvCxnSpPr>
          <p:nvPr/>
        </p:nvCxnSpPr>
        <p:spPr>
          <a:xfrm>
            <a:off x="6027576" y="15683114"/>
            <a:ext cx="858412"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31" name="Connector: Elbow 30">
            <a:extLst>
              <a:ext uri="{FF2B5EF4-FFF2-40B4-BE49-F238E27FC236}">
                <a16:creationId xmlns:a16="http://schemas.microsoft.com/office/drawing/2014/main" id="{9F91313E-6378-4F3D-7D75-2E5A7A334222}"/>
              </a:ext>
            </a:extLst>
          </p:cNvPr>
          <p:cNvCxnSpPr>
            <a:cxnSpLocks/>
            <a:stCxn id="25" idx="1"/>
          </p:cNvCxnSpPr>
          <p:nvPr/>
        </p:nvCxnSpPr>
        <p:spPr>
          <a:xfrm rot="10800000" flipV="1">
            <a:off x="18717926" y="14442907"/>
            <a:ext cx="12700" cy="2137718"/>
          </a:xfrm>
          <a:prstGeom prst="bentConnector3">
            <a:avLst>
              <a:gd name="adj1" fmla="val 1800000"/>
            </a:avLst>
          </a:prstGeom>
          <a:ln w="133350"/>
          <a:effectLst/>
        </p:spPr>
        <p:style>
          <a:lnRef idx="3">
            <a:schemeClr val="accent1"/>
          </a:lnRef>
          <a:fillRef idx="0">
            <a:schemeClr val="accent1"/>
          </a:fillRef>
          <a:effectRef idx="2">
            <a:schemeClr val="accent1"/>
          </a:effectRef>
          <a:fontRef idx="minor">
            <a:schemeClr val="tx1"/>
          </a:fontRef>
        </p:style>
      </p:cxnSp>
      <p:cxnSp>
        <p:nvCxnSpPr>
          <p:cNvPr id="32" name="Straight Arrow Connector 31">
            <a:extLst>
              <a:ext uri="{FF2B5EF4-FFF2-40B4-BE49-F238E27FC236}">
                <a16:creationId xmlns:a16="http://schemas.microsoft.com/office/drawing/2014/main" id="{57541120-C4C7-524D-B10B-669844A89D9E}"/>
              </a:ext>
            </a:extLst>
          </p:cNvPr>
          <p:cNvCxnSpPr>
            <a:cxnSpLocks/>
            <a:endCxn id="22" idx="3"/>
          </p:cNvCxnSpPr>
          <p:nvPr/>
        </p:nvCxnSpPr>
        <p:spPr>
          <a:xfrm flipH="1">
            <a:off x="17362715" y="15689413"/>
            <a:ext cx="1212614"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33" name="Straight Arrow Connector 32">
            <a:extLst>
              <a:ext uri="{FF2B5EF4-FFF2-40B4-BE49-F238E27FC236}">
                <a16:creationId xmlns:a16="http://schemas.microsoft.com/office/drawing/2014/main" id="{499DFC60-E9D6-C68C-A90B-43FC1E0CA2B7}"/>
              </a:ext>
            </a:extLst>
          </p:cNvPr>
          <p:cNvCxnSpPr>
            <a:cxnSpLocks/>
            <a:stCxn id="24" idx="1"/>
          </p:cNvCxnSpPr>
          <p:nvPr/>
        </p:nvCxnSpPr>
        <p:spPr>
          <a:xfrm flipH="1" flipV="1">
            <a:off x="14592478" y="11817129"/>
            <a:ext cx="3982851" cy="1"/>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34" name="Straight Arrow Connector 33">
            <a:extLst>
              <a:ext uri="{FF2B5EF4-FFF2-40B4-BE49-F238E27FC236}">
                <a16:creationId xmlns:a16="http://schemas.microsoft.com/office/drawing/2014/main" id="{96C34281-099F-D4D7-FC55-97306A0001D1}"/>
              </a:ext>
            </a:extLst>
          </p:cNvPr>
          <p:cNvCxnSpPr>
            <a:cxnSpLocks/>
          </p:cNvCxnSpPr>
          <p:nvPr/>
        </p:nvCxnSpPr>
        <p:spPr>
          <a:xfrm flipH="1">
            <a:off x="14528324" y="8279899"/>
            <a:ext cx="4202302"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sp>
        <p:nvSpPr>
          <p:cNvPr id="35" name="Rectangle: Rounded Corners 34">
            <a:extLst>
              <a:ext uri="{FF2B5EF4-FFF2-40B4-BE49-F238E27FC236}">
                <a16:creationId xmlns:a16="http://schemas.microsoft.com/office/drawing/2014/main" id="{1A26755B-EA1F-2ADD-F4AF-8BE98A9E35AD}"/>
              </a:ext>
            </a:extLst>
          </p:cNvPr>
          <p:cNvSpPr/>
          <p:nvPr/>
        </p:nvSpPr>
        <p:spPr>
          <a:xfrm>
            <a:off x="18717926" y="15989142"/>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getDoubePay</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Tree>
    <p:extLst>
      <p:ext uri="{BB962C8B-B14F-4D97-AF65-F5344CB8AC3E}">
        <p14:creationId xmlns:p14="http://schemas.microsoft.com/office/powerpoint/2010/main" val="1547297411"/>
      </p:ext>
    </p:extLst>
  </p:cSld>
  <p:clrMapOvr>
    <a:masterClrMapping/>
  </p:clrMapOvr>
  <p:transition spd="slow"/>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866484"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Making the call</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dirty="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Inheritance Challenge Part 2</a:t>
            </a:r>
          </a:p>
        </p:txBody>
      </p:sp>
      <p:sp>
        <p:nvSpPr>
          <p:cNvPr id="8" name="Rectangle 7">
            <a:extLst>
              <a:ext uri="{FF2B5EF4-FFF2-40B4-BE49-F238E27FC236}">
                <a16:creationId xmlns:a16="http://schemas.microsoft.com/office/drawing/2014/main" id="{89DBB243-EF27-4345-872D-E76597E95619}"/>
              </a:ext>
            </a:extLst>
          </p:cNvPr>
          <p:cNvSpPr/>
          <p:nvPr/>
        </p:nvSpPr>
        <p:spPr>
          <a:xfrm>
            <a:off x="23905029" y="2649896"/>
            <a:ext cx="11830141" cy="13516184"/>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SalariedEmployee has a method, </a:t>
            </a:r>
            <a:r>
              <a:rPr lang="en-US" sz="6400" b="1" dirty="0">
                <a:latin typeface="Open Sans" panose="020B0606030504020204" pitchFamily="34" charset="0"/>
                <a:ea typeface="Open Sans" panose="020B0606030504020204" pitchFamily="34" charset="0"/>
                <a:cs typeface="Open Sans" panose="020B0606030504020204" pitchFamily="34" charset="0"/>
              </a:rPr>
              <a:t>retire</a:t>
            </a:r>
            <a:r>
              <a:rPr lang="en-US" sz="6400" dirty="0">
                <a:latin typeface="Open Sans" panose="020B0606030504020204" pitchFamily="34" charset="0"/>
                <a:ea typeface="Open Sans" panose="020B0606030504020204" pitchFamily="34" charset="0"/>
                <a:cs typeface="Open Sans" panose="020B0606030504020204" pitchFamily="34" charset="0"/>
              </a:rPr>
              <a:t>, that's not overridden, meaning it's only on that class, it's a method specific to a Salaried employee.</a:t>
            </a:r>
          </a:p>
          <a:p>
            <a:pPr algn="l">
              <a:spcAft>
                <a:spcPts val="5022"/>
              </a:spcAft>
            </a:pPr>
            <a:r>
              <a:rPr lang="en-US" sz="6400" dirty="0" err="1">
                <a:latin typeface="Open Sans" panose="020B0606030504020204" pitchFamily="34" charset="0"/>
                <a:ea typeface="Open Sans" panose="020B0606030504020204" pitchFamily="34" charset="0"/>
                <a:cs typeface="Open Sans" panose="020B0606030504020204" pitchFamily="34" charset="0"/>
              </a:rPr>
              <a:t>HourlyEmployee</a:t>
            </a:r>
            <a:r>
              <a:rPr lang="en-US" sz="6400" dirty="0">
                <a:latin typeface="Open Sans" panose="020B0606030504020204" pitchFamily="34" charset="0"/>
                <a:ea typeface="Open Sans" panose="020B0606030504020204" pitchFamily="34" charset="0"/>
                <a:cs typeface="Open Sans" panose="020B0606030504020204" pitchFamily="34" charset="0"/>
              </a:rPr>
              <a:t> has its own method, </a:t>
            </a:r>
            <a:r>
              <a:rPr lang="en-US" sz="6400" b="1" dirty="0" err="1">
                <a:latin typeface="Open Sans" panose="020B0606030504020204" pitchFamily="34" charset="0"/>
                <a:ea typeface="Open Sans" panose="020B0606030504020204" pitchFamily="34" charset="0"/>
                <a:cs typeface="Open Sans" panose="020B0606030504020204" pitchFamily="34" charset="0"/>
              </a:rPr>
              <a:t>getDoublePay</a:t>
            </a:r>
            <a:r>
              <a:rPr lang="en-US" sz="6400" dirty="0">
                <a:latin typeface="Open Sans" panose="020B0606030504020204" pitchFamily="34" charset="0"/>
                <a:ea typeface="Open Sans" panose="020B0606030504020204" pitchFamily="34" charset="0"/>
                <a:cs typeface="Open Sans" panose="020B0606030504020204" pitchFamily="34" charset="0"/>
              </a:rPr>
              <a:t>, which wouldn't apply to a Salaried employee, so we declared it on this class, and not in any super class.</a:t>
            </a:r>
          </a:p>
        </p:txBody>
      </p:sp>
      <p:sp>
        <p:nvSpPr>
          <p:cNvPr id="2" name="Rectangle 1">
            <a:extLst>
              <a:ext uri="{FF2B5EF4-FFF2-40B4-BE49-F238E27FC236}">
                <a16:creationId xmlns:a16="http://schemas.microsoft.com/office/drawing/2014/main" id="{46EF3E87-BE48-923D-D32B-0405F489362B}"/>
              </a:ext>
            </a:extLst>
          </p:cNvPr>
          <p:cNvSpPr/>
          <p:nvPr/>
        </p:nvSpPr>
        <p:spPr>
          <a:xfrm>
            <a:off x="952498" y="3340359"/>
            <a:ext cx="5340447" cy="14590938"/>
          </a:xfrm>
          <a:prstGeom prst="rect">
            <a:avLst/>
          </a:prstGeom>
          <a:ln w="38100"/>
          <a:effectLst/>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3" name="Rectangle 2">
            <a:extLst>
              <a:ext uri="{FF2B5EF4-FFF2-40B4-BE49-F238E27FC236}">
                <a16:creationId xmlns:a16="http://schemas.microsoft.com/office/drawing/2014/main" id="{EC8695DF-B27D-5EAD-3A80-43323639882A}"/>
              </a:ext>
            </a:extLst>
          </p:cNvPr>
          <p:cNvSpPr/>
          <p:nvPr/>
        </p:nvSpPr>
        <p:spPr>
          <a:xfrm>
            <a:off x="952498" y="3489650"/>
            <a:ext cx="5373657" cy="2609532"/>
          </a:xfrm>
          <a:prstGeom prst="rect">
            <a:avLst/>
          </a:prstGeom>
        </p:spPr>
        <p:txBody>
          <a:bodyPr wrap="square">
            <a:normAutofit/>
          </a:bodyPr>
          <a:lstStyle/>
          <a:p>
            <a:pPr>
              <a:spcAft>
                <a:spcPts val="1200"/>
              </a:spcAft>
            </a:pPr>
            <a:r>
              <a:rPr lang="en-US" sz="6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Joe</a:t>
            </a:r>
            <a:endParaRPr lang="en-US" sz="4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a:spcAft>
                <a:spcPts val="5022"/>
              </a:spcAft>
            </a:pPr>
            <a:r>
              <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 </a:t>
            </a:r>
            <a:r>
              <a:rPr lang="en-US" sz="40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SalariedEmployee</a:t>
            </a:r>
            <a:endPar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Rectangle: Rounded Corners 3">
            <a:extLst>
              <a:ext uri="{FF2B5EF4-FFF2-40B4-BE49-F238E27FC236}">
                <a16:creationId xmlns:a16="http://schemas.microsoft.com/office/drawing/2014/main" id="{E978C101-077F-4EFD-7919-CA83B3979F3F}"/>
              </a:ext>
            </a:extLst>
          </p:cNvPr>
          <p:cNvSpPr/>
          <p:nvPr/>
        </p:nvSpPr>
        <p:spPr>
          <a:xfrm>
            <a:off x="1511557" y="7623498"/>
            <a:ext cx="4079730" cy="1312803"/>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getAge</a:t>
            </a:r>
            <a:r>
              <a:rPr kumimoji="0" lang="en-US"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5" name="Rectangle: Rounded Corners 4">
            <a:extLst>
              <a:ext uri="{FF2B5EF4-FFF2-40B4-BE49-F238E27FC236}">
                <a16:creationId xmlns:a16="http://schemas.microsoft.com/office/drawing/2014/main" id="{C171D096-AF09-C2F9-35A4-0214A0D2871E}"/>
              </a:ext>
            </a:extLst>
          </p:cNvPr>
          <p:cNvSpPr/>
          <p:nvPr/>
        </p:nvSpPr>
        <p:spPr>
          <a:xfrm>
            <a:off x="1511557" y="11225647"/>
            <a:ext cx="4079730"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toString</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6" name="Rectangle: Rounded Corners 5">
            <a:extLst>
              <a:ext uri="{FF2B5EF4-FFF2-40B4-BE49-F238E27FC236}">
                <a16:creationId xmlns:a16="http://schemas.microsoft.com/office/drawing/2014/main" id="{9A872775-DD08-ADBC-989A-EFD86426E22E}"/>
              </a:ext>
            </a:extLst>
          </p:cNvPr>
          <p:cNvSpPr/>
          <p:nvPr/>
        </p:nvSpPr>
        <p:spPr>
          <a:xfrm>
            <a:off x="1654154" y="13851424"/>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collectPay</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7" name="Rectangle: Rounded Corners 6">
            <a:extLst>
              <a:ext uri="{FF2B5EF4-FFF2-40B4-BE49-F238E27FC236}">
                <a16:creationId xmlns:a16="http://schemas.microsoft.com/office/drawing/2014/main" id="{2EE844ED-F35A-3B0B-DD8A-82A973FAE62A}"/>
              </a:ext>
            </a:extLst>
          </p:cNvPr>
          <p:cNvSpPr/>
          <p:nvPr/>
        </p:nvSpPr>
        <p:spPr>
          <a:xfrm>
            <a:off x="1654154" y="15989142"/>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retire()</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11" name="Rectangle 10">
            <a:extLst>
              <a:ext uri="{FF2B5EF4-FFF2-40B4-BE49-F238E27FC236}">
                <a16:creationId xmlns:a16="http://schemas.microsoft.com/office/drawing/2014/main" id="{B201F804-BA52-0D14-C12A-B12B273CA853}"/>
              </a:ext>
            </a:extLst>
          </p:cNvPr>
          <p:cNvSpPr/>
          <p:nvPr/>
        </p:nvSpPr>
        <p:spPr>
          <a:xfrm>
            <a:off x="17811750" y="3340359"/>
            <a:ext cx="5533442" cy="14590938"/>
          </a:xfrm>
          <a:prstGeom prst="rect">
            <a:avLst/>
          </a:prstGeom>
          <a:ln w="38100"/>
          <a:effectLst/>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12" name="Rectangle 11">
            <a:extLst>
              <a:ext uri="{FF2B5EF4-FFF2-40B4-BE49-F238E27FC236}">
                <a16:creationId xmlns:a16="http://schemas.microsoft.com/office/drawing/2014/main" id="{7FD1344F-A123-67DD-1A52-C253774229F4}"/>
              </a:ext>
            </a:extLst>
          </p:cNvPr>
          <p:cNvSpPr/>
          <p:nvPr/>
        </p:nvSpPr>
        <p:spPr>
          <a:xfrm>
            <a:off x="9545425" y="3648518"/>
            <a:ext cx="5047053" cy="2450667"/>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13" name="Rectangle 12">
            <a:extLst>
              <a:ext uri="{FF2B5EF4-FFF2-40B4-BE49-F238E27FC236}">
                <a16:creationId xmlns:a16="http://schemas.microsoft.com/office/drawing/2014/main" id="{894D0047-FACD-DC4B-BACA-22D4F50B13A5}"/>
              </a:ext>
            </a:extLst>
          </p:cNvPr>
          <p:cNvSpPr/>
          <p:nvPr/>
        </p:nvSpPr>
        <p:spPr>
          <a:xfrm>
            <a:off x="9578633" y="3940790"/>
            <a:ext cx="5013846" cy="1866122"/>
          </a:xfrm>
          <a:prstGeom prst="rect">
            <a:avLst/>
          </a:prstGeom>
        </p:spPr>
        <p:txBody>
          <a:bodyPr wrap="square">
            <a:normAutofit fontScale="85000" lnSpcReduction="20000"/>
          </a:bodyPr>
          <a:lstStyle/>
          <a:p>
            <a:pPr>
              <a:spcAft>
                <a:spcPts val="1200"/>
              </a:spcAft>
            </a:pPr>
            <a:r>
              <a:rPr lang="en-US" sz="5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Object</a:t>
            </a:r>
          </a:p>
          <a:p>
            <a:pPr>
              <a:spcAft>
                <a:spcPts val="1200"/>
              </a:spcAft>
            </a:pP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36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toString</a:t>
            </a:r>
            <a:r>
              <a:rPr lang="en-US"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14" name="Rectangle 13">
            <a:extLst>
              <a:ext uri="{FF2B5EF4-FFF2-40B4-BE49-F238E27FC236}">
                <a16:creationId xmlns:a16="http://schemas.microsoft.com/office/drawing/2014/main" id="{2DA77D43-7F74-F94E-76C8-EF608F9E4A4C}"/>
              </a:ext>
            </a:extLst>
          </p:cNvPr>
          <p:cNvSpPr/>
          <p:nvPr/>
        </p:nvSpPr>
        <p:spPr>
          <a:xfrm>
            <a:off x="9545424" y="6416016"/>
            <a:ext cx="5013847" cy="3903031"/>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15" name="Rectangle 14">
            <a:extLst>
              <a:ext uri="{FF2B5EF4-FFF2-40B4-BE49-F238E27FC236}">
                <a16:creationId xmlns:a16="http://schemas.microsoft.com/office/drawing/2014/main" id="{3A266E04-46AD-9937-E5DF-03FDEC0444EB}"/>
              </a:ext>
            </a:extLst>
          </p:cNvPr>
          <p:cNvSpPr/>
          <p:nvPr/>
        </p:nvSpPr>
        <p:spPr>
          <a:xfrm>
            <a:off x="9578632" y="6708288"/>
            <a:ext cx="5013846" cy="3242198"/>
          </a:xfrm>
          <a:prstGeom prst="rect">
            <a:avLst/>
          </a:prstGeom>
        </p:spPr>
        <p:txBody>
          <a:bodyPr wrap="square">
            <a:normAutofit/>
          </a:bodyPr>
          <a:lstStyle/>
          <a:p>
            <a:pPr>
              <a:spcAft>
                <a:spcPts val="1200"/>
              </a:spcAft>
            </a:pPr>
            <a:r>
              <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Worker</a:t>
            </a:r>
            <a:endParaRPr lang="en-US" sz="32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getAge</a:t>
            </a:r>
          </a:p>
          <a:p>
            <a:pPr>
              <a:spcAft>
                <a:spcPts val="1200"/>
              </a:spcAft>
            </a:pP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collectPay</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toString</a:t>
            </a: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16" name="Rectangle 15">
            <a:extLst>
              <a:ext uri="{FF2B5EF4-FFF2-40B4-BE49-F238E27FC236}">
                <a16:creationId xmlns:a16="http://schemas.microsoft.com/office/drawing/2014/main" id="{F536BF10-F562-8677-3444-0C53E0E6D24C}"/>
              </a:ext>
            </a:extLst>
          </p:cNvPr>
          <p:cNvSpPr/>
          <p:nvPr/>
        </p:nvSpPr>
        <p:spPr>
          <a:xfrm>
            <a:off x="9545426" y="10559589"/>
            <a:ext cx="5013845" cy="3094554"/>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17" name="Rectangle 16">
            <a:extLst>
              <a:ext uri="{FF2B5EF4-FFF2-40B4-BE49-F238E27FC236}">
                <a16:creationId xmlns:a16="http://schemas.microsoft.com/office/drawing/2014/main" id="{D8400AC8-1F73-5BA9-0D5A-591BCFAC96DD}"/>
              </a:ext>
            </a:extLst>
          </p:cNvPr>
          <p:cNvSpPr/>
          <p:nvPr/>
        </p:nvSpPr>
        <p:spPr>
          <a:xfrm>
            <a:off x="9578633" y="10851860"/>
            <a:ext cx="5013846" cy="2581485"/>
          </a:xfrm>
          <a:prstGeom prst="rect">
            <a:avLst/>
          </a:prstGeom>
        </p:spPr>
        <p:txBody>
          <a:bodyPr wrap="square">
            <a:normAutofit/>
          </a:bodyPr>
          <a:lstStyle/>
          <a:p>
            <a:pPr>
              <a:spcAft>
                <a:spcPts val="1200"/>
              </a:spcAft>
            </a:pPr>
            <a:r>
              <a:rPr lang="en-US" sz="4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Employee</a:t>
            </a: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toString</a:t>
            </a: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a:p>
            <a:pPr>
              <a:spcAft>
                <a:spcPts val="1200"/>
              </a:spcAft>
            </a:pP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getJobReview</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Rectangle 17">
            <a:extLst>
              <a:ext uri="{FF2B5EF4-FFF2-40B4-BE49-F238E27FC236}">
                <a16:creationId xmlns:a16="http://schemas.microsoft.com/office/drawing/2014/main" id="{1E044CC2-2E8F-936B-FDBF-44C856C657DF}"/>
              </a:ext>
            </a:extLst>
          </p:cNvPr>
          <p:cNvSpPr/>
          <p:nvPr/>
        </p:nvSpPr>
        <p:spPr>
          <a:xfrm>
            <a:off x="17891642" y="3506281"/>
            <a:ext cx="5373657" cy="2592901"/>
          </a:xfrm>
          <a:prstGeom prst="rect">
            <a:avLst/>
          </a:prstGeom>
        </p:spPr>
        <p:txBody>
          <a:bodyPr wrap="square">
            <a:normAutofit/>
          </a:bodyPr>
          <a:lstStyle/>
          <a:p>
            <a:pPr>
              <a:spcAft>
                <a:spcPts val="1200"/>
              </a:spcAft>
            </a:pPr>
            <a:r>
              <a:rPr lang="en-US" sz="6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Mary</a:t>
            </a:r>
            <a:endParaRPr lang="en-US" sz="44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p>
            <a:pPr>
              <a:spcAft>
                <a:spcPts val="5022"/>
              </a:spcAft>
            </a:pPr>
            <a:r>
              <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An </a:t>
            </a:r>
            <a:r>
              <a:rPr lang="en-US" sz="4000" b="1" dirty="0" err="1">
                <a:solidFill>
                  <a:schemeClr val="accent1"/>
                </a:solidFill>
                <a:latin typeface="Open Sans" panose="020B0606030504020204" pitchFamily="34" charset="0"/>
                <a:ea typeface="Open Sans" panose="020B0606030504020204" pitchFamily="34" charset="0"/>
                <a:cs typeface="Open Sans" panose="020B0606030504020204" pitchFamily="34" charset="0"/>
              </a:rPr>
              <a:t>HourlyEmployee</a:t>
            </a:r>
            <a:endParaRPr lang="en-US" sz="4000" b="1"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Rectangle 18">
            <a:extLst>
              <a:ext uri="{FF2B5EF4-FFF2-40B4-BE49-F238E27FC236}">
                <a16:creationId xmlns:a16="http://schemas.microsoft.com/office/drawing/2014/main" id="{37F84BF1-2562-8BC4-92B1-F4D0276DC386}"/>
              </a:ext>
            </a:extLst>
          </p:cNvPr>
          <p:cNvSpPr/>
          <p:nvPr/>
        </p:nvSpPr>
        <p:spPr>
          <a:xfrm>
            <a:off x="6852782" y="14106399"/>
            <a:ext cx="5013845" cy="3094554"/>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20" name="Rectangle 19">
            <a:extLst>
              <a:ext uri="{FF2B5EF4-FFF2-40B4-BE49-F238E27FC236}">
                <a16:creationId xmlns:a16="http://schemas.microsoft.com/office/drawing/2014/main" id="{A6F0B0E7-A861-7DA0-435F-610EF0F1F1A1}"/>
              </a:ext>
            </a:extLst>
          </p:cNvPr>
          <p:cNvSpPr/>
          <p:nvPr/>
        </p:nvSpPr>
        <p:spPr>
          <a:xfrm>
            <a:off x="6885988" y="14398670"/>
            <a:ext cx="4980639" cy="2581485"/>
          </a:xfrm>
          <a:prstGeom prst="rect">
            <a:avLst/>
          </a:prstGeom>
        </p:spPr>
        <p:txBody>
          <a:bodyPr wrap="square">
            <a:normAutofit/>
          </a:bodyPr>
          <a:lstStyle/>
          <a:p>
            <a:pPr>
              <a:spcAft>
                <a:spcPts val="1200"/>
              </a:spcAft>
            </a:pPr>
            <a:r>
              <a:rPr lang="en-US" sz="40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SalariedEmployee</a:t>
            </a: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collectPay</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retire</a:t>
            </a:r>
          </a:p>
        </p:txBody>
      </p:sp>
      <p:sp>
        <p:nvSpPr>
          <p:cNvPr id="21" name="Rectangle 20">
            <a:extLst>
              <a:ext uri="{FF2B5EF4-FFF2-40B4-BE49-F238E27FC236}">
                <a16:creationId xmlns:a16="http://schemas.microsoft.com/office/drawing/2014/main" id="{2934B396-EA86-9A34-7863-4C3B67D325BF}"/>
              </a:ext>
            </a:extLst>
          </p:cNvPr>
          <p:cNvSpPr/>
          <p:nvPr/>
        </p:nvSpPr>
        <p:spPr>
          <a:xfrm>
            <a:off x="12315662" y="14106399"/>
            <a:ext cx="5013845" cy="3094554"/>
          </a:xfrm>
          <a:prstGeom prst="rect">
            <a:avLst/>
          </a:prstGeom>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dirty="0">
              <a:ln>
                <a:noFill/>
              </a:ln>
              <a:solidFill>
                <a:srgbClr val="FFFFFF"/>
              </a:solidFill>
              <a:effectLst/>
              <a:uFillTx/>
              <a:latin typeface="+mn-lt"/>
              <a:ea typeface="+mn-ea"/>
              <a:cs typeface="+mn-cs"/>
              <a:sym typeface="Helvetica Light"/>
            </a:endParaRPr>
          </a:p>
        </p:txBody>
      </p:sp>
      <p:sp>
        <p:nvSpPr>
          <p:cNvPr id="22" name="Rectangle 21">
            <a:extLst>
              <a:ext uri="{FF2B5EF4-FFF2-40B4-BE49-F238E27FC236}">
                <a16:creationId xmlns:a16="http://schemas.microsoft.com/office/drawing/2014/main" id="{10A3EF25-A7B5-F61B-0F94-72F308529FAC}"/>
              </a:ext>
            </a:extLst>
          </p:cNvPr>
          <p:cNvSpPr/>
          <p:nvPr/>
        </p:nvSpPr>
        <p:spPr>
          <a:xfrm>
            <a:off x="12348869" y="14398670"/>
            <a:ext cx="5013846" cy="2581485"/>
          </a:xfrm>
          <a:prstGeom prst="rect">
            <a:avLst/>
          </a:prstGeom>
        </p:spPr>
        <p:txBody>
          <a:bodyPr wrap="square">
            <a:normAutofit/>
          </a:bodyPr>
          <a:lstStyle/>
          <a:p>
            <a:pPr>
              <a:spcAft>
                <a:spcPts val="1200"/>
              </a:spcAft>
            </a:pPr>
            <a:r>
              <a:rPr lang="en-US" sz="40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HourlyEmployee</a:t>
            </a:r>
            <a:endParaRPr lang="en-US" sz="44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@Override </a:t>
            </a: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collectPay</a:t>
            </a:r>
            <a:endPar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spcAft>
                <a:spcPts val="1200"/>
              </a:spcAft>
            </a:pPr>
            <a:r>
              <a:rPr lang="en-US" sz="2800" b="1" dirty="0" err="1">
                <a:solidFill>
                  <a:schemeClr val="bg1"/>
                </a:solidFill>
                <a:latin typeface="Open Sans" panose="020B0606030504020204" pitchFamily="34" charset="0"/>
                <a:ea typeface="Open Sans" panose="020B0606030504020204" pitchFamily="34" charset="0"/>
                <a:cs typeface="Open Sans" panose="020B0606030504020204" pitchFamily="34" charset="0"/>
              </a:rPr>
              <a:t>getDoublePay</a:t>
            </a:r>
            <a:r>
              <a:rPr lang="en-US" sz="2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23" name="Rectangle: Rounded Corners 22">
            <a:extLst>
              <a:ext uri="{FF2B5EF4-FFF2-40B4-BE49-F238E27FC236}">
                <a16:creationId xmlns:a16="http://schemas.microsoft.com/office/drawing/2014/main" id="{15DA2C2E-9034-231F-A01D-701D720E2100}"/>
              </a:ext>
            </a:extLst>
          </p:cNvPr>
          <p:cNvSpPr/>
          <p:nvPr/>
        </p:nvSpPr>
        <p:spPr>
          <a:xfrm>
            <a:off x="18575329" y="7623498"/>
            <a:ext cx="4079730" cy="1312803"/>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getAge</a:t>
            </a:r>
            <a:r>
              <a:rPr kumimoji="0" lang="en-US"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6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24" name="Rectangle: Rounded Corners 23">
            <a:extLst>
              <a:ext uri="{FF2B5EF4-FFF2-40B4-BE49-F238E27FC236}">
                <a16:creationId xmlns:a16="http://schemas.microsoft.com/office/drawing/2014/main" id="{8745D37F-0F7D-4268-A5EE-93BEA9F0E7CC}"/>
              </a:ext>
            </a:extLst>
          </p:cNvPr>
          <p:cNvSpPr/>
          <p:nvPr/>
        </p:nvSpPr>
        <p:spPr>
          <a:xfrm>
            <a:off x="18575329" y="11225647"/>
            <a:ext cx="4079730"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toString</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
        <p:nvSpPr>
          <p:cNvPr id="25" name="Rectangle: Rounded Corners 24">
            <a:extLst>
              <a:ext uri="{FF2B5EF4-FFF2-40B4-BE49-F238E27FC236}">
                <a16:creationId xmlns:a16="http://schemas.microsoft.com/office/drawing/2014/main" id="{585F3A14-B5FC-16A6-2E3F-29CC7E7191EB}"/>
              </a:ext>
            </a:extLst>
          </p:cNvPr>
          <p:cNvSpPr/>
          <p:nvPr/>
        </p:nvSpPr>
        <p:spPr>
          <a:xfrm>
            <a:off x="18717926" y="13851424"/>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collectPay</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cxnSp>
        <p:nvCxnSpPr>
          <p:cNvPr id="27" name="Straight Arrow Connector 26">
            <a:extLst>
              <a:ext uri="{FF2B5EF4-FFF2-40B4-BE49-F238E27FC236}">
                <a16:creationId xmlns:a16="http://schemas.microsoft.com/office/drawing/2014/main" id="{B8A2BFB1-408C-EAC7-6E5A-2DEC4C8322E3}"/>
              </a:ext>
            </a:extLst>
          </p:cNvPr>
          <p:cNvCxnSpPr/>
          <p:nvPr/>
        </p:nvCxnSpPr>
        <p:spPr>
          <a:xfrm>
            <a:off x="5591287" y="8341567"/>
            <a:ext cx="3954137"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7CFD69E3-A8AB-9F85-9614-E11653521CBD}"/>
              </a:ext>
            </a:extLst>
          </p:cNvPr>
          <p:cNvCxnSpPr>
            <a:cxnSpLocks/>
            <a:stCxn id="5" idx="3"/>
          </p:cNvCxnSpPr>
          <p:nvPr/>
        </p:nvCxnSpPr>
        <p:spPr>
          <a:xfrm>
            <a:off x="5591287" y="11817130"/>
            <a:ext cx="3954137"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29" name="Connector: Elbow 28">
            <a:extLst>
              <a:ext uri="{FF2B5EF4-FFF2-40B4-BE49-F238E27FC236}">
                <a16:creationId xmlns:a16="http://schemas.microsoft.com/office/drawing/2014/main" id="{A898AD15-F82F-361C-88C5-3B4E8B96E5EF}"/>
              </a:ext>
            </a:extLst>
          </p:cNvPr>
          <p:cNvCxnSpPr>
            <a:stCxn id="6" idx="3"/>
            <a:endCxn id="7" idx="3"/>
          </p:cNvCxnSpPr>
          <p:nvPr/>
        </p:nvCxnSpPr>
        <p:spPr>
          <a:xfrm>
            <a:off x="5591287" y="14442907"/>
            <a:ext cx="12700" cy="2137718"/>
          </a:xfrm>
          <a:prstGeom prst="bentConnector3">
            <a:avLst>
              <a:gd name="adj1" fmla="val 3563268"/>
            </a:avLst>
          </a:prstGeom>
          <a:ln w="133350"/>
          <a:effectLst/>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96C77EB9-F000-E166-E236-3B93BB8F6D2D}"/>
              </a:ext>
            </a:extLst>
          </p:cNvPr>
          <p:cNvCxnSpPr>
            <a:cxnSpLocks/>
          </p:cNvCxnSpPr>
          <p:nvPr/>
        </p:nvCxnSpPr>
        <p:spPr>
          <a:xfrm>
            <a:off x="6027576" y="15683114"/>
            <a:ext cx="858412"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31" name="Connector: Elbow 30">
            <a:extLst>
              <a:ext uri="{FF2B5EF4-FFF2-40B4-BE49-F238E27FC236}">
                <a16:creationId xmlns:a16="http://schemas.microsoft.com/office/drawing/2014/main" id="{3EF7E5CD-EC3D-58D6-8E5D-2BAFE2D1DB6C}"/>
              </a:ext>
            </a:extLst>
          </p:cNvPr>
          <p:cNvCxnSpPr>
            <a:cxnSpLocks/>
            <a:stCxn id="25" idx="1"/>
          </p:cNvCxnSpPr>
          <p:nvPr/>
        </p:nvCxnSpPr>
        <p:spPr>
          <a:xfrm rot="10800000" flipV="1">
            <a:off x="18717926" y="14442907"/>
            <a:ext cx="12700" cy="2137718"/>
          </a:xfrm>
          <a:prstGeom prst="bentConnector3">
            <a:avLst>
              <a:gd name="adj1" fmla="val 1800000"/>
            </a:avLst>
          </a:prstGeom>
          <a:ln w="133350"/>
          <a:effectLst/>
        </p:spPr>
        <p:style>
          <a:lnRef idx="3">
            <a:schemeClr val="accent1"/>
          </a:lnRef>
          <a:fillRef idx="0">
            <a:schemeClr val="accent1"/>
          </a:fillRef>
          <a:effectRef idx="2">
            <a:schemeClr val="accent1"/>
          </a:effectRef>
          <a:fontRef idx="minor">
            <a:schemeClr val="tx1"/>
          </a:fontRef>
        </p:style>
      </p:cxnSp>
      <p:cxnSp>
        <p:nvCxnSpPr>
          <p:cNvPr id="32" name="Straight Arrow Connector 31">
            <a:extLst>
              <a:ext uri="{FF2B5EF4-FFF2-40B4-BE49-F238E27FC236}">
                <a16:creationId xmlns:a16="http://schemas.microsoft.com/office/drawing/2014/main" id="{82A47DAF-1F02-BF81-D72D-F712A753C72E}"/>
              </a:ext>
            </a:extLst>
          </p:cNvPr>
          <p:cNvCxnSpPr>
            <a:cxnSpLocks/>
            <a:endCxn id="22" idx="3"/>
          </p:cNvCxnSpPr>
          <p:nvPr/>
        </p:nvCxnSpPr>
        <p:spPr>
          <a:xfrm flipH="1">
            <a:off x="17362715" y="15689413"/>
            <a:ext cx="1212614"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33" name="Straight Arrow Connector 32">
            <a:extLst>
              <a:ext uri="{FF2B5EF4-FFF2-40B4-BE49-F238E27FC236}">
                <a16:creationId xmlns:a16="http://schemas.microsoft.com/office/drawing/2014/main" id="{A8CF41C4-B951-46E5-02BF-6EA3E72144B8}"/>
              </a:ext>
            </a:extLst>
          </p:cNvPr>
          <p:cNvCxnSpPr>
            <a:cxnSpLocks/>
            <a:stCxn id="24" idx="1"/>
          </p:cNvCxnSpPr>
          <p:nvPr/>
        </p:nvCxnSpPr>
        <p:spPr>
          <a:xfrm flipH="1" flipV="1">
            <a:off x="14592478" y="11817129"/>
            <a:ext cx="3982851" cy="1"/>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cxnSp>
        <p:nvCxnSpPr>
          <p:cNvPr id="34" name="Straight Arrow Connector 33">
            <a:extLst>
              <a:ext uri="{FF2B5EF4-FFF2-40B4-BE49-F238E27FC236}">
                <a16:creationId xmlns:a16="http://schemas.microsoft.com/office/drawing/2014/main" id="{26757806-D78E-5F9F-E4DE-EFDB00867932}"/>
              </a:ext>
            </a:extLst>
          </p:cNvPr>
          <p:cNvCxnSpPr>
            <a:cxnSpLocks/>
          </p:cNvCxnSpPr>
          <p:nvPr/>
        </p:nvCxnSpPr>
        <p:spPr>
          <a:xfrm flipH="1">
            <a:off x="14528324" y="8279899"/>
            <a:ext cx="4202302" cy="0"/>
          </a:xfrm>
          <a:prstGeom prst="straightConnector1">
            <a:avLst/>
          </a:prstGeom>
          <a:ln w="133350">
            <a:tailEnd type="triangle"/>
          </a:ln>
          <a:effectLst/>
        </p:spPr>
        <p:style>
          <a:lnRef idx="3">
            <a:schemeClr val="accent1"/>
          </a:lnRef>
          <a:fillRef idx="0">
            <a:schemeClr val="accent1"/>
          </a:fillRef>
          <a:effectRef idx="2">
            <a:schemeClr val="accent1"/>
          </a:effectRef>
          <a:fontRef idx="minor">
            <a:schemeClr val="tx1"/>
          </a:fontRef>
        </p:style>
      </p:cxnSp>
      <p:sp>
        <p:nvSpPr>
          <p:cNvPr id="35" name="Rectangle: Rounded Corners 34">
            <a:extLst>
              <a:ext uri="{FF2B5EF4-FFF2-40B4-BE49-F238E27FC236}">
                <a16:creationId xmlns:a16="http://schemas.microsoft.com/office/drawing/2014/main" id="{3A90FFDE-6F05-E6D4-D777-653C7E215FEA}"/>
              </a:ext>
            </a:extLst>
          </p:cNvPr>
          <p:cNvSpPr/>
          <p:nvPr/>
        </p:nvSpPr>
        <p:spPr>
          <a:xfrm>
            <a:off x="18717926" y="15989142"/>
            <a:ext cx="3937133" cy="1182965"/>
          </a:xfrm>
          <a:prstGeom prst="roundRect">
            <a:avLst>
              <a:gd name="adj" fmla="val 50000"/>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50000"/>
              </a:lnSpc>
              <a:spcBef>
                <a:spcPts val="0"/>
              </a:spcBef>
              <a:spcAft>
                <a:spcPts val="0"/>
              </a:spcAft>
              <a:buClrTx/>
              <a:buSzTx/>
              <a:buFontTx/>
              <a:buNone/>
              <a:tabLst/>
            </a:pPr>
            <a:r>
              <a:rPr kumimoji="0" lang="en-US" sz="3200" b="0" i="0" u="none" strike="noStrike" cap="none" spc="0" normalizeH="0" baseline="0" dirty="0" err="1">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getDoubePay</a:t>
            </a:r>
            <a:r>
              <a:rPr kumimoji="0" lang="en-US"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rPr>
              <a:t>()</a:t>
            </a:r>
            <a:endParaRPr kumimoji="0" lang="en-PH" sz="3200" b="0" i="0" u="none" strike="noStrike" cap="none" spc="0" normalizeH="0" baseline="0" dirty="0">
              <a:ln>
                <a:noFill/>
              </a:ln>
              <a:solidFill>
                <a:srgbClr val="FFFFFF"/>
              </a:solidFill>
              <a:effectLst/>
              <a:uFillTx/>
              <a:latin typeface="Roboto Mono" panose="00000009000000000000" pitchFamily="49" charset="0"/>
              <a:ea typeface="Roboto Mono" panose="00000009000000000000" pitchFamily="49" charset="0"/>
              <a:cs typeface="Open Sans" panose="020B0606030504020204" pitchFamily="34" charset="0"/>
              <a:sym typeface="Helvetica Light"/>
            </a:endParaRPr>
          </a:p>
        </p:txBody>
      </p:sp>
    </p:spTree>
    <p:extLst>
      <p:ext uri="{BB962C8B-B14F-4D97-AF65-F5344CB8AC3E}">
        <p14:creationId xmlns:p14="http://schemas.microsoft.com/office/powerpoint/2010/main" val="1298956513"/>
      </p:ext>
    </p:extLst>
  </p:cSld>
  <p:clrMapOvr>
    <a:masterClrMapping/>
  </p:clrMapOvr>
  <p:transition spd="slow"/>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8277907"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this vs super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this vs super</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Let's discuss the difference between the </a:t>
            </a:r>
            <a:r>
              <a:rPr lang="en-US" sz="6400" b="1" dirty="0">
                <a:latin typeface="Open Sans" panose="020B0606030504020204" pitchFamily="34" charset="0"/>
                <a:ea typeface="Open Sans" panose="020B0606030504020204" pitchFamily="34"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and the </a:t>
            </a:r>
            <a:r>
              <a:rPr lang="en-US" sz="6400" b="1" dirty="0">
                <a:latin typeface="Open Sans" panose="020B0606030504020204" pitchFamily="34" charset="0"/>
                <a:ea typeface="Open Sans" panose="020B0606030504020204" pitchFamily="34"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keywords.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We'll also find out about the differences between the </a:t>
            </a:r>
            <a:r>
              <a:rPr lang="en-US" sz="6400" b="1"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and </a:t>
            </a:r>
            <a:r>
              <a:rPr lang="en-US" sz="6400" b="1" dirty="0">
                <a:latin typeface="Roboto Mono" panose="00000009000000000000" pitchFamily="49" charset="0"/>
                <a:ea typeface="Roboto Mono" panose="00000009000000000000" pitchFamily="49"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method calls.</a:t>
            </a:r>
          </a:p>
        </p:txBody>
      </p:sp>
    </p:spTree>
    <p:extLst>
      <p:ext uri="{BB962C8B-B14F-4D97-AF65-F5344CB8AC3E}">
        <p14:creationId xmlns:p14="http://schemas.microsoft.com/office/powerpoint/2010/main" val="1508865061"/>
      </p:ext>
    </p:extLst>
  </p:cSld>
  <p:clrMapOvr>
    <a:masterClrMapping/>
  </p:clrMapOvr>
  <p:transition spd="slow"/>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827790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this vs super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this vs super</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Let's start with the </a:t>
            </a:r>
            <a:r>
              <a:rPr lang="en-US" sz="6400" b="1" dirty="0">
                <a:latin typeface="Open Sans" panose="020B0606030504020204" pitchFamily="34" charset="0"/>
                <a:ea typeface="Open Sans" panose="020B0606030504020204" pitchFamily="34"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and the </a:t>
            </a:r>
            <a:r>
              <a:rPr lang="en-US" sz="6400" b="1" dirty="0">
                <a:latin typeface="Open Sans" panose="020B0606030504020204" pitchFamily="34" charset="0"/>
                <a:ea typeface="Open Sans" panose="020B0606030504020204" pitchFamily="34"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keywords first.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keyword </a:t>
            </a:r>
            <a:r>
              <a:rPr lang="en-US" sz="6400" b="1" dirty="0">
                <a:latin typeface="Open Sans" panose="020B0606030504020204" pitchFamily="34" charset="0"/>
                <a:ea typeface="Open Sans" panose="020B0606030504020204" pitchFamily="34"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is used to access or call the parent class members (variables and methods).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keyword </a:t>
            </a:r>
            <a:r>
              <a:rPr lang="en-US" sz="6400" b="1" dirty="0">
                <a:latin typeface="Open Sans" panose="020B0606030504020204" pitchFamily="34" charset="0"/>
                <a:ea typeface="Open Sans" panose="020B0606030504020204" pitchFamily="34"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is used to call the current class members (variables and methods).</a:t>
            </a:r>
          </a:p>
          <a:p>
            <a:pPr algn="l">
              <a:spcAft>
                <a:spcPts val="5022"/>
              </a:spcAft>
            </a:pPr>
            <a:r>
              <a:rPr lang="en-US" sz="6400" b="1" dirty="0">
                <a:latin typeface="Open Sans" panose="020B0606030504020204" pitchFamily="34" charset="0"/>
                <a:ea typeface="Open Sans" panose="020B0606030504020204" pitchFamily="34"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is required, when we have a parameter with the same name, as an instance variable or field.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NOTE: We can use either of them anywhere in a class, except for static elements, like a static method.  Any attempt to do so there, will lead to compile time errors.</a:t>
            </a:r>
          </a:p>
        </p:txBody>
      </p:sp>
    </p:spTree>
    <p:extLst>
      <p:ext uri="{BB962C8B-B14F-4D97-AF65-F5344CB8AC3E}">
        <p14:creationId xmlns:p14="http://schemas.microsoft.com/office/powerpoint/2010/main" val="287599673"/>
      </p:ext>
    </p:extLst>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851515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Keyword this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this vs super</a:t>
            </a:r>
          </a:p>
        </p:txBody>
      </p:sp>
      <p:sp>
        <p:nvSpPr>
          <p:cNvPr id="8" name="Rectangle 7">
            <a:extLst>
              <a:ext uri="{FF2B5EF4-FFF2-40B4-BE49-F238E27FC236}">
                <a16:creationId xmlns:a16="http://schemas.microsoft.com/office/drawing/2014/main" id="{89DBB243-EF27-4345-872D-E76597E95619}"/>
              </a:ext>
            </a:extLst>
          </p:cNvPr>
          <p:cNvSpPr/>
          <p:nvPr/>
        </p:nvSpPr>
        <p:spPr>
          <a:xfrm>
            <a:off x="23233225" y="2948475"/>
            <a:ext cx="12501946" cy="14667721"/>
          </a:xfrm>
          <a:prstGeom prst="rect">
            <a:avLst/>
          </a:prstGeom>
        </p:spPr>
        <p:txBody>
          <a:bodyPr wrap="square">
            <a:normAutofit lnSpcReduction="10000"/>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keyword </a:t>
            </a:r>
            <a:r>
              <a:rPr lang="en-US" sz="6400" b="1" dirty="0">
                <a:latin typeface="Open Sans" panose="020B0606030504020204" pitchFamily="34" charset="0"/>
                <a:ea typeface="Open Sans" panose="020B0606030504020204" pitchFamily="34"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is commonly used with constructors and setters, and optionally used in getters.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example, we're using the </a:t>
            </a:r>
            <a:r>
              <a:rPr lang="en-US" sz="6400" b="1" dirty="0">
                <a:latin typeface="Open Sans" panose="020B0606030504020204" pitchFamily="34" charset="0"/>
                <a:ea typeface="Open Sans" panose="020B0606030504020204" pitchFamily="34"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keyword in the </a:t>
            </a:r>
            <a:r>
              <a:rPr lang="en-US" sz="6400" b="1" dirty="0">
                <a:latin typeface="Open Sans" panose="020B0606030504020204" pitchFamily="34" charset="0"/>
                <a:ea typeface="Open Sans" panose="020B0606030504020204" pitchFamily="34" charset="0"/>
                <a:cs typeface="Open Sans" panose="020B0606030504020204" pitchFamily="34" charset="0"/>
              </a:rPr>
              <a:t>constructor</a:t>
            </a:r>
            <a:r>
              <a:rPr lang="en-US" sz="6400" dirty="0">
                <a:latin typeface="Open Sans" panose="020B0606030504020204" pitchFamily="34" charset="0"/>
                <a:ea typeface="Open Sans" panose="020B0606030504020204" pitchFamily="34" charset="0"/>
                <a:cs typeface="Open Sans" panose="020B0606030504020204" pitchFamily="34" charset="0"/>
              </a:rPr>
              <a:t> and </a:t>
            </a:r>
            <a:r>
              <a:rPr lang="en-US" sz="6400" b="1" dirty="0">
                <a:latin typeface="Open Sans" panose="020B0606030504020204" pitchFamily="34" charset="0"/>
                <a:ea typeface="Open Sans" panose="020B0606030504020204" pitchFamily="34" charset="0"/>
                <a:cs typeface="Open Sans" panose="020B0606030504020204" pitchFamily="34" charset="0"/>
              </a:rPr>
              <a:t>setter</a:t>
            </a:r>
            <a:r>
              <a:rPr lang="en-US" sz="6400" dirty="0">
                <a:latin typeface="Open Sans" panose="020B0606030504020204" pitchFamily="34" charset="0"/>
                <a:ea typeface="Open Sans" panose="020B0606030504020204" pitchFamily="34" charset="0"/>
                <a:cs typeface="Open Sans" panose="020B0606030504020204" pitchFamily="34" charset="0"/>
              </a:rPr>
              <a:t>, since there's a parameter with the same name, as the instance or field.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the getter we don't have any parameters, so there's no conflict, so therefore the </a:t>
            </a:r>
            <a:r>
              <a:rPr lang="en-US" sz="6400" b="1" dirty="0">
                <a:latin typeface="Open Sans" panose="020B0606030504020204" pitchFamily="34" charset="0"/>
                <a:ea typeface="Open Sans" panose="020B0606030504020204" pitchFamily="34"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keyword is optional there.</a:t>
            </a:r>
          </a:p>
        </p:txBody>
      </p:sp>
      <p:pic>
        <p:nvPicPr>
          <p:cNvPr id="3" name="Picture 2">
            <a:extLst>
              <a:ext uri="{FF2B5EF4-FFF2-40B4-BE49-F238E27FC236}">
                <a16:creationId xmlns:a16="http://schemas.microsoft.com/office/drawing/2014/main" id="{197965A2-EFFA-9943-93D3-E24C2256EF22}"/>
              </a:ext>
            </a:extLst>
          </p:cNvPr>
          <p:cNvPicPr>
            <a:picLocks noChangeAspect="1"/>
          </p:cNvPicPr>
          <p:nvPr/>
        </p:nvPicPr>
        <p:blipFill>
          <a:blip r:embed="rId4"/>
          <a:stretch>
            <a:fillRect/>
          </a:stretch>
        </p:blipFill>
        <p:spPr>
          <a:xfrm>
            <a:off x="952498" y="3797987"/>
            <a:ext cx="21608922" cy="12978027"/>
          </a:xfrm>
          <a:prstGeom prst="rect">
            <a:avLst/>
          </a:prstGeom>
        </p:spPr>
      </p:pic>
    </p:spTree>
    <p:extLst>
      <p:ext uri="{BB962C8B-B14F-4D97-AF65-F5344CB8AC3E}">
        <p14:creationId xmlns:p14="http://schemas.microsoft.com/office/powerpoint/2010/main" val="2335596494"/>
      </p:ext>
    </p:extLst>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86648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Keyword super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this vs super</a:t>
            </a:r>
          </a:p>
        </p:txBody>
      </p:sp>
      <p:sp>
        <p:nvSpPr>
          <p:cNvPr id="8" name="Rectangle 7">
            <a:extLst>
              <a:ext uri="{FF2B5EF4-FFF2-40B4-BE49-F238E27FC236}">
                <a16:creationId xmlns:a16="http://schemas.microsoft.com/office/drawing/2014/main" id="{89DBB243-EF27-4345-872D-E76597E95619}"/>
              </a:ext>
            </a:extLst>
          </p:cNvPr>
          <p:cNvSpPr/>
          <p:nvPr/>
        </p:nvSpPr>
        <p:spPr>
          <a:xfrm>
            <a:off x="23233225" y="2948475"/>
            <a:ext cx="12501946" cy="14667721"/>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keyword </a:t>
            </a:r>
            <a:r>
              <a:rPr lang="en-US" sz="6400" b="1" dirty="0">
                <a:latin typeface="Open Sans" panose="020B0606030504020204" pitchFamily="34" charset="0"/>
                <a:ea typeface="Open Sans" panose="020B0606030504020204" pitchFamily="34"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is commonly used with </a:t>
            </a:r>
            <a:r>
              <a:rPr lang="en-US" sz="6400" b="1" dirty="0">
                <a:latin typeface="Open Sans" panose="020B0606030504020204" pitchFamily="34" charset="0"/>
                <a:ea typeface="Open Sans" panose="020B0606030504020204" pitchFamily="34" charset="0"/>
                <a:cs typeface="Open Sans" panose="020B0606030504020204" pitchFamily="34" charset="0"/>
              </a:rPr>
              <a:t>method overriding</a:t>
            </a:r>
            <a:r>
              <a:rPr lang="en-US" sz="6400" dirty="0">
                <a:latin typeface="Open Sans" panose="020B0606030504020204" pitchFamily="34" charset="0"/>
                <a:ea typeface="Open Sans" panose="020B0606030504020204" pitchFamily="34" charset="0"/>
                <a:cs typeface="Open Sans" panose="020B0606030504020204" pitchFamily="34" charset="0"/>
              </a:rPr>
              <a:t>, when we call a method with the same name, from the parent class.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example, we have a method called </a:t>
            </a:r>
            <a:r>
              <a:rPr lang="en-US" sz="6400" b="1" dirty="0" err="1">
                <a:latin typeface="Open Sans" panose="020B0606030504020204" pitchFamily="34" charset="0"/>
                <a:ea typeface="Open Sans" panose="020B0606030504020204" pitchFamily="34" charset="0"/>
                <a:cs typeface="Open Sans" panose="020B0606030504020204" pitchFamily="34" charset="0"/>
              </a:rPr>
              <a:t>printMethod</a:t>
            </a:r>
            <a:r>
              <a:rPr lang="en-US" sz="6400" dirty="0">
                <a:latin typeface="Open Sans" panose="020B0606030504020204" pitchFamily="34" charset="0"/>
                <a:ea typeface="Open Sans" panose="020B0606030504020204" pitchFamily="34" charset="0"/>
                <a:cs typeface="Open Sans" panose="020B0606030504020204" pitchFamily="34" charset="0"/>
              </a:rPr>
              <a:t>, that calls </a:t>
            </a:r>
            <a:r>
              <a:rPr lang="en-US" sz="6400" b="1" dirty="0" err="1">
                <a:latin typeface="Open Sans" panose="020B0606030504020204" pitchFamily="34" charset="0"/>
                <a:ea typeface="Open Sans" panose="020B0606030504020204" pitchFamily="34" charset="0"/>
                <a:cs typeface="Open Sans" panose="020B0606030504020204" pitchFamily="34" charset="0"/>
              </a:rPr>
              <a:t>super.printMethod</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pic>
        <p:nvPicPr>
          <p:cNvPr id="7" name="Picture 6">
            <a:extLst>
              <a:ext uri="{FF2B5EF4-FFF2-40B4-BE49-F238E27FC236}">
                <a16:creationId xmlns:a16="http://schemas.microsoft.com/office/drawing/2014/main" id="{80CA3888-4E27-42A6-6AFA-7660EE6A6F74}"/>
              </a:ext>
            </a:extLst>
          </p:cNvPr>
          <p:cNvPicPr>
            <a:picLocks noChangeAspect="1"/>
          </p:cNvPicPr>
          <p:nvPr/>
        </p:nvPicPr>
        <p:blipFill>
          <a:blip r:embed="rId4"/>
          <a:stretch>
            <a:fillRect/>
          </a:stretch>
        </p:blipFill>
        <p:spPr>
          <a:xfrm>
            <a:off x="952497" y="3150532"/>
            <a:ext cx="21888841" cy="14272937"/>
          </a:xfrm>
          <a:prstGeom prst="rect">
            <a:avLst/>
          </a:prstGeom>
        </p:spPr>
      </p:pic>
    </p:spTree>
    <p:extLst>
      <p:ext uri="{BB962C8B-B14F-4D97-AF65-F5344CB8AC3E}">
        <p14:creationId xmlns:p14="http://schemas.microsoft.com/office/powerpoint/2010/main" val="2110984124"/>
      </p:ext>
    </p:extLst>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41044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this() vs super() call</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this vs super</a:t>
            </a:r>
          </a:p>
        </p:txBody>
      </p:sp>
      <p:sp>
        <p:nvSpPr>
          <p:cNvPr id="2" name="Rectangle 1">
            <a:extLst>
              <a:ext uri="{FF2B5EF4-FFF2-40B4-BE49-F238E27FC236}">
                <a16:creationId xmlns:a16="http://schemas.microsoft.com/office/drawing/2014/main" id="{588E3734-4417-856A-EBF2-3CF47593C106}"/>
              </a:ext>
            </a:extLst>
          </p:cNvPr>
          <p:cNvSpPr/>
          <p:nvPr/>
        </p:nvSpPr>
        <p:spPr>
          <a:xfrm>
            <a:off x="952501" y="4285903"/>
            <a:ext cx="34782670" cy="13442258"/>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Java we've got the </a:t>
            </a:r>
            <a:r>
              <a:rPr lang="en-US" sz="6400" b="1"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and </a:t>
            </a:r>
            <a:r>
              <a:rPr lang="en-US" sz="6400" b="1" dirty="0">
                <a:latin typeface="Roboto Mono" panose="00000009000000000000" pitchFamily="49" charset="0"/>
                <a:ea typeface="Roboto Mono" panose="00000009000000000000" pitchFamily="49"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call. Notice the parentheses.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are known as calls, since it looks like a regular method call, although we're calling certain constructors.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Use </a:t>
            </a:r>
            <a:r>
              <a:rPr lang="en-US" sz="6400" b="1"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to call a constructor, from another overloaded constructor in the same class.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call to </a:t>
            </a:r>
            <a:r>
              <a:rPr lang="en-US" sz="6400" b="1"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can only be used in a constructor, and it must be the first statement in a constructor.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used with constructor chaining, in other words when one constructor calls another constructor, and it helps to reduce duplicated code.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only way to call a parent constructor, is by calling </a:t>
            </a:r>
            <a:r>
              <a:rPr lang="en-US" sz="6400" b="1" dirty="0">
                <a:latin typeface="Roboto Mono" panose="00000009000000000000" pitchFamily="49" charset="0"/>
                <a:ea typeface="Roboto Mono" panose="00000009000000000000" pitchFamily="49"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which calls the parent constructor.</a:t>
            </a:r>
          </a:p>
        </p:txBody>
      </p:sp>
    </p:spTree>
    <p:extLst>
      <p:ext uri="{BB962C8B-B14F-4D97-AF65-F5344CB8AC3E}">
        <p14:creationId xmlns:p14="http://schemas.microsoft.com/office/powerpoint/2010/main" val="1773480459"/>
      </p:ext>
    </p:extLst>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410449"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this() vs super() call</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this vs super</a:t>
            </a:r>
          </a:p>
        </p:txBody>
      </p:sp>
      <p:sp>
        <p:nvSpPr>
          <p:cNvPr id="2" name="Rectangle 1">
            <a:extLst>
              <a:ext uri="{FF2B5EF4-FFF2-40B4-BE49-F238E27FC236}">
                <a16:creationId xmlns:a16="http://schemas.microsoft.com/office/drawing/2014/main" id="{588E3734-4417-856A-EBF2-3CF47593C106}"/>
              </a:ext>
            </a:extLst>
          </p:cNvPr>
          <p:cNvSpPr/>
          <p:nvPr/>
        </p:nvSpPr>
        <p:spPr>
          <a:xfrm>
            <a:off x="952501" y="4285903"/>
            <a:ext cx="34782670" cy="13442258"/>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Java compiler puts a default call to </a:t>
            </a:r>
            <a:r>
              <a:rPr lang="en-US" sz="6400" b="1" dirty="0">
                <a:latin typeface="Roboto Mono" panose="00000009000000000000" pitchFamily="49" charset="0"/>
                <a:ea typeface="Roboto Mono" panose="00000009000000000000" pitchFamily="49"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if we don't add it, and it's always a call to the no </a:t>
            </a:r>
            <a:r>
              <a:rPr lang="en-US" sz="6400">
                <a:latin typeface="Open Sans" panose="020B0606030504020204" pitchFamily="34" charset="0"/>
                <a:ea typeface="Open Sans" panose="020B0606030504020204" pitchFamily="34" charset="0"/>
                <a:cs typeface="Open Sans" panose="020B0606030504020204" pitchFamily="34" charset="0"/>
              </a:rPr>
              <a:t>argument constructor, </a:t>
            </a:r>
            <a:r>
              <a:rPr lang="en-US" sz="6400" dirty="0">
                <a:latin typeface="Open Sans" panose="020B0606030504020204" pitchFamily="34" charset="0"/>
                <a:ea typeface="Open Sans" panose="020B0606030504020204" pitchFamily="34" charset="0"/>
                <a:cs typeface="Open Sans" panose="020B0606030504020204" pitchFamily="34" charset="0"/>
              </a:rPr>
              <a:t>which is inserted by the compiler.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call to </a:t>
            </a:r>
            <a:r>
              <a:rPr lang="en-US" sz="6400" b="1" dirty="0">
                <a:latin typeface="Roboto Mono" panose="00000009000000000000" pitchFamily="49" charset="0"/>
                <a:ea typeface="Roboto Mono" panose="00000009000000000000" pitchFamily="49"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must be the first statement in each constructor.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constructor can have a call to </a:t>
            </a:r>
            <a:r>
              <a:rPr lang="en-US" sz="6400" b="1" dirty="0">
                <a:latin typeface="Roboto Mono" panose="00000009000000000000" pitchFamily="49" charset="0"/>
                <a:ea typeface="Roboto Mono" panose="00000009000000000000" pitchFamily="49"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but never both.</a:t>
            </a:r>
          </a:p>
        </p:txBody>
      </p:sp>
    </p:spTree>
    <p:extLst>
      <p:ext uri="{BB962C8B-B14F-4D97-AF65-F5344CB8AC3E}">
        <p14:creationId xmlns:p14="http://schemas.microsoft.com/office/powerpoint/2010/main" val="3885480922"/>
      </p:ext>
    </p:extLst>
  </p:cSld>
  <p:clrMapOvr>
    <a:masterClrMapping/>
  </p:clrMapOvr>
  <p:transition spd="slow"/>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25793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Constructors Bad Example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this vs super</a:t>
            </a:r>
          </a:p>
        </p:txBody>
      </p:sp>
      <p:sp>
        <p:nvSpPr>
          <p:cNvPr id="3" name="Rectangle 2">
            <a:extLst>
              <a:ext uri="{FF2B5EF4-FFF2-40B4-BE49-F238E27FC236}">
                <a16:creationId xmlns:a16="http://schemas.microsoft.com/office/drawing/2014/main" id="{509EC776-2285-AC3E-15B6-7DDA0302A711}"/>
              </a:ext>
            </a:extLst>
          </p:cNvPr>
          <p:cNvSpPr/>
          <p:nvPr/>
        </p:nvSpPr>
        <p:spPr>
          <a:xfrm>
            <a:off x="17317616" y="2948475"/>
            <a:ext cx="18417555" cy="14667721"/>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Here, we have three constructors.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All three constructors initialize variables.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There's repeated code in each constructor.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We're initializing variables in each constructor, with some default values.</a:t>
            </a:r>
          </a:p>
          <a:p>
            <a:pPr algn="l">
              <a:spcAft>
                <a:spcPts val="5022"/>
              </a:spcAft>
            </a:pPr>
            <a:r>
              <a:rPr lang="en-US" sz="6400" b="1" dirty="0">
                <a:latin typeface="Open Sans" panose="020B0606030504020204" pitchFamily="34" charset="0"/>
                <a:ea typeface="Open Sans" panose="020B0606030504020204" pitchFamily="34" charset="0"/>
                <a:cs typeface="Open Sans" panose="020B0606030504020204" pitchFamily="34" charset="0"/>
              </a:rPr>
              <a:t>You should never write constructors like this.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Let's look at the right way to do this, by using a </a:t>
            </a:r>
            <a:r>
              <a:rPr lang="en-US" sz="6400" b="1"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call.</a:t>
            </a:r>
          </a:p>
        </p:txBody>
      </p:sp>
      <p:pic>
        <p:nvPicPr>
          <p:cNvPr id="5" name="Picture 4">
            <a:extLst>
              <a:ext uri="{FF2B5EF4-FFF2-40B4-BE49-F238E27FC236}">
                <a16:creationId xmlns:a16="http://schemas.microsoft.com/office/drawing/2014/main" id="{B7247E02-A7C6-C5C6-5776-0FF68258C568}"/>
              </a:ext>
            </a:extLst>
          </p:cNvPr>
          <p:cNvPicPr>
            <a:picLocks noChangeAspect="1"/>
          </p:cNvPicPr>
          <p:nvPr/>
        </p:nvPicPr>
        <p:blipFill>
          <a:blip r:embed="rId4"/>
          <a:stretch>
            <a:fillRect/>
          </a:stretch>
        </p:blipFill>
        <p:spPr>
          <a:xfrm>
            <a:off x="952498" y="2554877"/>
            <a:ext cx="15655992" cy="15401341"/>
          </a:xfrm>
          <a:prstGeom prst="rect">
            <a:avLst/>
          </a:prstGeom>
        </p:spPr>
      </p:pic>
    </p:spTree>
    <p:extLst>
      <p:ext uri="{BB962C8B-B14F-4D97-AF65-F5344CB8AC3E}">
        <p14:creationId xmlns:p14="http://schemas.microsoft.com/office/powerpoint/2010/main" val="795828647"/>
      </p:ext>
    </p:extLst>
  </p:cSld>
  <p:clrMapOvr>
    <a:masterClrMapping/>
  </p:clrMapOvr>
  <p:transition spd="slow"/>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827102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Constructors Good Example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this vs super</a:t>
            </a:r>
          </a:p>
        </p:txBody>
      </p:sp>
      <p:sp>
        <p:nvSpPr>
          <p:cNvPr id="3" name="Rectangle 2">
            <a:extLst>
              <a:ext uri="{FF2B5EF4-FFF2-40B4-BE49-F238E27FC236}">
                <a16:creationId xmlns:a16="http://schemas.microsoft.com/office/drawing/2014/main" id="{509EC776-2285-AC3E-15B6-7DDA0302A711}"/>
              </a:ext>
            </a:extLst>
          </p:cNvPr>
          <p:cNvSpPr/>
          <p:nvPr/>
        </p:nvSpPr>
        <p:spPr>
          <a:xfrm>
            <a:off x="18445148" y="2948475"/>
            <a:ext cx="17290023" cy="14667721"/>
          </a:xfrm>
          <a:prstGeom prst="rect">
            <a:avLst/>
          </a:prstGeom>
        </p:spPr>
        <p:txBody>
          <a:bodyPr wrap="square">
            <a:normAutofit lnSpcReduction="10000"/>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example, we still have three constructors.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1st constructor calls the 2nd constructor, the 2nd constructor calls the 3rd constructor, and the 3rd constructor initializes the instance variables.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3rd constructor does all the work.</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No matter what constructor we call, the variables will always be initialized in the 3rd constructor.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known as constructor chaining, the last constructor has the </a:t>
            </a:r>
            <a:r>
              <a:rPr lang="en-US" sz="6400" b="1" dirty="0">
                <a:latin typeface="Open Sans" panose="020B0606030504020204" pitchFamily="34" charset="0"/>
                <a:ea typeface="Open Sans" panose="020B0606030504020204" pitchFamily="34" charset="0"/>
                <a:cs typeface="Open Sans" panose="020B0606030504020204" pitchFamily="34" charset="0"/>
              </a:rPr>
              <a:t>responsibility</a:t>
            </a:r>
            <a:r>
              <a:rPr lang="en-US" sz="6400" dirty="0">
                <a:latin typeface="Open Sans" panose="020B0606030504020204" pitchFamily="34" charset="0"/>
                <a:ea typeface="Open Sans" panose="020B0606030504020204" pitchFamily="34" charset="0"/>
                <a:cs typeface="Open Sans" panose="020B0606030504020204" pitchFamily="34" charset="0"/>
              </a:rPr>
              <a:t> to initialize the variables.</a:t>
            </a:r>
          </a:p>
        </p:txBody>
      </p:sp>
      <p:pic>
        <p:nvPicPr>
          <p:cNvPr id="4" name="Picture 3">
            <a:extLst>
              <a:ext uri="{FF2B5EF4-FFF2-40B4-BE49-F238E27FC236}">
                <a16:creationId xmlns:a16="http://schemas.microsoft.com/office/drawing/2014/main" id="{194275F2-4D6D-B6AB-F448-B277FE96D0AA}"/>
              </a:ext>
            </a:extLst>
          </p:cNvPr>
          <p:cNvPicPr>
            <a:picLocks noChangeAspect="1"/>
          </p:cNvPicPr>
          <p:nvPr/>
        </p:nvPicPr>
        <p:blipFill>
          <a:blip r:embed="rId4"/>
          <a:stretch>
            <a:fillRect/>
          </a:stretch>
        </p:blipFill>
        <p:spPr>
          <a:xfrm>
            <a:off x="952498" y="2578204"/>
            <a:ext cx="17290023" cy="15353102"/>
          </a:xfrm>
          <a:prstGeom prst="rect">
            <a:avLst/>
          </a:prstGeom>
        </p:spPr>
      </p:pic>
    </p:spTree>
    <p:extLst>
      <p:ext uri="{BB962C8B-B14F-4D97-AF65-F5344CB8AC3E}">
        <p14:creationId xmlns:p14="http://schemas.microsoft.com/office/powerpoint/2010/main" val="2017806323"/>
      </p:ext>
    </p:extLst>
  </p:cSld>
  <p:clrMapOvr>
    <a:masterClrMapping/>
  </p:clrMapOvr>
  <p:transition spd="slow"/>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28197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Comparing Both Examples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this vs super</a:t>
            </a:r>
          </a:p>
        </p:txBody>
      </p:sp>
      <p:pic>
        <p:nvPicPr>
          <p:cNvPr id="4" name="Picture 3">
            <a:extLst>
              <a:ext uri="{FF2B5EF4-FFF2-40B4-BE49-F238E27FC236}">
                <a16:creationId xmlns:a16="http://schemas.microsoft.com/office/drawing/2014/main" id="{194275F2-4D6D-B6AB-F448-B277FE96D0AA}"/>
              </a:ext>
            </a:extLst>
          </p:cNvPr>
          <p:cNvPicPr>
            <a:picLocks noChangeAspect="1"/>
          </p:cNvPicPr>
          <p:nvPr/>
        </p:nvPicPr>
        <p:blipFill>
          <a:blip r:embed="rId4"/>
          <a:stretch>
            <a:fillRect/>
          </a:stretch>
        </p:blipFill>
        <p:spPr>
          <a:xfrm>
            <a:off x="18764252" y="2550412"/>
            <a:ext cx="16356172" cy="14523866"/>
          </a:xfrm>
          <a:prstGeom prst="rect">
            <a:avLst/>
          </a:prstGeom>
        </p:spPr>
      </p:pic>
      <p:pic>
        <p:nvPicPr>
          <p:cNvPr id="6" name="Picture 5">
            <a:extLst>
              <a:ext uri="{FF2B5EF4-FFF2-40B4-BE49-F238E27FC236}">
                <a16:creationId xmlns:a16="http://schemas.microsoft.com/office/drawing/2014/main" id="{1ADC0A86-3BC2-A5DB-F4A6-90C8803D2EAF}"/>
              </a:ext>
            </a:extLst>
          </p:cNvPr>
          <p:cNvPicPr>
            <a:picLocks noChangeAspect="1"/>
          </p:cNvPicPr>
          <p:nvPr/>
        </p:nvPicPr>
        <p:blipFill>
          <a:blip r:embed="rId5"/>
          <a:stretch>
            <a:fillRect/>
          </a:stretch>
        </p:blipFill>
        <p:spPr>
          <a:xfrm>
            <a:off x="2155759" y="2554877"/>
            <a:ext cx="15655991" cy="15401341"/>
          </a:xfrm>
          <a:prstGeom prst="rect">
            <a:avLst/>
          </a:prstGeom>
        </p:spPr>
      </p:pic>
      <p:sp>
        <p:nvSpPr>
          <p:cNvPr id="12" name="Rectangle 11">
            <a:extLst>
              <a:ext uri="{FF2B5EF4-FFF2-40B4-BE49-F238E27FC236}">
                <a16:creationId xmlns:a16="http://schemas.microsoft.com/office/drawing/2014/main" id="{4AFCA556-51D0-9EDC-FDA5-BAAD7F46AD95}"/>
              </a:ext>
            </a:extLst>
          </p:cNvPr>
          <p:cNvSpPr/>
          <p:nvPr/>
        </p:nvSpPr>
        <p:spPr>
          <a:xfrm>
            <a:off x="11218508" y="3290817"/>
            <a:ext cx="4385388" cy="1456809"/>
          </a:xfrm>
          <a:prstGeom prst="rect">
            <a:avLst/>
          </a:prstGeom>
          <a:noFill/>
          <a:ln w="76200">
            <a:solidFill>
              <a:srgbClr val="FF0000"/>
            </a:solidFill>
          </a:ln>
        </p:spPr>
        <p:style>
          <a:lnRef idx="2">
            <a:schemeClr val="accent5">
              <a:shade val="50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8800" b="1" i="0" u="none" strike="noStrike" cap="none" spc="0" normalizeH="0" baseline="0" dirty="0">
                <a:ln>
                  <a:noFill/>
                </a:ln>
                <a:solidFill>
                  <a:srgbClr val="FF0000"/>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rPr>
              <a:t>BAD</a:t>
            </a:r>
            <a:endParaRPr kumimoji="0" lang="en-PH" sz="8800" b="1" i="0" u="none" strike="noStrike" cap="none" spc="0" normalizeH="0" baseline="0" dirty="0">
              <a:ln>
                <a:noFill/>
              </a:ln>
              <a:solidFill>
                <a:srgbClr val="FF0000"/>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14" name="Rectangle 13">
            <a:extLst>
              <a:ext uri="{FF2B5EF4-FFF2-40B4-BE49-F238E27FC236}">
                <a16:creationId xmlns:a16="http://schemas.microsoft.com/office/drawing/2014/main" id="{3D8DA735-93B4-E89D-6371-D2CD023BDA77}"/>
              </a:ext>
            </a:extLst>
          </p:cNvPr>
          <p:cNvSpPr/>
          <p:nvPr/>
        </p:nvSpPr>
        <p:spPr>
          <a:xfrm>
            <a:off x="29353957" y="3290817"/>
            <a:ext cx="4385388" cy="1456809"/>
          </a:xfrm>
          <a:prstGeom prst="rect">
            <a:avLst/>
          </a:prstGeom>
          <a:noFill/>
          <a:ln w="76200">
            <a:solidFill>
              <a:srgbClr val="00B050"/>
            </a:solidFill>
          </a:ln>
        </p:spPr>
        <p:style>
          <a:lnRef idx="2">
            <a:schemeClr val="accent5">
              <a:shade val="50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8800" b="1" i="0" u="none" strike="noStrike" cap="none" spc="0" normalizeH="0" baseline="0" dirty="0">
                <a:ln>
                  <a:noFill/>
                </a:ln>
                <a:solidFill>
                  <a:srgbClr val="00B050"/>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rPr>
              <a:t>GOOD</a:t>
            </a:r>
            <a:endParaRPr kumimoji="0" lang="en-PH" sz="8800" b="1" i="0" u="none" strike="noStrike" cap="none" spc="0" normalizeH="0" baseline="0" dirty="0">
              <a:ln>
                <a:noFill/>
              </a:ln>
              <a:solidFill>
                <a:srgbClr val="00B050"/>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Tree>
    <p:extLst>
      <p:ext uri="{BB962C8B-B14F-4D97-AF65-F5344CB8AC3E}">
        <p14:creationId xmlns:p14="http://schemas.microsoft.com/office/powerpoint/2010/main" val="1550400073"/>
      </p:ext>
    </p:extLst>
  </p:cSld>
  <p:clrMapOvr>
    <a:masterClrMapping/>
  </p:clrMapOvr>
  <p:transition spd="slow"/>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3066077"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super() call example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this vs super</a:t>
            </a:r>
          </a:p>
        </p:txBody>
      </p:sp>
      <p:sp>
        <p:nvSpPr>
          <p:cNvPr id="3" name="Rectangle 2">
            <a:extLst>
              <a:ext uri="{FF2B5EF4-FFF2-40B4-BE49-F238E27FC236}">
                <a16:creationId xmlns:a16="http://schemas.microsoft.com/office/drawing/2014/main" id="{509EC776-2285-AC3E-15B6-7DDA0302A711}"/>
              </a:ext>
            </a:extLst>
          </p:cNvPr>
          <p:cNvSpPr/>
          <p:nvPr/>
        </p:nvSpPr>
        <p:spPr>
          <a:xfrm>
            <a:off x="17597536" y="2948475"/>
            <a:ext cx="18137636" cy="14667721"/>
          </a:xfrm>
          <a:prstGeom prst="rect">
            <a:avLst/>
          </a:prstGeom>
        </p:spPr>
        <p:txBody>
          <a:bodyPr wrap="square">
            <a:normAutofit lnSpcReduction="10000"/>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example, we have a class </a:t>
            </a:r>
            <a:r>
              <a:rPr lang="en-US" sz="6400" b="1" dirty="0">
                <a:latin typeface="Open Sans" panose="020B0606030504020204" pitchFamily="34" charset="0"/>
                <a:ea typeface="Open Sans" panose="020B0606030504020204" pitchFamily="34" charset="0"/>
                <a:cs typeface="Open Sans" panose="020B0606030504020204" pitchFamily="34" charset="0"/>
              </a:rPr>
              <a:t>Shape</a:t>
            </a:r>
            <a:r>
              <a:rPr lang="en-US" sz="6400" dirty="0">
                <a:latin typeface="Open Sans" panose="020B0606030504020204" pitchFamily="34" charset="0"/>
                <a:ea typeface="Open Sans" panose="020B0606030504020204" pitchFamily="34" charset="0"/>
                <a:cs typeface="Open Sans" panose="020B0606030504020204" pitchFamily="34" charset="0"/>
              </a:rPr>
              <a:t>, with x and y variables, and a class </a:t>
            </a:r>
            <a:r>
              <a:rPr lang="en-US" sz="6400" b="1" dirty="0">
                <a:latin typeface="Open Sans" panose="020B0606030504020204" pitchFamily="34" charset="0"/>
                <a:ea typeface="Open Sans" panose="020B0606030504020204" pitchFamily="34" charset="0"/>
                <a:cs typeface="Open Sans" panose="020B0606030504020204" pitchFamily="34" charset="0"/>
              </a:rPr>
              <a:t>Rectangle</a:t>
            </a:r>
            <a:r>
              <a:rPr lang="en-US" sz="6400" dirty="0">
                <a:latin typeface="Open Sans" panose="020B0606030504020204" pitchFamily="34" charset="0"/>
                <a:ea typeface="Open Sans" panose="020B0606030504020204" pitchFamily="34" charset="0"/>
                <a:cs typeface="Open Sans" panose="020B0606030504020204" pitchFamily="34" charset="0"/>
              </a:rPr>
              <a:t> that extends </a:t>
            </a:r>
            <a:r>
              <a:rPr lang="en-US" sz="6400" b="1" dirty="0">
                <a:latin typeface="Open Sans" panose="020B0606030504020204" pitchFamily="34" charset="0"/>
                <a:ea typeface="Open Sans" panose="020B0606030504020204" pitchFamily="34" charset="0"/>
                <a:cs typeface="Open Sans" panose="020B0606030504020204" pitchFamily="34" charset="0"/>
              </a:rPr>
              <a:t>Shape</a:t>
            </a:r>
            <a:r>
              <a:rPr lang="en-US" sz="6400" dirty="0">
                <a:latin typeface="Open Sans" panose="020B0606030504020204" pitchFamily="34" charset="0"/>
                <a:ea typeface="Open Sans" panose="020B0606030504020204" pitchFamily="34" charset="0"/>
                <a:cs typeface="Open Sans" panose="020B0606030504020204" pitchFamily="34" charset="0"/>
              </a:rPr>
              <a:t>, with variables width and height.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the Rectangle class, the 1st constructor is calling the 2nd constructor.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2nd constructor calls the parent constructor, with parameters x and y.</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parent constructor will initialize the x and y variables, while the 2nd Rectangle constructor will initialize the width and height variables.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Here, we have both the </a:t>
            </a:r>
            <a:r>
              <a:rPr lang="en-US" sz="6400" b="1" dirty="0">
                <a:latin typeface="Roboto Mono" panose="00000009000000000000" pitchFamily="49" charset="0"/>
                <a:ea typeface="Roboto Mono" panose="00000009000000000000" pitchFamily="49" charset="0"/>
                <a:cs typeface="Open Sans" panose="020B0606030504020204" pitchFamily="34" charset="0"/>
              </a:rPr>
              <a:t>super()</a:t>
            </a:r>
            <a:r>
              <a:rPr lang="en-US" sz="6400" dirty="0">
                <a:latin typeface="Open Sans" panose="020B0606030504020204" pitchFamily="34" charset="0"/>
                <a:ea typeface="Open Sans" panose="020B0606030504020204" pitchFamily="34" charset="0"/>
                <a:cs typeface="Open Sans" panose="020B0606030504020204" pitchFamily="34" charset="0"/>
              </a:rPr>
              <a:t> and </a:t>
            </a:r>
            <a:r>
              <a:rPr lang="en-US" sz="6400" b="1" dirty="0">
                <a:latin typeface="Roboto Mono" panose="00000009000000000000" pitchFamily="49" charset="0"/>
                <a:ea typeface="Roboto Mono" panose="00000009000000000000" pitchFamily="49" charset="0"/>
                <a:cs typeface="Open Sans" panose="020B0606030504020204" pitchFamily="34" charset="0"/>
              </a:rPr>
              <a:t>this()</a:t>
            </a:r>
            <a:r>
              <a:rPr lang="en-US" sz="6400" dirty="0">
                <a:latin typeface="Open Sans" panose="020B0606030504020204" pitchFamily="34" charset="0"/>
                <a:ea typeface="Open Sans" panose="020B0606030504020204" pitchFamily="34" charset="0"/>
                <a:cs typeface="Open Sans" panose="020B0606030504020204" pitchFamily="34" charset="0"/>
              </a:rPr>
              <a:t> calls.</a:t>
            </a:r>
          </a:p>
        </p:txBody>
      </p:sp>
      <p:pic>
        <p:nvPicPr>
          <p:cNvPr id="5" name="Picture 4">
            <a:extLst>
              <a:ext uri="{FF2B5EF4-FFF2-40B4-BE49-F238E27FC236}">
                <a16:creationId xmlns:a16="http://schemas.microsoft.com/office/drawing/2014/main" id="{0435CD0F-E101-FD2F-45CA-D534BC801906}"/>
              </a:ext>
            </a:extLst>
          </p:cNvPr>
          <p:cNvPicPr>
            <a:picLocks noChangeAspect="1"/>
          </p:cNvPicPr>
          <p:nvPr/>
        </p:nvPicPr>
        <p:blipFill>
          <a:blip r:embed="rId4"/>
          <a:stretch>
            <a:fillRect/>
          </a:stretch>
        </p:blipFill>
        <p:spPr>
          <a:xfrm>
            <a:off x="952498" y="2554876"/>
            <a:ext cx="16444387" cy="15300164"/>
          </a:xfrm>
          <a:prstGeom prst="rect">
            <a:avLst/>
          </a:prstGeom>
        </p:spPr>
      </p:pic>
    </p:spTree>
    <p:extLst>
      <p:ext uri="{BB962C8B-B14F-4D97-AF65-F5344CB8AC3E}">
        <p14:creationId xmlns:p14="http://schemas.microsoft.com/office/powerpoint/2010/main" val="1464754792"/>
      </p:ext>
    </p:extLst>
  </p:cSld>
  <p:clrMapOvr>
    <a:masterClrMapping/>
  </p:clrMapOvr>
  <p:transition spd="slow"/>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2358685"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Method Overriding vs Overloading</a:t>
            </a:r>
            <a:endParaRPr lang="en-US" sz="10800" dirty="0">
              <a:latin typeface="Open Sans" panose="020B0606030504020204" pitchFamily="34" charset="0"/>
              <a:ea typeface="Open Sans" panose="020B0606030504020204" pitchFamily="34" charset="0"/>
              <a:cs typeface="Open Sans" panose="020B0606030504020204" pitchFamily="34" charset="0"/>
            </a:endParaRP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Let's review the </a:t>
            </a:r>
            <a:r>
              <a:rPr lang="en-US" sz="6400" b="1" dirty="0">
                <a:latin typeface="Open Sans" panose="020B0606030504020204" pitchFamily="34" charset="0"/>
                <a:ea typeface="Open Sans" panose="020B0606030504020204" pitchFamily="34" charset="0"/>
                <a:cs typeface="Open Sans" panose="020B0606030504020204" pitchFamily="34" charset="0"/>
              </a:rPr>
              <a:t>main differences between method overriding and method overloading</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3462662854"/>
      </p:ext>
    </p:extLst>
  </p:cSld>
  <p:clrMapOvr>
    <a:masterClrMapping/>
  </p:clrMapOvr>
  <p:transition spd="slow"/>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344598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Method Overloading</a:t>
            </a:r>
            <a:endParaRPr lang="en-US" sz="10800" dirty="0">
              <a:latin typeface="Open Sans" panose="020B0606030504020204" pitchFamily="34" charset="0"/>
              <a:ea typeface="Open Sans" panose="020B0606030504020204" pitchFamily="34" charset="0"/>
              <a:cs typeface="Open Sans" panose="020B0606030504020204" pitchFamily="34" charset="0"/>
            </a:endParaRP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b="1" dirty="0">
                <a:latin typeface="Open Sans" panose="020B0606030504020204" pitchFamily="34" charset="0"/>
                <a:ea typeface="Open Sans" panose="020B0606030504020204" pitchFamily="34" charset="0"/>
                <a:cs typeface="Open Sans" panose="020B0606030504020204" pitchFamily="34" charset="0"/>
              </a:rPr>
              <a:t>Method overloading </a:t>
            </a:r>
            <a:r>
              <a:rPr lang="en-US" sz="6400" dirty="0">
                <a:latin typeface="Open Sans" panose="020B0606030504020204" pitchFamily="34" charset="0"/>
                <a:ea typeface="Open Sans" panose="020B0606030504020204" pitchFamily="34" charset="0"/>
                <a:cs typeface="Open Sans" panose="020B0606030504020204" pitchFamily="34" charset="0"/>
              </a:rPr>
              <a:t>means providing two or more separate methods, in a class, with the </a:t>
            </a:r>
            <a:r>
              <a:rPr lang="en-US" sz="6400" b="1" dirty="0">
                <a:latin typeface="Open Sans" panose="020B0606030504020204" pitchFamily="34" charset="0"/>
                <a:ea typeface="Open Sans" panose="020B0606030504020204" pitchFamily="34" charset="0"/>
                <a:cs typeface="Open Sans" panose="020B0606030504020204" pitchFamily="34" charset="0"/>
              </a:rPr>
              <a:t>same name</a:t>
            </a:r>
            <a:r>
              <a:rPr lang="en-US" sz="6400" dirty="0">
                <a:latin typeface="Open Sans" panose="020B0606030504020204" pitchFamily="34" charset="0"/>
                <a:ea typeface="Open Sans" panose="020B0606030504020204" pitchFamily="34" charset="0"/>
                <a:cs typeface="Open Sans" panose="020B0606030504020204" pitchFamily="34" charset="0"/>
              </a:rPr>
              <a:t>, but </a:t>
            </a:r>
            <a:r>
              <a:rPr lang="en-US" sz="6400" b="1" dirty="0">
                <a:latin typeface="Open Sans" panose="020B0606030504020204" pitchFamily="34" charset="0"/>
                <a:ea typeface="Open Sans" panose="020B0606030504020204" pitchFamily="34" charset="0"/>
                <a:cs typeface="Open Sans" panose="020B0606030504020204" pitchFamily="34" charset="0"/>
              </a:rPr>
              <a:t>different parameters</a:t>
            </a:r>
            <a:r>
              <a:rPr lang="en-US" sz="6400" dirty="0">
                <a:latin typeface="Open Sans" panose="020B0606030504020204" pitchFamily="34" charset="0"/>
                <a:ea typeface="Open Sans" panose="020B0606030504020204" pitchFamily="34" charset="0"/>
                <a:cs typeface="Open Sans" panose="020B0606030504020204" pitchFamily="34" charset="0"/>
              </a:rPr>
              <a:t>.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Method return type may or may not be different, and that allows us to reuse the same method name.</a:t>
            </a:r>
          </a:p>
          <a:p>
            <a:pPr algn="l">
              <a:spcAft>
                <a:spcPts val="5022"/>
              </a:spcAft>
            </a:pPr>
            <a:r>
              <a:rPr lang="en-US" sz="6400" b="1" dirty="0">
                <a:latin typeface="Open Sans" panose="020B0606030504020204" pitchFamily="34" charset="0"/>
                <a:ea typeface="Open Sans" panose="020B0606030504020204" pitchFamily="34" charset="0"/>
                <a:cs typeface="Open Sans" panose="020B0606030504020204" pitchFamily="34" charset="0"/>
              </a:rPr>
              <a:t>Overloading</a:t>
            </a:r>
            <a:r>
              <a:rPr lang="en-US" sz="6400" dirty="0">
                <a:latin typeface="Open Sans" panose="020B0606030504020204" pitchFamily="34" charset="0"/>
                <a:ea typeface="Open Sans" panose="020B0606030504020204" pitchFamily="34" charset="0"/>
                <a:cs typeface="Open Sans" panose="020B0606030504020204" pitchFamily="34" charset="0"/>
              </a:rPr>
              <a:t> is very handy, it </a:t>
            </a:r>
            <a:r>
              <a:rPr lang="en-US" sz="6400" b="1" dirty="0">
                <a:latin typeface="Open Sans" panose="020B0606030504020204" pitchFamily="34" charset="0"/>
                <a:ea typeface="Open Sans" panose="020B0606030504020204" pitchFamily="34" charset="0"/>
                <a:cs typeface="Open Sans" panose="020B0606030504020204" pitchFamily="34" charset="0"/>
              </a:rPr>
              <a:t>reduces duplicated code</a:t>
            </a:r>
            <a:r>
              <a:rPr lang="en-US" sz="6400" dirty="0">
                <a:latin typeface="Open Sans" panose="020B0606030504020204" pitchFamily="34" charset="0"/>
                <a:ea typeface="Open Sans" panose="020B0606030504020204" pitchFamily="34" charset="0"/>
                <a:cs typeface="Open Sans" panose="020B0606030504020204" pitchFamily="34" charset="0"/>
              </a:rPr>
              <a:t>, and we don't have to remember multiple method names.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can overload static, or instance methods.</a:t>
            </a:r>
          </a:p>
        </p:txBody>
      </p:sp>
    </p:spTree>
    <p:extLst>
      <p:ext uri="{BB962C8B-B14F-4D97-AF65-F5344CB8AC3E}">
        <p14:creationId xmlns:p14="http://schemas.microsoft.com/office/powerpoint/2010/main" val="2385769947"/>
      </p:ext>
    </p:extLst>
  </p:cSld>
  <p:clrMapOvr>
    <a:masterClrMapping/>
  </p:clrMapOvr>
  <p:transition spd="slow"/>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3445989"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Method Overloading</a:t>
            </a:r>
            <a:endParaRPr lang="en-US" sz="10800" dirty="0">
              <a:latin typeface="Open Sans" panose="020B0606030504020204" pitchFamily="34" charset="0"/>
              <a:ea typeface="Open Sans" panose="020B0606030504020204" pitchFamily="34" charset="0"/>
              <a:cs typeface="Open Sans" panose="020B0606030504020204" pitchFamily="34" charset="0"/>
            </a:endParaRP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To the code calling an overloaded method, it looks like a single method can be called, with different sets of arguments.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actuality, each call that's made with a different set of arguments, is calling a separate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Java developers often refer to method overloading, as compile-time polymorphism.</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means the compiler is determining the right method to call, based on the method name and argument list.</a:t>
            </a:r>
          </a:p>
        </p:txBody>
      </p:sp>
    </p:spTree>
    <p:extLst>
      <p:ext uri="{BB962C8B-B14F-4D97-AF65-F5344CB8AC3E}">
        <p14:creationId xmlns:p14="http://schemas.microsoft.com/office/powerpoint/2010/main" val="4216603872"/>
      </p:ext>
    </p:extLst>
  </p:cSld>
  <p:clrMapOvr>
    <a:masterClrMapping/>
  </p:clrMapOvr>
  <p:transition spd="slow"/>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344598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Method Overloading</a:t>
            </a:r>
            <a:endParaRPr lang="en-US" sz="10800" dirty="0">
              <a:latin typeface="Open Sans" panose="020B0606030504020204" pitchFamily="34" charset="0"/>
              <a:ea typeface="Open Sans" panose="020B0606030504020204" pitchFamily="34" charset="0"/>
              <a:cs typeface="Open Sans" panose="020B0606030504020204" pitchFamily="34" charset="0"/>
            </a:endParaRP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Usually </a:t>
            </a:r>
            <a:r>
              <a:rPr lang="en-US" sz="6400" b="1" dirty="0">
                <a:latin typeface="Open Sans" panose="020B0606030504020204" pitchFamily="34" charset="0"/>
                <a:ea typeface="Open Sans" panose="020B0606030504020204" pitchFamily="34" charset="0"/>
                <a:cs typeface="Open Sans" panose="020B0606030504020204" pitchFamily="34" charset="0"/>
              </a:rPr>
              <a:t>overloading</a:t>
            </a:r>
            <a:r>
              <a:rPr lang="en-US" sz="6400" dirty="0">
                <a:latin typeface="Open Sans" panose="020B0606030504020204" pitchFamily="34" charset="0"/>
                <a:ea typeface="Open Sans" panose="020B0606030504020204" pitchFamily="34" charset="0"/>
                <a:cs typeface="Open Sans" panose="020B0606030504020204" pitchFamily="34" charset="0"/>
              </a:rPr>
              <a:t> happens within a </a:t>
            </a:r>
            <a:r>
              <a:rPr lang="en-US" sz="6400" b="1" dirty="0">
                <a:latin typeface="Open Sans" panose="020B0606030504020204" pitchFamily="34" charset="0"/>
                <a:ea typeface="Open Sans" panose="020B0606030504020204" pitchFamily="34" charset="0"/>
                <a:cs typeface="Open Sans" panose="020B0606030504020204" pitchFamily="34" charset="0"/>
              </a:rPr>
              <a:t>single class</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methods can also be overloaded by subclasses.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That's because, a subclass inherits one version of the method from the parent class, and then the subclass can have another overloaded version of that method.</a:t>
            </a:r>
          </a:p>
        </p:txBody>
      </p:sp>
    </p:spTree>
    <p:extLst>
      <p:ext uri="{BB962C8B-B14F-4D97-AF65-F5344CB8AC3E}">
        <p14:creationId xmlns:p14="http://schemas.microsoft.com/office/powerpoint/2010/main" val="924046418"/>
      </p:ext>
    </p:extLst>
  </p:cSld>
  <p:clrMapOvr>
    <a:masterClrMapping/>
  </p:clrMapOvr>
  <p:transition spd="slow"/>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299608"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Method Overloading Rules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Methods will be considered overloaded if both methods follow the following rules:</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Methods must have the same method name.</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Methods must have different parameters.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methods follow the rules above:</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They may or may not have different return types.</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They may or may not have different access modifiers.</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They may or may not throw different checked or unchecked exceptions. </a:t>
            </a:r>
          </a:p>
        </p:txBody>
      </p:sp>
    </p:spTree>
    <p:extLst>
      <p:ext uri="{BB962C8B-B14F-4D97-AF65-F5344CB8AC3E}">
        <p14:creationId xmlns:p14="http://schemas.microsoft.com/office/powerpoint/2010/main" val="4216333884"/>
      </p:ext>
    </p:extLst>
  </p:cSld>
  <p:clrMapOvr>
    <a:masterClrMapping/>
  </p:clrMapOvr>
  <p:transition spd="slow"/>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404037"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Method Overriding</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Method overriding, means defining a method in a child class, that already exists in the parent class, with the same signature (the </a:t>
            </a:r>
            <a:r>
              <a:rPr lang="en-US" sz="6400" b="1" dirty="0">
                <a:latin typeface="Open Sans" panose="020B0606030504020204" pitchFamily="34" charset="0"/>
                <a:ea typeface="Open Sans" panose="020B0606030504020204" pitchFamily="34" charset="0"/>
                <a:cs typeface="Open Sans" panose="020B0606030504020204" pitchFamily="34" charset="0"/>
              </a:rPr>
              <a:t>same name</a:t>
            </a:r>
            <a:r>
              <a:rPr lang="en-US" sz="6400" dirty="0">
                <a:latin typeface="Open Sans" panose="020B0606030504020204" pitchFamily="34" charset="0"/>
                <a:ea typeface="Open Sans" panose="020B0606030504020204" pitchFamily="34" charset="0"/>
                <a:cs typeface="Open Sans" panose="020B0606030504020204" pitchFamily="34" charset="0"/>
              </a:rPr>
              <a:t>, </a:t>
            </a:r>
            <a:r>
              <a:rPr lang="en-US" sz="6400" b="1" dirty="0">
                <a:latin typeface="Open Sans" panose="020B0606030504020204" pitchFamily="34" charset="0"/>
                <a:ea typeface="Open Sans" panose="020B0606030504020204" pitchFamily="34" charset="0"/>
                <a:cs typeface="Open Sans" panose="020B0606030504020204" pitchFamily="34" charset="0"/>
              </a:rPr>
              <a:t>same arguments</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By extending the parent class, the child class gets all the methods defined in the parent class (those methods are also known as derived methods).</a:t>
            </a:r>
          </a:p>
          <a:p>
            <a:pPr algn="l">
              <a:spcAft>
                <a:spcPts val="5022"/>
              </a:spcAft>
            </a:pPr>
            <a:r>
              <a:rPr lang="en-US" sz="6400" b="1" dirty="0">
                <a:latin typeface="Open Sans" panose="020B0606030504020204" pitchFamily="34" charset="0"/>
                <a:ea typeface="Open Sans" panose="020B0606030504020204" pitchFamily="34" charset="0"/>
                <a:cs typeface="Open Sans" panose="020B0606030504020204" pitchFamily="34" charset="0"/>
              </a:rPr>
              <a:t>Method overriding</a:t>
            </a:r>
            <a:r>
              <a:rPr lang="en-US" sz="6400" dirty="0">
                <a:latin typeface="Open Sans" panose="020B0606030504020204" pitchFamily="34" charset="0"/>
                <a:ea typeface="Open Sans" panose="020B0606030504020204" pitchFamily="34" charset="0"/>
                <a:cs typeface="Open Sans" panose="020B0606030504020204" pitchFamily="34" charset="0"/>
              </a:rPr>
              <a:t> is also known as </a:t>
            </a:r>
            <a:r>
              <a:rPr lang="en-US" sz="6400" b="1" dirty="0">
                <a:latin typeface="Open Sans" panose="020B0606030504020204" pitchFamily="34" charset="0"/>
                <a:ea typeface="Open Sans" panose="020B0606030504020204" pitchFamily="34" charset="0"/>
                <a:cs typeface="Open Sans" panose="020B0606030504020204" pitchFamily="34" charset="0"/>
              </a:rPr>
              <a:t>Runtime Polymorphism</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a:latin typeface="Open Sans" panose="020B0606030504020204" pitchFamily="34" charset="0"/>
                <a:ea typeface="Open Sans" panose="020B0606030504020204" pitchFamily="34" charset="0"/>
                <a:cs typeface="Open Sans" panose="020B0606030504020204" pitchFamily="34" charset="0"/>
              </a:rPr>
              <a:t>Dynamic Method Dispatch</a:t>
            </a:r>
            <a:r>
              <a:rPr lang="en-US" sz="6400" dirty="0">
                <a:latin typeface="Open Sans" panose="020B0606030504020204" pitchFamily="34" charset="0"/>
                <a:ea typeface="Open Sans" panose="020B0606030504020204" pitchFamily="34" charset="0"/>
                <a:cs typeface="Open Sans" panose="020B0606030504020204" pitchFamily="34" charset="0"/>
              </a:rPr>
              <a:t>, because the method that is going to be called, is decided at runtime, by the Java virtual machine.</a:t>
            </a:r>
          </a:p>
        </p:txBody>
      </p:sp>
    </p:spTree>
    <p:extLst>
      <p:ext uri="{BB962C8B-B14F-4D97-AF65-F5344CB8AC3E}">
        <p14:creationId xmlns:p14="http://schemas.microsoft.com/office/powerpoint/2010/main" val="1369675355"/>
      </p:ext>
    </p:extLst>
  </p:cSld>
  <p:clrMapOvr>
    <a:masterClrMapping/>
  </p:clrMapOvr>
  <p:transition spd="slow"/>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40403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Method Overriding</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When we </a:t>
            </a:r>
            <a:r>
              <a:rPr lang="en-US" sz="6400" b="1" dirty="0">
                <a:latin typeface="Open Sans" panose="020B0606030504020204" pitchFamily="34" charset="0"/>
                <a:ea typeface="Open Sans" panose="020B0606030504020204" pitchFamily="34" charset="0"/>
                <a:cs typeface="Open Sans" panose="020B0606030504020204" pitchFamily="34" charset="0"/>
              </a:rPr>
              <a:t>override</a:t>
            </a:r>
            <a:r>
              <a:rPr lang="en-US" sz="6400" dirty="0">
                <a:latin typeface="Open Sans" panose="020B0606030504020204" pitchFamily="34" charset="0"/>
                <a:ea typeface="Open Sans" panose="020B0606030504020204" pitchFamily="34" charset="0"/>
                <a:cs typeface="Open Sans" panose="020B0606030504020204" pitchFamily="34" charset="0"/>
              </a:rPr>
              <a:t> a method, it's recommended to put </a:t>
            </a:r>
            <a:r>
              <a:rPr lang="en-US" sz="6400" b="1" dirty="0">
                <a:latin typeface="Open Sans" panose="020B0606030504020204" pitchFamily="34" charset="0"/>
                <a:ea typeface="Open Sans" panose="020B0606030504020204" pitchFamily="34" charset="0"/>
                <a:cs typeface="Open Sans" panose="020B0606030504020204" pitchFamily="34" charset="0"/>
              </a:rPr>
              <a:t>@Override</a:t>
            </a:r>
            <a:r>
              <a:rPr lang="en-US" sz="6400" dirty="0">
                <a:latin typeface="Open Sans" panose="020B0606030504020204" pitchFamily="34" charset="0"/>
                <a:ea typeface="Open Sans" panose="020B0606030504020204" pitchFamily="34" charset="0"/>
                <a:cs typeface="Open Sans" panose="020B0606030504020204" pitchFamily="34" charset="0"/>
              </a:rPr>
              <a:t>, immediately above the method definition.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@Override statement is not required, but it's a way to get the compiler to flag an error, if you don't actually properly override this method.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We'll get an error, if we don't follow the overriding rules correctly.</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can't override static methods, </a:t>
            </a:r>
            <a:r>
              <a:rPr lang="en-US" sz="6400" b="1" dirty="0">
                <a:latin typeface="Open Sans" panose="020B0606030504020204" pitchFamily="34" charset="0"/>
                <a:ea typeface="Open Sans" panose="020B0606030504020204" pitchFamily="34" charset="0"/>
                <a:cs typeface="Open Sans" panose="020B0606030504020204" pitchFamily="34" charset="0"/>
              </a:rPr>
              <a:t>only instance methods</a:t>
            </a:r>
            <a:r>
              <a:rPr lang="en-US" sz="6400" dirty="0">
                <a:latin typeface="Open Sans" panose="020B0606030504020204" pitchFamily="34" charset="0"/>
                <a:ea typeface="Open Sans" panose="020B0606030504020204" pitchFamily="34" charset="0"/>
                <a:cs typeface="Open Sans" panose="020B0606030504020204" pitchFamily="34" charset="0"/>
              </a:rPr>
              <a:t> can be overridden.</a:t>
            </a:r>
          </a:p>
        </p:txBody>
      </p:sp>
    </p:spTree>
    <p:extLst>
      <p:ext uri="{BB962C8B-B14F-4D97-AF65-F5344CB8AC3E}">
        <p14:creationId xmlns:p14="http://schemas.microsoft.com/office/powerpoint/2010/main" val="951907928"/>
      </p:ext>
    </p:extLst>
  </p:cSld>
  <p:clrMapOvr>
    <a:masterClrMapping/>
  </p:clrMapOvr>
  <p:transition spd="slow"/>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625765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Method Overriding Rules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method will be considered overridden, if we follow these rules.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It must have the same name and same arguments.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The return type can be a subclass of the return type in the parent class.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It can't have a lower access modifier.  In other words, it can't have more restrictive access privileges.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For example, if the parent's method is protected, then using private in the child's overridden method is not allowed.  However, using public for the child's method would be allowed, in this example.</a:t>
            </a:r>
          </a:p>
        </p:txBody>
      </p:sp>
    </p:spTree>
    <p:extLst>
      <p:ext uri="{BB962C8B-B14F-4D97-AF65-F5344CB8AC3E}">
        <p14:creationId xmlns:p14="http://schemas.microsoft.com/office/powerpoint/2010/main" val="2118067187"/>
      </p:ext>
    </p:extLst>
  </p:cSld>
  <p:clrMapOvr>
    <a:masterClrMapping/>
  </p:clrMapOvr>
  <p:transition spd="slow"/>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625765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Method Overriding Rules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There's also some important points about method overriding to keep in mind.</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Only </a:t>
            </a:r>
            <a:r>
              <a:rPr lang="en-US" sz="6400" b="1" dirty="0">
                <a:latin typeface="Open Sans" panose="020B0606030504020204" pitchFamily="34" charset="0"/>
                <a:ea typeface="Open Sans" panose="020B0606030504020204" pitchFamily="34" charset="0"/>
                <a:cs typeface="Open Sans" panose="020B0606030504020204" pitchFamily="34" charset="0"/>
              </a:rPr>
              <a:t>inherited methods</a:t>
            </a:r>
            <a:r>
              <a:rPr lang="en-US" sz="6400" dirty="0">
                <a:latin typeface="Open Sans" panose="020B0606030504020204" pitchFamily="34" charset="0"/>
                <a:ea typeface="Open Sans" panose="020B0606030504020204" pitchFamily="34" charset="0"/>
                <a:cs typeface="Open Sans" panose="020B0606030504020204" pitchFamily="34" charset="0"/>
              </a:rPr>
              <a:t> can be overridden, in other words, methods can be overridden only in child classes.</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Constructors and private methods cannot be overridden.</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Methods that are final cannot be overridden.</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 subclass can use </a:t>
            </a:r>
            <a:r>
              <a:rPr lang="en-US" sz="6400" dirty="0" err="1">
                <a:latin typeface="Roboto Mono" panose="00000009000000000000" pitchFamily="49" charset="0"/>
                <a:ea typeface="Roboto Mono" panose="00000009000000000000" pitchFamily="49" charset="0"/>
                <a:cs typeface="Open Sans" panose="020B0606030504020204" pitchFamily="34" charset="0"/>
              </a:rPr>
              <a:t>super.methodName</a:t>
            </a:r>
            <a:r>
              <a:rPr lang="en-US" sz="6400" dirty="0">
                <a:latin typeface="Roboto Mono" panose="00000009000000000000" pitchFamily="49" charset="0"/>
                <a:ea typeface="Roboto Mono" panose="00000009000000000000" pitchFamily="49" charset="0"/>
                <a:cs typeface="Open Sans" panose="020B0606030504020204" pitchFamily="34" charset="0"/>
              </a:rPr>
              <a:t>(</a:t>
            </a:r>
            <a:r>
              <a:rPr lang="en-US" sz="6400" dirty="0">
                <a:latin typeface="Open Sans" panose="020B0606030504020204" pitchFamily="34" charset="0"/>
                <a:ea typeface="Open Sans" panose="020B0606030504020204" pitchFamily="34" charset="0"/>
                <a:cs typeface="Open Sans" panose="020B0606030504020204" pitchFamily="34" charset="0"/>
              </a:rPr>
              <a:t>) to call the superclass version of an overridden method.</a:t>
            </a:r>
          </a:p>
        </p:txBody>
      </p:sp>
    </p:spTree>
    <p:extLst>
      <p:ext uri="{BB962C8B-B14F-4D97-AF65-F5344CB8AC3E}">
        <p14:creationId xmlns:p14="http://schemas.microsoft.com/office/powerpoint/2010/main" val="37579309"/>
      </p:ext>
    </p:extLst>
  </p:cSld>
  <p:clrMapOvr>
    <a:masterClrMapping/>
  </p:clrMapOvr>
  <p:transition spd="slow"/>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519C6A8-CF93-E647-CCC8-9243BF7D85EB}"/>
              </a:ext>
            </a:extLst>
          </p:cNvPr>
          <p:cNvPicPr>
            <a:picLocks noChangeAspect="1"/>
          </p:cNvPicPr>
          <p:nvPr/>
        </p:nvPicPr>
        <p:blipFill>
          <a:blip r:embed="rId3"/>
          <a:stretch>
            <a:fillRect/>
          </a:stretch>
        </p:blipFill>
        <p:spPr>
          <a:xfrm>
            <a:off x="18669599" y="4701599"/>
            <a:ext cx="14125048" cy="8551810"/>
          </a:xfrm>
          <a:prstGeom prst="rect">
            <a:avLst/>
          </a:prstGeom>
        </p:spPr>
      </p:pic>
      <p:pic>
        <p:nvPicPr>
          <p:cNvPr id="15" name="Picture 14">
            <a:extLst>
              <a:ext uri="{FF2B5EF4-FFF2-40B4-BE49-F238E27FC236}">
                <a16:creationId xmlns:a16="http://schemas.microsoft.com/office/drawing/2014/main" id="{FDFE051E-ED71-DCCF-51A6-98F7F5359067}"/>
              </a:ext>
            </a:extLst>
          </p:cNvPr>
          <p:cNvPicPr>
            <a:picLocks noChangeAspect="1"/>
          </p:cNvPicPr>
          <p:nvPr/>
        </p:nvPicPr>
        <p:blipFill>
          <a:blip r:embed="rId4"/>
          <a:stretch>
            <a:fillRect/>
          </a:stretch>
        </p:blipFill>
        <p:spPr>
          <a:xfrm>
            <a:off x="1324800" y="4701600"/>
            <a:ext cx="15541523" cy="10021238"/>
          </a:xfrm>
          <a:prstGeom prst="rect">
            <a:avLst/>
          </a:prstGeom>
        </p:spPr>
      </p:pic>
      <p:sp>
        <p:nvSpPr>
          <p:cNvPr id="126" name="Shape 126"/>
          <p:cNvSpPr/>
          <p:nvPr/>
        </p:nvSpPr>
        <p:spPr>
          <a:xfrm>
            <a:off x="952498" y="459786"/>
            <a:ext cx="2272737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Method Overriding vs. Overloading</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5"/>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5">
            <a:extLst>
              <a:ext uri="{FF2B5EF4-FFF2-40B4-BE49-F238E27FC236}">
                <a16:creationId xmlns:a16="http://schemas.microsoft.com/office/drawing/2014/main" id="{279A054C-8FEB-82F2-FD24-0E6616723627}"/>
              </a:ext>
            </a:extLst>
          </p:cNvPr>
          <p:cNvSpPr/>
          <p:nvPr/>
        </p:nvSpPr>
        <p:spPr>
          <a:xfrm>
            <a:off x="952497" y="2743229"/>
            <a:ext cx="16738344" cy="14816979"/>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7" name="Rectangle 6">
            <a:extLst>
              <a:ext uri="{FF2B5EF4-FFF2-40B4-BE49-F238E27FC236}">
                <a16:creationId xmlns:a16="http://schemas.microsoft.com/office/drawing/2014/main" id="{4362BBA9-631A-337B-EF98-CE9E576AFD4C}"/>
              </a:ext>
            </a:extLst>
          </p:cNvPr>
          <p:cNvSpPr/>
          <p:nvPr/>
        </p:nvSpPr>
        <p:spPr>
          <a:xfrm>
            <a:off x="18343833" y="2743229"/>
            <a:ext cx="17560363" cy="14816979"/>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11" name="Rectangle 10">
            <a:extLst>
              <a:ext uri="{FF2B5EF4-FFF2-40B4-BE49-F238E27FC236}">
                <a16:creationId xmlns:a16="http://schemas.microsoft.com/office/drawing/2014/main" id="{16C6677F-3E14-ABC6-1936-246CDFD205ED}"/>
              </a:ext>
            </a:extLst>
          </p:cNvPr>
          <p:cNvSpPr/>
          <p:nvPr/>
        </p:nvSpPr>
        <p:spPr>
          <a:xfrm>
            <a:off x="1436136" y="3228359"/>
            <a:ext cx="5725112" cy="1087477"/>
          </a:xfrm>
          <a:prstGeom prst="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OVERRIDING</a:t>
            </a:r>
            <a:endParaRPr kumimoji="0" lang="en-PH" sz="6400" b="1" i="0" u="none" strike="noStrike" cap="none" spc="0" normalizeH="0" baseline="0" dirty="0">
              <a:ln>
                <a:noFill/>
              </a:ln>
              <a:solidFill>
                <a:schemeClr val="tx1"/>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12" name="Rectangle 11">
            <a:extLst>
              <a:ext uri="{FF2B5EF4-FFF2-40B4-BE49-F238E27FC236}">
                <a16:creationId xmlns:a16="http://schemas.microsoft.com/office/drawing/2014/main" id="{3545EDB2-C9D2-F4E3-546E-1E09B863ECC3}"/>
              </a:ext>
            </a:extLst>
          </p:cNvPr>
          <p:cNvSpPr/>
          <p:nvPr/>
        </p:nvSpPr>
        <p:spPr>
          <a:xfrm>
            <a:off x="18670165" y="3228359"/>
            <a:ext cx="6802405" cy="1087477"/>
          </a:xfrm>
          <a:prstGeom prst="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OVERLOADING</a:t>
            </a:r>
            <a:endParaRPr kumimoji="0" lang="en-PH" sz="6400" b="1" i="0" u="none" strike="noStrike" cap="none" spc="0" normalizeH="0" baseline="0" dirty="0">
              <a:ln>
                <a:noFill/>
              </a:ln>
              <a:solidFill>
                <a:schemeClr val="tx1"/>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13" name="Rectangle 12">
            <a:extLst>
              <a:ext uri="{FF2B5EF4-FFF2-40B4-BE49-F238E27FC236}">
                <a16:creationId xmlns:a16="http://schemas.microsoft.com/office/drawing/2014/main" id="{B75F08E3-2B1E-DB49-9650-3F1D829CDB0C}"/>
              </a:ext>
            </a:extLst>
          </p:cNvPr>
          <p:cNvSpPr/>
          <p:nvPr/>
        </p:nvSpPr>
        <p:spPr>
          <a:xfrm>
            <a:off x="9516977" y="3581149"/>
            <a:ext cx="7688178" cy="2072362"/>
          </a:xfrm>
          <a:prstGeom prst="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same name</a:t>
            </a:r>
          </a:p>
          <a:p>
            <a:pPr marL="0" marR="0" indent="0" algn="ctr" defTabSz="825500" rtl="0" fontAlgn="auto" latinLnBrk="0" hangingPunct="0">
              <a:lnSpc>
                <a:spcPct val="100000"/>
              </a:lnSpc>
              <a:spcBef>
                <a:spcPts val="0"/>
              </a:spcBef>
              <a:spcAft>
                <a:spcPts val="0"/>
              </a:spcAft>
              <a:buClrTx/>
              <a:buSzTx/>
              <a:buFontTx/>
              <a:buNone/>
              <a:tabLst/>
            </a:pPr>
            <a:r>
              <a:rPr kumimoji="0" lang="en-US" sz="6400" i="0" u="none" strike="noStrike" cap="none" spc="0" normalizeH="0" baseline="0" dirty="0">
                <a:ln>
                  <a:noFill/>
                </a:ln>
                <a:solidFill>
                  <a:schemeClr val="tx1"/>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rPr>
              <a:t>same parameters</a:t>
            </a:r>
            <a:endParaRPr kumimoji="0" lang="en-PH" sz="6400" i="0" u="none" strike="noStrike" cap="none" spc="0" normalizeH="0" baseline="0" dirty="0">
              <a:ln>
                <a:noFill/>
              </a:ln>
              <a:solidFill>
                <a:schemeClr val="tx1"/>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14" name="Rectangle 13">
            <a:extLst>
              <a:ext uri="{FF2B5EF4-FFF2-40B4-BE49-F238E27FC236}">
                <a16:creationId xmlns:a16="http://schemas.microsoft.com/office/drawing/2014/main" id="{C123AD86-7433-300C-B8DE-25AA81C96BAB}"/>
              </a:ext>
            </a:extLst>
          </p:cNvPr>
          <p:cNvSpPr/>
          <p:nvPr/>
        </p:nvSpPr>
        <p:spPr>
          <a:xfrm>
            <a:off x="26661527" y="3492197"/>
            <a:ext cx="8961976" cy="2072362"/>
          </a:xfrm>
          <a:prstGeom prst="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same name</a:t>
            </a:r>
          </a:p>
          <a:p>
            <a:pPr marL="0" marR="0" indent="0" algn="ctr" defTabSz="825500" rtl="0" fontAlgn="auto" latinLnBrk="0" hangingPunct="0">
              <a:lnSpc>
                <a:spcPct val="100000"/>
              </a:lnSpc>
              <a:spcBef>
                <a:spcPts val="0"/>
              </a:spcBef>
              <a:spcAft>
                <a:spcPts val="0"/>
              </a:spcAft>
              <a:buClrTx/>
              <a:buSzTx/>
              <a:buFontTx/>
              <a:buNone/>
              <a:tabLst/>
            </a:pPr>
            <a:r>
              <a:rPr kumimoji="0" lang="en-US" sz="6400" b="1" i="0" u="none" strike="noStrike" cap="none" spc="0" normalizeH="0" baseline="0" dirty="0">
                <a:ln>
                  <a:noFill/>
                </a:ln>
                <a:solidFill>
                  <a:schemeClr val="tx1"/>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rPr>
              <a:t>different </a:t>
            </a:r>
            <a:r>
              <a:rPr kumimoji="0" lang="en-US" sz="6400" i="0" u="none" strike="noStrike" cap="none" spc="0" normalizeH="0" baseline="0" dirty="0">
                <a:ln>
                  <a:noFill/>
                </a:ln>
                <a:solidFill>
                  <a:schemeClr val="tx1"/>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rPr>
              <a:t>parameters</a:t>
            </a:r>
            <a:endParaRPr kumimoji="0" lang="en-PH" sz="6400" i="0" u="none" strike="noStrike" cap="none" spc="0" normalizeH="0" baseline="0" dirty="0">
              <a:ln>
                <a:noFill/>
              </a:ln>
              <a:solidFill>
                <a:schemeClr val="tx1"/>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16" name="Rectangle 15">
            <a:extLst>
              <a:ext uri="{FF2B5EF4-FFF2-40B4-BE49-F238E27FC236}">
                <a16:creationId xmlns:a16="http://schemas.microsoft.com/office/drawing/2014/main" id="{2610BC53-B6F9-86A4-D3D2-C5FEEAD8060D}"/>
              </a:ext>
            </a:extLst>
          </p:cNvPr>
          <p:cNvSpPr/>
          <p:nvPr/>
        </p:nvSpPr>
        <p:spPr>
          <a:xfrm flipH="1">
            <a:off x="6699378" y="6046237"/>
            <a:ext cx="2369975" cy="858416"/>
          </a:xfrm>
          <a:prstGeom prst="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6400" i="0" u="none" strike="noStrike" cap="none" spc="0" normalizeH="0" baseline="0" dirty="0">
              <a:ln>
                <a:noFill/>
              </a:ln>
              <a:solidFill>
                <a:schemeClr val="tx1"/>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17" name="Rectangle 16">
            <a:extLst>
              <a:ext uri="{FF2B5EF4-FFF2-40B4-BE49-F238E27FC236}">
                <a16:creationId xmlns:a16="http://schemas.microsoft.com/office/drawing/2014/main" id="{9D853178-5AD2-2649-2FCC-384C6622468C}"/>
              </a:ext>
            </a:extLst>
          </p:cNvPr>
          <p:cNvSpPr/>
          <p:nvPr/>
        </p:nvSpPr>
        <p:spPr>
          <a:xfrm flipH="1">
            <a:off x="6699376" y="11759681"/>
            <a:ext cx="2369978" cy="858416"/>
          </a:xfrm>
          <a:prstGeom prst="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6400" i="0" u="none" strike="noStrike" cap="none" spc="0" normalizeH="0" baseline="0" dirty="0">
              <a:ln>
                <a:noFill/>
              </a:ln>
              <a:solidFill>
                <a:schemeClr val="tx1"/>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18" name="Rectangle 17">
            <a:extLst>
              <a:ext uri="{FF2B5EF4-FFF2-40B4-BE49-F238E27FC236}">
                <a16:creationId xmlns:a16="http://schemas.microsoft.com/office/drawing/2014/main" id="{6898939F-BD59-D624-C464-CB9D15496542}"/>
              </a:ext>
            </a:extLst>
          </p:cNvPr>
          <p:cNvSpPr/>
          <p:nvPr/>
        </p:nvSpPr>
        <p:spPr>
          <a:xfrm flipH="1">
            <a:off x="24063771" y="6027575"/>
            <a:ext cx="2341862" cy="877077"/>
          </a:xfrm>
          <a:prstGeom prst="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6400" i="0" u="none" strike="noStrike" cap="none" spc="0" normalizeH="0" baseline="0" dirty="0">
              <a:ln>
                <a:noFill/>
              </a:ln>
              <a:solidFill>
                <a:schemeClr val="tx1"/>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sp>
        <p:nvSpPr>
          <p:cNvPr id="19" name="Rectangle 18">
            <a:extLst>
              <a:ext uri="{FF2B5EF4-FFF2-40B4-BE49-F238E27FC236}">
                <a16:creationId xmlns:a16="http://schemas.microsoft.com/office/drawing/2014/main" id="{F932A237-84EC-D050-CDB0-85E2F71C5A82}"/>
              </a:ext>
            </a:extLst>
          </p:cNvPr>
          <p:cNvSpPr/>
          <p:nvPr/>
        </p:nvSpPr>
        <p:spPr>
          <a:xfrm flipH="1">
            <a:off x="24063770" y="8884810"/>
            <a:ext cx="5738205" cy="877077"/>
          </a:xfrm>
          <a:prstGeom prst="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6400" i="0" u="none" strike="noStrike" cap="none" spc="0" normalizeH="0" baseline="0" dirty="0">
              <a:ln>
                <a:noFill/>
              </a:ln>
              <a:solidFill>
                <a:schemeClr val="tx1"/>
              </a:solidFill>
              <a:effectLst/>
              <a:uFillTx/>
              <a:latin typeface="Open Sans" panose="020B0606030504020204" pitchFamily="34" charset="0"/>
              <a:ea typeface="Open Sans" panose="020B0606030504020204" pitchFamily="34" charset="0"/>
              <a:cs typeface="Open Sans" panose="020B0606030504020204" pitchFamily="34" charset="0"/>
              <a:sym typeface="Helvetica Light"/>
            </a:endParaRPr>
          </a:p>
        </p:txBody>
      </p:sp>
      <p:cxnSp>
        <p:nvCxnSpPr>
          <p:cNvPr id="24" name="Connector: Elbow 23">
            <a:extLst>
              <a:ext uri="{FF2B5EF4-FFF2-40B4-BE49-F238E27FC236}">
                <a16:creationId xmlns:a16="http://schemas.microsoft.com/office/drawing/2014/main" id="{28424B8D-C82A-CE44-8DA4-49A3AA42B452}"/>
              </a:ext>
            </a:extLst>
          </p:cNvPr>
          <p:cNvCxnSpPr>
            <a:cxnSpLocks/>
            <a:endCxn id="13" idx="1"/>
          </p:cNvCxnSpPr>
          <p:nvPr/>
        </p:nvCxnSpPr>
        <p:spPr>
          <a:xfrm rot="5400000" flipH="1" flipV="1">
            <a:off x="8098124" y="4627384"/>
            <a:ext cx="1428907" cy="1408800"/>
          </a:xfrm>
          <a:prstGeom prst="bentConnector2">
            <a:avLst/>
          </a:prstGeom>
          <a:noFill/>
          <a:ln w="1016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 name="Connector: Elbow 25">
            <a:extLst>
              <a:ext uri="{FF2B5EF4-FFF2-40B4-BE49-F238E27FC236}">
                <a16:creationId xmlns:a16="http://schemas.microsoft.com/office/drawing/2014/main" id="{2FE952D4-602E-706C-A340-C2ED0840B2C4}"/>
              </a:ext>
            </a:extLst>
          </p:cNvPr>
          <p:cNvCxnSpPr>
            <a:cxnSpLocks/>
            <a:stCxn id="17" idx="1"/>
          </p:cNvCxnSpPr>
          <p:nvPr/>
        </p:nvCxnSpPr>
        <p:spPr>
          <a:xfrm flipV="1">
            <a:off x="9069354" y="5653511"/>
            <a:ext cx="4815621" cy="6535378"/>
          </a:xfrm>
          <a:prstGeom prst="bentConnector2">
            <a:avLst/>
          </a:prstGeom>
          <a:noFill/>
          <a:ln w="1016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9" name="Connector: Elbow 28">
            <a:extLst>
              <a:ext uri="{FF2B5EF4-FFF2-40B4-BE49-F238E27FC236}">
                <a16:creationId xmlns:a16="http://schemas.microsoft.com/office/drawing/2014/main" id="{62D6B5BA-D23A-B40D-20E2-12CC4E7E3A3E}"/>
              </a:ext>
            </a:extLst>
          </p:cNvPr>
          <p:cNvCxnSpPr>
            <a:cxnSpLocks/>
            <a:stCxn id="18" idx="0"/>
            <a:endCxn id="14" idx="1"/>
          </p:cNvCxnSpPr>
          <p:nvPr/>
        </p:nvCxnSpPr>
        <p:spPr>
          <a:xfrm rot="5400000" flipH="1" flipV="1">
            <a:off x="25198516" y="4564565"/>
            <a:ext cx="1499197" cy="1426825"/>
          </a:xfrm>
          <a:prstGeom prst="bentConnector2">
            <a:avLst/>
          </a:prstGeom>
          <a:noFill/>
          <a:ln w="1016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2" name="Connector: Elbow 31">
            <a:extLst>
              <a:ext uri="{FF2B5EF4-FFF2-40B4-BE49-F238E27FC236}">
                <a16:creationId xmlns:a16="http://schemas.microsoft.com/office/drawing/2014/main" id="{0F0AECAF-F9C9-9A81-F386-D419E2807A82}"/>
              </a:ext>
            </a:extLst>
          </p:cNvPr>
          <p:cNvCxnSpPr>
            <a:cxnSpLocks/>
            <a:stCxn id="19" idx="1"/>
            <a:endCxn id="14" idx="2"/>
          </p:cNvCxnSpPr>
          <p:nvPr/>
        </p:nvCxnSpPr>
        <p:spPr>
          <a:xfrm flipV="1">
            <a:off x="29801975" y="5564559"/>
            <a:ext cx="1340540" cy="3758790"/>
          </a:xfrm>
          <a:prstGeom prst="bentConnector2">
            <a:avLst/>
          </a:prstGeom>
          <a:noFill/>
          <a:ln w="101600" cap="flat">
            <a:solidFill>
              <a:srgbClr val="FF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9073936"/>
      </p:ext>
    </p:extLst>
  </p:cSld>
  <p:clrMapOvr>
    <a:masterClrMapping/>
  </p:clrMapOvr>
  <p:transition spd="slow"/>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272737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Method Overriding vs. Overloading</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2" name="Table 1">
            <a:extLst>
              <a:ext uri="{FF2B5EF4-FFF2-40B4-BE49-F238E27FC236}">
                <a16:creationId xmlns:a16="http://schemas.microsoft.com/office/drawing/2014/main" id="{A336C57E-827F-00B1-9573-9CCD5CE1986F}"/>
              </a:ext>
            </a:extLst>
          </p:cNvPr>
          <p:cNvGraphicFramePr>
            <a:graphicFrameLocks noGrp="1"/>
          </p:cNvGraphicFramePr>
          <p:nvPr/>
        </p:nvGraphicFramePr>
        <p:xfrm>
          <a:off x="3063039" y="3746092"/>
          <a:ext cx="30191264" cy="13081816"/>
        </p:xfrm>
        <a:graphic>
          <a:graphicData uri="http://schemas.openxmlformats.org/drawingml/2006/table">
            <a:tbl>
              <a:tblPr firstRow="1" bandRow="1">
                <a:tableStyleId>{5C22544A-7EE6-4342-B048-85BDC9FD1C3A}</a:tableStyleId>
              </a:tblPr>
              <a:tblGrid>
                <a:gridCol w="15057059">
                  <a:extLst>
                    <a:ext uri="{9D8B030D-6E8A-4147-A177-3AD203B41FA5}">
                      <a16:colId xmlns:a16="http://schemas.microsoft.com/office/drawing/2014/main" val="2844207666"/>
                    </a:ext>
                  </a:extLst>
                </a:gridCol>
                <a:gridCol w="15134205">
                  <a:extLst>
                    <a:ext uri="{9D8B030D-6E8A-4147-A177-3AD203B41FA5}">
                      <a16:colId xmlns:a16="http://schemas.microsoft.com/office/drawing/2014/main" val="1891655341"/>
                    </a:ext>
                  </a:extLst>
                </a:gridCol>
              </a:tblGrid>
              <a:tr h="1325242">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Overloading</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 Overriding</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959429">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Provides functionality to reuse a method name with different parameters.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Used to override a behavior which the class has inherited from the parent class.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1959429">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Usually in a single class but may also be used in a child class.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Always in two classes</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that have a child-parent or IS-A relationship.</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98609182"/>
                  </a:ext>
                </a:extLst>
              </a:tr>
              <a:tr h="1959429">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Must have</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different parameters.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Must have</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the same parameters and same name.</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5561421"/>
                  </a:ext>
                </a:extLst>
              </a:tr>
              <a:tr h="1959429">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May have different return types.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Must have</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the same return type or covariant return type(child class).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12925876"/>
                  </a:ext>
                </a:extLst>
              </a:tr>
              <a:tr h="1959429">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May have different access modifiers(private, protected, public).</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Must NOT</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have a lower modifier but may have a higher modifier.</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44741478"/>
                  </a:ext>
                </a:extLst>
              </a:tr>
              <a:tr h="1959429">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May throw different exceptions.</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Must NOT</a:t>
                      </a: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throw a new or broader checked exception.</a:t>
                      </a:r>
                    </a:p>
                  </a:txBody>
                  <a:tcPr marL="86794" marR="86794" marT="43397" marB="43397">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40226594"/>
                  </a:ext>
                </a:extLst>
              </a:tr>
            </a:tbl>
          </a:graphicData>
        </a:graphic>
      </p:graphicFrame>
    </p:spTree>
    <p:extLst>
      <p:ext uri="{BB962C8B-B14F-4D97-AF65-F5344CB8AC3E}">
        <p14:creationId xmlns:p14="http://schemas.microsoft.com/office/powerpoint/2010/main" val="1546854234"/>
      </p:ext>
    </p:extLst>
  </p:cSld>
  <p:clrMapOvr>
    <a:masterClrMapping/>
  </p:clrMapOvr>
  <p:transition spd="slow"/>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550458"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Covariant Return Type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return type of an </a:t>
            </a:r>
            <a:r>
              <a:rPr lang="en-US" sz="6400">
                <a:latin typeface="Open Sans" panose="020B0606030504020204" pitchFamily="34" charset="0"/>
                <a:ea typeface="Open Sans" panose="020B0606030504020204" pitchFamily="34" charset="0"/>
                <a:cs typeface="Open Sans" panose="020B0606030504020204" pitchFamily="34" charset="0"/>
              </a:rPr>
              <a:t>overridden method </a:t>
            </a:r>
            <a:r>
              <a:rPr lang="en-US" sz="6400" dirty="0">
                <a:latin typeface="Open Sans" panose="020B0606030504020204" pitchFamily="34" charset="0"/>
                <a:ea typeface="Open Sans" panose="020B0606030504020204" pitchFamily="34" charset="0"/>
                <a:cs typeface="Open Sans" panose="020B0606030504020204" pitchFamily="34" charset="0"/>
              </a:rPr>
              <a:t>can be the same type as the parent method's declaration.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it can also be a subclass.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term, covariant return type, is more appropriate.</a:t>
            </a:r>
          </a:p>
        </p:txBody>
      </p:sp>
    </p:spTree>
    <p:extLst>
      <p:ext uri="{BB962C8B-B14F-4D97-AF65-F5344CB8AC3E}">
        <p14:creationId xmlns:p14="http://schemas.microsoft.com/office/powerpoint/2010/main" val="699040283"/>
      </p:ext>
    </p:extLst>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90953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Covariant Return Type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briefly mentioned, in a previous video, that there's a clone method on the class Object, that all classes inherit from.</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simplified look at this declaration, for our purposes, is shown below.</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And if you overrode this method, by using IntelliJ's code generation tools, it would generate this code in your class:</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3" name="Picture 2">
            <a:extLst>
              <a:ext uri="{FF2B5EF4-FFF2-40B4-BE49-F238E27FC236}">
                <a16:creationId xmlns:a16="http://schemas.microsoft.com/office/drawing/2014/main" id="{60F8D38C-9062-9EB8-6272-214F62149212}"/>
              </a:ext>
            </a:extLst>
          </p:cNvPr>
          <p:cNvPicPr>
            <a:picLocks noChangeAspect="1"/>
          </p:cNvPicPr>
          <p:nvPr/>
        </p:nvPicPr>
        <p:blipFill>
          <a:blip r:embed="rId4"/>
          <a:stretch>
            <a:fillRect/>
          </a:stretch>
        </p:blipFill>
        <p:spPr>
          <a:xfrm>
            <a:off x="952497" y="8531386"/>
            <a:ext cx="25322507" cy="918088"/>
          </a:xfrm>
          <a:prstGeom prst="rect">
            <a:avLst/>
          </a:prstGeom>
        </p:spPr>
      </p:pic>
      <p:pic>
        <p:nvPicPr>
          <p:cNvPr id="5" name="Picture 4">
            <a:extLst>
              <a:ext uri="{FF2B5EF4-FFF2-40B4-BE49-F238E27FC236}">
                <a16:creationId xmlns:a16="http://schemas.microsoft.com/office/drawing/2014/main" id="{3416A0E1-93D5-33C6-18C7-B2D9ABC39E0E}"/>
              </a:ext>
            </a:extLst>
          </p:cNvPr>
          <p:cNvPicPr>
            <a:picLocks noChangeAspect="1"/>
          </p:cNvPicPr>
          <p:nvPr/>
        </p:nvPicPr>
        <p:blipFill>
          <a:blip r:embed="rId5"/>
          <a:stretch>
            <a:fillRect/>
          </a:stretch>
        </p:blipFill>
        <p:spPr>
          <a:xfrm>
            <a:off x="952497" y="12671146"/>
            <a:ext cx="26031634" cy="3573947"/>
          </a:xfrm>
          <a:prstGeom prst="rect">
            <a:avLst/>
          </a:prstGeom>
        </p:spPr>
      </p:pic>
    </p:spTree>
    <p:extLst>
      <p:ext uri="{BB962C8B-B14F-4D97-AF65-F5344CB8AC3E}">
        <p14:creationId xmlns:p14="http://schemas.microsoft.com/office/powerpoint/2010/main" val="805202392"/>
      </p:ext>
    </p:extLst>
  </p:cSld>
  <p:clrMapOvr>
    <a:masterClrMapping/>
  </p:clrMapOvr>
  <p:transition spd="slow"/>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90953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Covariant Return Type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in general, when you're cloning an instance, you're going to want to return an Object, that's the same type as the Object you are cloning.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Remember, we said all classes ultimately have Object as a base class, so every class can be said to be a covariant of Object.</a:t>
            </a:r>
          </a:p>
        </p:txBody>
      </p:sp>
    </p:spTree>
    <p:extLst>
      <p:ext uri="{BB962C8B-B14F-4D97-AF65-F5344CB8AC3E}">
        <p14:creationId xmlns:p14="http://schemas.microsoft.com/office/powerpoint/2010/main" val="3777313653"/>
      </p:ext>
    </p:extLst>
  </p:cSld>
  <p:clrMapOvr>
    <a:masterClrMapping/>
  </p:clrMapOvr>
  <p:transition spd="slow"/>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550458"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nl-NL" sz="10800" dirty="0">
                <a:latin typeface="Open Sans" panose="020B0606030504020204" pitchFamily="34" charset="0"/>
                <a:ea typeface="Open Sans" panose="020B0606030504020204" pitchFamily="34" charset="0"/>
                <a:cs typeface="Open Sans" panose="020B0606030504020204" pitchFamily="34" charset="0"/>
              </a:rPr>
              <a:t>Covariant Return Type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nl-NL" sz="4500" dirty="0">
                <a:latin typeface="Open Sans" panose="020B0606030504020204" pitchFamily="34" charset="0"/>
                <a:ea typeface="Open Sans" panose="020B0606030504020204" pitchFamily="34" charset="0"/>
                <a:cs typeface="Open Sans" panose="020B0606030504020204" pitchFamily="34" charset="0"/>
              </a:rPr>
              <a:t>Method Overloading vs Overriding Recap</a:t>
            </a:r>
            <a:endParaRPr lang="en-US" sz="45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5">
            <a:extLst>
              <a:ext uri="{FF2B5EF4-FFF2-40B4-BE49-F238E27FC236}">
                <a16:creationId xmlns:a16="http://schemas.microsoft.com/office/drawing/2014/main" id="{279A054C-8FEB-82F2-FD24-0E6616723627}"/>
              </a:ext>
            </a:extLst>
          </p:cNvPr>
          <p:cNvSpPr/>
          <p:nvPr/>
        </p:nvSpPr>
        <p:spPr>
          <a:xfrm>
            <a:off x="952497" y="2743229"/>
            <a:ext cx="16738344" cy="14816979"/>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7" name="Rectangle 6">
            <a:extLst>
              <a:ext uri="{FF2B5EF4-FFF2-40B4-BE49-F238E27FC236}">
                <a16:creationId xmlns:a16="http://schemas.microsoft.com/office/drawing/2014/main" id="{4362BBA9-631A-337B-EF98-CE9E576AFD4C}"/>
              </a:ext>
            </a:extLst>
          </p:cNvPr>
          <p:cNvSpPr/>
          <p:nvPr/>
        </p:nvSpPr>
        <p:spPr>
          <a:xfrm>
            <a:off x="18343833" y="2743229"/>
            <a:ext cx="17560363" cy="14816979"/>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11" name="Rectangle 10">
            <a:extLst>
              <a:ext uri="{FF2B5EF4-FFF2-40B4-BE49-F238E27FC236}">
                <a16:creationId xmlns:a16="http://schemas.microsoft.com/office/drawing/2014/main" id="{16C6677F-3E14-ABC6-1936-246CDFD205ED}"/>
              </a:ext>
            </a:extLst>
          </p:cNvPr>
          <p:cNvSpPr/>
          <p:nvPr/>
        </p:nvSpPr>
        <p:spPr>
          <a:xfrm>
            <a:off x="1436136" y="3525876"/>
            <a:ext cx="15498391" cy="1579920"/>
          </a:xfrm>
          <a:prstGeom prst="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4800" b="1" dirty="0">
                <a:solidFill>
                  <a:schemeClr val="tx1"/>
                </a:solidFill>
                <a:latin typeface="Open Sans" panose="020B0606030504020204" pitchFamily="34" charset="0"/>
                <a:ea typeface="Open Sans" panose="020B0606030504020204" pitchFamily="34" charset="0"/>
                <a:cs typeface="Open Sans" panose="020B0606030504020204" pitchFamily="34" charset="0"/>
              </a:rPr>
              <a:t>The clone method (generated by IntelliJ) override (from Object)</a:t>
            </a:r>
          </a:p>
        </p:txBody>
      </p:sp>
      <p:pic>
        <p:nvPicPr>
          <p:cNvPr id="4" name="Picture 3">
            <a:extLst>
              <a:ext uri="{FF2B5EF4-FFF2-40B4-BE49-F238E27FC236}">
                <a16:creationId xmlns:a16="http://schemas.microsoft.com/office/drawing/2014/main" id="{2F5AF0B7-865D-04A8-D271-715C217D2B74}"/>
              </a:ext>
            </a:extLst>
          </p:cNvPr>
          <p:cNvPicPr>
            <a:picLocks noChangeAspect="1"/>
          </p:cNvPicPr>
          <p:nvPr/>
        </p:nvPicPr>
        <p:blipFill>
          <a:blip r:embed="rId4"/>
          <a:stretch>
            <a:fillRect/>
          </a:stretch>
        </p:blipFill>
        <p:spPr>
          <a:xfrm>
            <a:off x="1436136" y="6155268"/>
            <a:ext cx="15849722" cy="2176047"/>
          </a:xfrm>
          <a:prstGeom prst="rect">
            <a:avLst/>
          </a:prstGeom>
        </p:spPr>
      </p:pic>
      <p:pic>
        <p:nvPicPr>
          <p:cNvPr id="20" name="Picture 19">
            <a:extLst>
              <a:ext uri="{FF2B5EF4-FFF2-40B4-BE49-F238E27FC236}">
                <a16:creationId xmlns:a16="http://schemas.microsoft.com/office/drawing/2014/main" id="{9A332251-112C-BC68-117F-D97CCA833784}"/>
              </a:ext>
            </a:extLst>
          </p:cNvPr>
          <p:cNvPicPr>
            <a:picLocks noChangeAspect="1"/>
          </p:cNvPicPr>
          <p:nvPr/>
        </p:nvPicPr>
        <p:blipFill>
          <a:blip r:embed="rId5"/>
          <a:stretch>
            <a:fillRect/>
          </a:stretch>
        </p:blipFill>
        <p:spPr>
          <a:xfrm>
            <a:off x="18854580" y="6155268"/>
            <a:ext cx="16285284" cy="10142260"/>
          </a:xfrm>
          <a:prstGeom prst="rect">
            <a:avLst/>
          </a:prstGeom>
        </p:spPr>
      </p:pic>
      <p:sp>
        <p:nvSpPr>
          <p:cNvPr id="21" name="Rectangle 20">
            <a:extLst>
              <a:ext uri="{FF2B5EF4-FFF2-40B4-BE49-F238E27FC236}">
                <a16:creationId xmlns:a16="http://schemas.microsoft.com/office/drawing/2014/main" id="{2E4D1065-4FCE-75E0-2B5B-0734D7345983}"/>
              </a:ext>
            </a:extLst>
          </p:cNvPr>
          <p:cNvSpPr/>
          <p:nvPr/>
        </p:nvSpPr>
        <p:spPr>
          <a:xfrm>
            <a:off x="18854580" y="3156544"/>
            <a:ext cx="15498391" cy="2318583"/>
          </a:xfrm>
          <a:prstGeom prst="rect">
            <a:avLst/>
          </a:prstGeom>
          <a:noFill/>
          <a:ln w="76200">
            <a:solidFill>
              <a:srgbClr val="FF0000"/>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4800" b="1" dirty="0">
                <a:solidFill>
                  <a:schemeClr val="tx1"/>
                </a:solidFill>
                <a:latin typeface="Open Sans" panose="020B0606030504020204" pitchFamily="34" charset="0"/>
                <a:ea typeface="Open Sans" panose="020B0606030504020204" pitchFamily="34" charset="0"/>
                <a:cs typeface="Open Sans" panose="020B0606030504020204" pitchFamily="34" charset="0"/>
              </a:rPr>
              <a:t>The clone method overridden in a Person class.</a:t>
            </a:r>
          </a:p>
          <a:p>
            <a:pPr marL="0" marR="0" indent="0" algn="l" defTabSz="825500" rtl="0" fontAlgn="auto" latinLnBrk="0" hangingPunct="0">
              <a:lnSpc>
                <a:spcPct val="100000"/>
              </a:lnSpc>
              <a:spcBef>
                <a:spcPts val="0"/>
              </a:spcBef>
              <a:spcAft>
                <a:spcPts val="0"/>
              </a:spcAft>
              <a:buClrTx/>
              <a:buSzTx/>
              <a:buFontTx/>
              <a:buNone/>
              <a:tabLst/>
            </a:pPr>
            <a:endParaRPr lang="en-US" sz="48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indent="0" algn="l" defTabSz="825500" rtl="0" fontAlgn="auto" latinLnBrk="0" hangingPunct="0">
              <a:lnSpc>
                <a:spcPct val="100000"/>
              </a:lnSpc>
              <a:spcBef>
                <a:spcPts val="0"/>
              </a:spcBef>
              <a:spcAft>
                <a:spcPts val="0"/>
              </a:spcAft>
              <a:buClrTx/>
              <a:buSzTx/>
              <a:buFontTx/>
              <a:buNone/>
              <a:tabLst/>
            </a:pPr>
            <a:r>
              <a:rPr lang="en-US" sz="4800" b="1" dirty="0">
                <a:solidFill>
                  <a:schemeClr val="tx1"/>
                </a:solidFill>
                <a:latin typeface="Open Sans" panose="020B0606030504020204" pitchFamily="34" charset="0"/>
                <a:ea typeface="Open Sans" panose="020B0606030504020204" pitchFamily="34" charset="0"/>
                <a:cs typeface="Open Sans" panose="020B0606030504020204" pitchFamily="34" charset="0"/>
              </a:rPr>
              <a:t>This is a valid override of Object's clone method.</a:t>
            </a:r>
          </a:p>
        </p:txBody>
      </p:sp>
    </p:spTree>
    <p:extLst>
      <p:ext uri="{BB962C8B-B14F-4D97-AF65-F5344CB8AC3E}">
        <p14:creationId xmlns:p14="http://schemas.microsoft.com/office/powerpoint/2010/main" val="2760603712"/>
      </p:ext>
    </p:extLst>
  </p:cSld>
  <p:clrMapOvr>
    <a:masterClrMapping/>
  </p:clrMapOvr>
  <p:transition spd="slow"/>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3186302"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What's a Text Block?</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Text Block and other Formatting Options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Text Block is just a special format for </a:t>
            </a:r>
            <a:r>
              <a:rPr lang="en-US" sz="6400" b="1" dirty="0">
                <a:latin typeface="Open Sans" panose="020B0606030504020204" pitchFamily="34" charset="0"/>
                <a:ea typeface="Open Sans" panose="020B0606030504020204" pitchFamily="34" charset="0"/>
                <a:cs typeface="Open Sans" panose="020B0606030504020204" pitchFamily="34" charset="0"/>
              </a:rPr>
              <a:t>multi-line</a:t>
            </a:r>
            <a:r>
              <a:rPr lang="en-US" sz="6400" dirty="0">
                <a:latin typeface="Open Sans" panose="020B0606030504020204" pitchFamily="34" charset="0"/>
                <a:ea typeface="Open Sans" panose="020B0606030504020204" pitchFamily="34" charset="0"/>
                <a:cs typeface="Open Sans" panose="020B0606030504020204" pitchFamily="34" charset="0"/>
              </a:rPr>
              <a:t> String literals.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simply a</a:t>
            </a:r>
            <a:r>
              <a:rPr lang="en-US" sz="6400" b="1" dirty="0">
                <a:latin typeface="Open Sans" panose="020B0606030504020204" pitchFamily="34" charset="0"/>
                <a:ea typeface="Open Sans" panose="020B0606030504020204" pitchFamily="34" charset="0"/>
                <a:cs typeface="Open Sans" panose="020B0606030504020204" pitchFamily="34" charset="0"/>
              </a:rPr>
              <a:t> String</a:t>
            </a:r>
            <a:r>
              <a:rPr lang="en-US" sz="6400" dirty="0">
                <a:latin typeface="Open Sans" panose="020B0606030504020204" pitchFamily="34" charset="0"/>
                <a:ea typeface="Open Sans" panose="020B0606030504020204" pitchFamily="34" charset="0"/>
                <a:cs typeface="Open Sans" panose="020B0606030504020204" pitchFamily="34" charset="0"/>
              </a:rPr>
              <a:t>, with a new representation in the source code.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 became part of the official language as of </a:t>
            </a:r>
            <a:r>
              <a:rPr lang="en-US" sz="6400" b="1" dirty="0">
                <a:latin typeface="Open Sans" panose="020B0606030504020204" pitchFamily="34" charset="0"/>
                <a:ea typeface="Open Sans" panose="020B0606030504020204" pitchFamily="34" charset="0"/>
                <a:cs typeface="Open Sans" panose="020B0606030504020204" pitchFamily="34" charset="0"/>
              </a:rPr>
              <a:t>JDK 15</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702646697"/>
      </p:ext>
    </p:extLst>
  </p:cSld>
  <p:clrMapOvr>
    <a:masterClrMapping/>
  </p:clrMapOvr>
  <p:transition spd="slow"/>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231380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Some Common Escape Sequences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Text Block and other Formatting Options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 escape sequence starts with a backslash.  Java has several, but the most common ones, are shown on this slide.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can insert a tab, a newline, a double quote character, or a backslash character if you need it, in your text.</a:t>
            </a:r>
          </a:p>
        </p:txBody>
      </p:sp>
      <p:graphicFrame>
        <p:nvGraphicFramePr>
          <p:cNvPr id="2" name="Table 1">
            <a:extLst>
              <a:ext uri="{FF2B5EF4-FFF2-40B4-BE49-F238E27FC236}">
                <a16:creationId xmlns:a16="http://schemas.microsoft.com/office/drawing/2014/main" id="{1876CEAC-0815-D24B-9D0E-36A9972DA20F}"/>
              </a:ext>
            </a:extLst>
          </p:cNvPr>
          <p:cNvGraphicFramePr>
            <a:graphicFrameLocks noGrp="1"/>
          </p:cNvGraphicFramePr>
          <p:nvPr/>
        </p:nvGraphicFramePr>
        <p:xfrm>
          <a:off x="9449772" y="9840296"/>
          <a:ext cx="17676455" cy="6824176"/>
        </p:xfrm>
        <a:graphic>
          <a:graphicData uri="http://schemas.openxmlformats.org/drawingml/2006/table">
            <a:tbl>
              <a:tblPr firstRow="1" bandRow="1">
                <a:tableStyleId>{5C22544A-7EE6-4342-B048-85BDC9FD1C3A}</a:tableStyleId>
              </a:tblPr>
              <a:tblGrid>
                <a:gridCol w="6560286">
                  <a:extLst>
                    <a:ext uri="{9D8B030D-6E8A-4147-A177-3AD203B41FA5}">
                      <a16:colId xmlns:a16="http://schemas.microsoft.com/office/drawing/2014/main" val="2844207666"/>
                    </a:ext>
                  </a:extLst>
                </a:gridCol>
                <a:gridCol w="11116169">
                  <a:extLst>
                    <a:ext uri="{9D8B030D-6E8A-4147-A177-3AD203B41FA5}">
                      <a16:colId xmlns:a16="http://schemas.microsoft.com/office/drawing/2014/main" val="1891655341"/>
                    </a:ext>
                  </a:extLst>
                </a:gridCol>
              </a:tblGrid>
              <a:tr h="1449744">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Escape Sequence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343608">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Insert a tab character.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1343608">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Insert a new line character.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0445214"/>
                  </a:ext>
                </a:extLst>
              </a:tr>
              <a:tr h="1343608">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fr-FR"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Insert a double </a:t>
                      </a:r>
                      <a:r>
                        <a:rPr lang="fr-FR"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quote</a:t>
                      </a:r>
                      <a:r>
                        <a:rPr lang="fr-FR"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fr-FR"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character</a:t>
                      </a:r>
                      <a:r>
                        <a:rPr lang="fr-FR"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1220600"/>
                  </a:ext>
                </a:extLst>
              </a:tr>
              <a:tr h="1343608">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Insert a backslash character.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1000134"/>
                  </a:ext>
                </a:extLst>
              </a:tr>
            </a:tbl>
          </a:graphicData>
        </a:graphic>
      </p:graphicFrame>
    </p:spTree>
    <p:extLst>
      <p:ext uri="{BB962C8B-B14F-4D97-AF65-F5344CB8AC3E}">
        <p14:creationId xmlns:p14="http://schemas.microsoft.com/office/powerpoint/2010/main" val="893009912"/>
      </p:ext>
    </p:extLst>
  </p:cSld>
  <p:clrMapOvr>
    <a:masterClrMapping/>
  </p:clrMapOvr>
  <p:transition spd="slow"/>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139895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Format Specifiers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Text Block and other Formatting Options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At their most complex, format specifiers take the form shown here.</a:t>
            </a:r>
          </a:p>
          <a:p>
            <a:pPr algn="l">
              <a:spcAft>
                <a:spcPts val="5022"/>
              </a:spcAft>
            </a:pPr>
            <a:r>
              <a:rPr lang="en-US" sz="6400" dirty="0">
                <a:latin typeface="Roboto Mono" panose="00000009000000000000" pitchFamily="49" charset="0"/>
                <a:ea typeface="Roboto Mono" panose="00000009000000000000" pitchFamily="49" charset="0"/>
                <a:cs typeface="Open Sans" panose="020B0606030504020204" pitchFamily="34" charset="0"/>
              </a:rPr>
              <a:t>%[</a:t>
            </a:r>
            <a:r>
              <a:rPr lang="en-US" sz="6400" dirty="0" err="1">
                <a:latin typeface="Roboto Mono" panose="00000009000000000000" pitchFamily="49" charset="0"/>
                <a:ea typeface="Roboto Mono" panose="00000009000000000000" pitchFamily="49" charset="0"/>
                <a:cs typeface="Open Sans" panose="020B0606030504020204" pitchFamily="34" charset="0"/>
              </a:rPr>
              <a:t>argument_index</a:t>
            </a:r>
            <a:r>
              <a:rPr lang="en-US" sz="6400" dirty="0">
                <a:latin typeface="Roboto Mono" panose="00000009000000000000" pitchFamily="49" charset="0"/>
                <a:ea typeface="Roboto Mono" panose="00000009000000000000" pitchFamily="49" charset="0"/>
                <a:cs typeface="Open Sans" panose="020B0606030504020204" pitchFamily="34" charset="0"/>
              </a:rPr>
              <a:t>$][flags][width][.precision]conversion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They start with a percent sign, and end with a conversion symbol, and have lots of options in between.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We've looked at one conversion type, </a:t>
            </a:r>
            <a:r>
              <a:rPr lang="en-US" sz="6400" b="1" dirty="0">
                <a:latin typeface="Open Sans" panose="020B0606030504020204" pitchFamily="34" charset="0"/>
                <a:ea typeface="Open Sans" panose="020B0606030504020204" pitchFamily="34" charset="0"/>
                <a:cs typeface="Open Sans" panose="020B0606030504020204" pitchFamily="34" charset="0"/>
              </a:rPr>
              <a:t>d</a:t>
            </a:r>
            <a:r>
              <a:rPr lang="en-US" sz="6400" dirty="0">
                <a:latin typeface="Open Sans" panose="020B0606030504020204" pitchFamily="34" charset="0"/>
                <a:ea typeface="Open Sans" panose="020B0606030504020204" pitchFamily="34" charset="0"/>
                <a:cs typeface="Open Sans" panose="020B0606030504020204" pitchFamily="34" charset="0"/>
              </a:rPr>
              <a:t>, which is the symbol used for a decimal integer value.</a:t>
            </a:r>
          </a:p>
        </p:txBody>
      </p:sp>
    </p:spTree>
    <p:extLst>
      <p:ext uri="{BB962C8B-B14F-4D97-AF65-F5344CB8AC3E}">
        <p14:creationId xmlns:p14="http://schemas.microsoft.com/office/powerpoint/2010/main" val="4132438287"/>
      </p:ext>
    </p:extLst>
  </p:cSld>
  <p:clrMapOvr>
    <a:masterClrMapping/>
  </p:clrMapOvr>
  <p:transition spd="slow"/>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667971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String</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Another Look at the String</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3404930"/>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String has </a:t>
            </a:r>
            <a:r>
              <a:rPr lang="en-US" sz="6400" b="1" dirty="0">
                <a:latin typeface="Open Sans" panose="020B0606030504020204" pitchFamily="34" charset="0"/>
                <a:ea typeface="Open Sans" panose="020B0606030504020204" pitchFamily="34" charset="0"/>
                <a:cs typeface="Open Sans" panose="020B0606030504020204" pitchFamily="34" charset="0"/>
              </a:rPr>
              <a:t>over 60 methods</a:t>
            </a:r>
            <a:r>
              <a:rPr lang="en-US" sz="6400" dirty="0">
                <a:latin typeface="Open Sans" panose="020B0606030504020204" pitchFamily="34" charset="0"/>
                <a:ea typeface="Open Sans" panose="020B0606030504020204" pitchFamily="34" charset="0"/>
                <a:cs typeface="Open Sans" panose="020B0606030504020204" pitchFamily="34" charset="0"/>
              </a:rPr>
              <a:t> available.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String is a sequence of characters, meaning its characters are ordered and indexed.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index starts at 0, and not 1.</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the table below, we show the indices above each character for the String, "Hello World".</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can say the character, 'H', is at index 0, and 'W', is at index 6.</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length of this String is 11, but its last index is 10.</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2" name="Table 1">
            <a:extLst>
              <a:ext uri="{FF2B5EF4-FFF2-40B4-BE49-F238E27FC236}">
                <a16:creationId xmlns:a16="http://schemas.microsoft.com/office/drawing/2014/main" id="{4544392F-CC0F-E2AC-B716-7E14595EC4FF}"/>
              </a:ext>
            </a:extLst>
          </p:cNvPr>
          <p:cNvGraphicFramePr>
            <a:graphicFrameLocks noGrp="1"/>
          </p:cNvGraphicFramePr>
          <p:nvPr/>
        </p:nvGraphicFramePr>
        <p:xfrm>
          <a:off x="952498" y="10608729"/>
          <a:ext cx="34782672" cy="2901997"/>
        </p:xfrm>
        <a:graphic>
          <a:graphicData uri="http://schemas.openxmlformats.org/drawingml/2006/table">
            <a:tbl>
              <a:tblPr firstRow="1" bandRow="1">
                <a:tableStyleId>{5C22544A-7EE6-4342-B048-85BDC9FD1C3A}</a:tableStyleId>
              </a:tblPr>
              <a:tblGrid>
                <a:gridCol w="5622629">
                  <a:extLst>
                    <a:ext uri="{9D8B030D-6E8A-4147-A177-3AD203B41FA5}">
                      <a16:colId xmlns:a16="http://schemas.microsoft.com/office/drawing/2014/main" val="2844207666"/>
                    </a:ext>
                  </a:extLst>
                </a:gridCol>
                <a:gridCol w="2650913">
                  <a:extLst>
                    <a:ext uri="{9D8B030D-6E8A-4147-A177-3AD203B41FA5}">
                      <a16:colId xmlns:a16="http://schemas.microsoft.com/office/drawing/2014/main" val="921612891"/>
                    </a:ext>
                  </a:extLst>
                </a:gridCol>
                <a:gridCol w="2650913">
                  <a:extLst>
                    <a:ext uri="{9D8B030D-6E8A-4147-A177-3AD203B41FA5}">
                      <a16:colId xmlns:a16="http://schemas.microsoft.com/office/drawing/2014/main" val="1078687579"/>
                    </a:ext>
                  </a:extLst>
                </a:gridCol>
                <a:gridCol w="2650913">
                  <a:extLst>
                    <a:ext uri="{9D8B030D-6E8A-4147-A177-3AD203B41FA5}">
                      <a16:colId xmlns:a16="http://schemas.microsoft.com/office/drawing/2014/main" val="2858330520"/>
                    </a:ext>
                  </a:extLst>
                </a:gridCol>
                <a:gridCol w="2650913">
                  <a:extLst>
                    <a:ext uri="{9D8B030D-6E8A-4147-A177-3AD203B41FA5}">
                      <a16:colId xmlns:a16="http://schemas.microsoft.com/office/drawing/2014/main" val="2009599940"/>
                    </a:ext>
                  </a:extLst>
                </a:gridCol>
                <a:gridCol w="2650913">
                  <a:extLst>
                    <a:ext uri="{9D8B030D-6E8A-4147-A177-3AD203B41FA5}">
                      <a16:colId xmlns:a16="http://schemas.microsoft.com/office/drawing/2014/main" val="599316510"/>
                    </a:ext>
                  </a:extLst>
                </a:gridCol>
                <a:gridCol w="2650913">
                  <a:extLst>
                    <a:ext uri="{9D8B030D-6E8A-4147-A177-3AD203B41FA5}">
                      <a16:colId xmlns:a16="http://schemas.microsoft.com/office/drawing/2014/main" val="4103842139"/>
                    </a:ext>
                  </a:extLst>
                </a:gridCol>
                <a:gridCol w="2650913">
                  <a:extLst>
                    <a:ext uri="{9D8B030D-6E8A-4147-A177-3AD203B41FA5}">
                      <a16:colId xmlns:a16="http://schemas.microsoft.com/office/drawing/2014/main" val="1912961712"/>
                    </a:ext>
                  </a:extLst>
                </a:gridCol>
                <a:gridCol w="2650913">
                  <a:extLst>
                    <a:ext uri="{9D8B030D-6E8A-4147-A177-3AD203B41FA5}">
                      <a16:colId xmlns:a16="http://schemas.microsoft.com/office/drawing/2014/main" val="1598926131"/>
                    </a:ext>
                  </a:extLst>
                </a:gridCol>
                <a:gridCol w="2650913">
                  <a:extLst>
                    <a:ext uri="{9D8B030D-6E8A-4147-A177-3AD203B41FA5}">
                      <a16:colId xmlns:a16="http://schemas.microsoft.com/office/drawing/2014/main" val="3606733607"/>
                    </a:ext>
                  </a:extLst>
                </a:gridCol>
                <a:gridCol w="2650913">
                  <a:extLst>
                    <a:ext uri="{9D8B030D-6E8A-4147-A177-3AD203B41FA5}">
                      <a16:colId xmlns:a16="http://schemas.microsoft.com/office/drawing/2014/main" val="3079900128"/>
                    </a:ext>
                  </a:extLst>
                </a:gridCol>
                <a:gridCol w="2650913">
                  <a:extLst>
                    <a:ext uri="{9D8B030D-6E8A-4147-A177-3AD203B41FA5}">
                      <a16:colId xmlns:a16="http://schemas.microsoft.com/office/drawing/2014/main" val="173328760"/>
                    </a:ext>
                  </a:extLst>
                </a:gridCol>
              </a:tblGrid>
              <a:tr h="1482292">
                <a:tc>
                  <a:txBody>
                    <a:bodyPr/>
                    <a:lstStyle/>
                    <a:p>
                      <a:pPr marL="180000" algn="l"/>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Index</a:t>
                      </a:r>
                      <a:endParaRPr lang="en-PH"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0</a:t>
                      </a:r>
                      <a:endParaRPr lang="en-PH"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1</a:t>
                      </a:r>
                      <a:endParaRPr lang="en-PH"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2</a:t>
                      </a:r>
                      <a:endParaRPr lang="en-PH"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3</a:t>
                      </a:r>
                      <a:endParaRPr lang="en-PH"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4</a:t>
                      </a:r>
                      <a:endParaRPr lang="en-PH"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5</a:t>
                      </a:r>
                      <a:endParaRPr lang="en-PH"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6</a:t>
                      </a:r>
                      <a:endParaRPr lang="en-PH"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7</a:t>
                      </a:r>
                      <a:endParaRPr lang="en-PH"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8</a:t>
                      </a:r>
                      <a:endParaRPr lang="en-PH"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9</a:t>
                      </a:r>
                      <a:endParaRPr lang="en-PH"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10</a:t>
                      </a:r>
                      <a:endParaRPr lang="en-PH"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1419705">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Character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H</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l</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l</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W</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l</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d</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bl>
          </a:graphicData>
        </a:graphic>
      </p:graphicFrame>
    </p:spTree>
    <p:extLst>
      <p:ext uri="{BB962C8B-B14F-4D97-AF65-F5344CB8AC3E}">
        <p14:creationId xmlns:p14="http://schemas.microsoft.com/office/powerpoint/2010/main" val="4245386167"/>
      </p:ext>
    </p:extLst>
  </p:cSld>
  <p:clrMapOvr>
    <a:masterClrMapping/>
  </p:clrMapOvr>
  <p:transition spd="slow"/>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019944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The purpose of String methods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Another Look at the String</a:t>
            </a:r>
          </a:p>
        </p:txBody>
      </p:sp>
      <p:sp>
        <p:nvSpPr>
          <p:cNvPr id="3" name="Rectangle 2">
            <a:extLst>
              <a:ext uri="{FF2B5EF4-FFF2-40B4-BE49-F238E27FC236}">
                <a16:creationId xmlns:a16="http://schemas.microsoft.com/office/drawing/2014/main" id="{8ECDBB9F-B6E1-B9F7-4E07-8D653006A106}"/>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can split String's methods up into three basic categories: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String Inspection Methods.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Methods for Comparing String values.</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String Manipulation Methods.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Let's start with a look at some of the String Inspection Methods.</a:t>
            </a:r>
          </a:p>
        </p:txBody>
      </p:sp>
    </p:spTree>
    <p:extLst>
      <p:ext uri="{BB962C8B-B14F-4D97-AF65-F5344CB8AC3E}">
        <p14:creationId xmlns:p14="http://schemas.microsoft.com/office/powerpoint/2010/main" val="4063947136"/>
      </p:ext>
    </p:extLst>
  </p:cSld>
  <p:clrMapOvr>
    <a:masterClrMapping/>
  </p:clrMapOvr>
  <p:transition spd="slow"/>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706396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String Inspection Methods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Another Look at the String</a:t>
            </a:r>
          </a:p>
        </p:txBody>
      </p:sp>
      <p:graphicFrame>
        <p:nvGraphicFramePr>
          <p:cNvPr id="2" name="Table 1">
            <a:extLst>
              <a:ext uri="{FF2B5EF4-FFF2-40B4-BE49-F238E27FC236}">
                <a16:creationId xmlns:a16="http://schemas.microsoft.com/office/drawing/2014/main" id="{764CDC76-C8DB-4250-B020-A713A5561300}"/>
              </a:ext>
            </a:extLst>
          </p:cNvPr>
          <p:cNvGraphicFramePr>
            <a:graphicFrameLocks noGrp="1"/>
          </p:cNvGraphicFramePr>
          <p:nvPr/>
        </p:nvGraphicFramePr>
        <p:xfrm>
          <a:off x="952498" y="3803897"/>
          <a:ext cx="34782668" cy="12966207"/>
        </p:xfrm>
        <a:graphic>
          <a:graphicData uri="http://schemas.openxmlformats.org/drawingml/2006/table">
            <a:tbl>
              <a:tblPr firstRow="1" bandRow="1">
                <a:tableStyleId>{5C22544A-7EE6-4342-B048-85BDC9FD1C3A}</a:tableStyleId>
              </a:tblPr>
              <a:tblGrid>
                <a:gridCol w="6120106">
                  <a:extLst>
                    <a:ext uri="{9D8B030D-6E8A-4147-A177-3AD203B41FA5}">
                      <a16:colId xmlns:a16="http://schemas.microsoft.com/office/drawing/2014/main" val="2844207666"/>
                    </a:ext>
                  </a:extLst>
                </a:gridCol>
                <a:gridCol w="28662562">
                  <a:extLst>
                    <a:ext uri="{9D8B030D-6E8A-4147-A177-3AD203B41FA5}">
                      <a16:colId xmlns:a16="http://schemas.microsoft.com/office/drawing/2014/main" val="921612891"/>
                    </a:ext>
                  </a:extLst>
                </a:gridCol>
              </a:tblGrid>
              <a:tr h="1482292">
                <a:tc>
                  <a:txBody>
                    <a:bodyPr/>
                    <a:lstStyle/>
                    <a:p>
                      <a:pPr marL="180000" algn="l"/>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229678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length</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Returns the number of characters in the String.</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229678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charAt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Returns the character at the index that's passed.</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7097468"/>
                  </a:ext>
                </a:extLst>
              </a:tr>
              <a:tr h="229678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indexOf</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lastIndexOf</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Returns an integer, representing the index in the sequence where the String or character passed, can be located in the String.</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4012596"/>
                  </a:ext>
                </a:extLst>
              </a:tr>
              <a:tr h="229678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isEmpty</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Returns true if length is zero.</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17518995"/>
                  </a:ext>
                </a:extLst>
              </a:tr>
              <a:tr h="229678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isBlank</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Returns true if length is zero OR the string only contains whitespace characters, added in JDK 11.</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84420294"/>
                  </a:ext>
                </a:extLst>
              </a:tr>
            </a:tbl>
          </a:graphicData>
        </a:graphic>
      </p:graphicFrame>
    </p:spTree>
    <p:extLst>
      <p:ext uri="{BB962C8B-B14F-4D97-AF65-F5344CB8AC3E}">
        <p14:creationId xmlns:p14="http://schemas.microsoft.com/office/powerpoint/2010/main" val="165949424"/>
      </p:ext>
    </p:extLst>
  </p:cSld>
  <p:clrMapOvr>
    <a:masterClrMapping/>
  </p:clrMapOvr>
  <p:transition spd="slow"/>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859804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String Comparison Methods </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Another Look at the String</a:t>
            </a:r>
          </a:p>
        </p:txBody>
      </p:sp>
      <p:graphicFrame>
        <p:nvGraphicFramePr>
          <p:cNvPr id="2" name="Table 1">
            <a:extLst>
              <a:ext uri="{FF2B5EF4-FFF2-40B4-BE49-F238E27FC236}">
                <a16:creationId xmlns:a16="http://schemas.microsoft.com/office/drawing/2014/main" id="{764CDC76-C8DB-4250-B020-A713A5561300}"/>
              </a:ext>
            </a:extLst>
          </p:cNvPr>
          <p:cNvGraphicFramePr>
            <a:graphicFrameLocks noGrp="1"/>
          </p:cNvGraphicFramePr>
          <p:nvPr/>
        </p:nvGraphicFramePr>
        <p:xfrm>
          <a:off x="952498" y="3803897"/>
          <a:ext cx="34782668" cy="10098715"/>
        </p:xfrm>
        <a:graphic>
          <a:graphicData uri="http://schemas.openxmlformats.org/drawingml/2006/table">
            <a:tbl>
              <a:tblPr firstRow="1" bandRow="1">
                <a:tableStyleId>{5C22544A-7EE6-4342-B048-85BDC9FD1C3A}</a:tableStyleId>
              </a:tblPr>
              <a:tblGrid>
                <a:gridCol w="8583388">
                  <a:extLst>
                    <a:ext uri="{9D8B030D-6E8A-4147-A177-3AD203B41FA5}">
                      <a16:colId xmlns:a16="http://schemas.microsoft.com/office/drawing/2014/main" val="2844207666"/>
                    </a:ext>
                  </a:extLst>
                </a:gridCol>
                <a:gridCol w="26199280">
                  <a:extLst>
                    <a:ext uri="{9D8B030D-6E8A-4147-A177-3AD203B41FA5}">
                      <a16:colId xmlns:a16="http://schemas.microsoft.com/office/drawing/2014/main" val="921612891"/>
                    </a:ext>
                  </a:extLst>
                </a:gridCol>
              </a:tblGrid>
              <a:tr h="1482292">
                <a:tc>
                  <a:txBody>
                    <a:bodyPr/>
                    <a:lstStyle/>
                    <a:p>
                      <a:pPr marL="180000" algn="l"/>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3557449">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contentEquals</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Returns a </a:t>
                      </a: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if the String's value is equal to the value of the argument passed. This method allows for arguments other than String, for any type that is a character sequence.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2558370">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equals</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 a </a:t>
                      </a: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if the String's value is equal to the value of the argument passed. </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7097468"/>
                  </a:ext>
                </a:extLst>
              </a:tr>
              <a:tr h="2500604">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equalsIgnoreCase</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 a </a:t>
                      </a: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if the String's value is equal (ignoring case), to the value of the argument passed. </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4012596"/>
                  </a:ext>
                </a:extLst>
              </a:tr>
            </a:tbl>
          </a:graphicData>
        </a:graphic>
      </p:graphicFrame>
    </p:spTree>
    <p:extLst>
      <p:ext uri="{BB962C8B-B14F-4D97-AF65-F5344CB8AC3E}">
        <p14:creationId xmlns:p14="http://schemas.microsoft.com/office/powerpoint/2010/main" val="2742489999"/>
      </p:ext>
    </p:extLst>
  </p:cSld>
  <p:clrMapOvr>
    <a:masterClrMapping/>
  </p:clrMapOvr>
  <p:transition spd="slow"/>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823896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String Comparison Methods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Another Look at the String</a:t>
            </a:r>
          </a:p>
        </p:txBody>
      </p:sp>
      <p:graphicFrame>
        <p:nvGraphicFramePr>
          <p:cNvPr id="2" name="Table 1">
            <a:extLst>
              <a:ext uri="{FF2B5EF4-FFF2-40B4-BE49-F238E27FC236}">
                <a16:creationId xmlns:a16="http://schemas.microsoft.com/office/drawing/2014/main" id="{764CDC76-C8DB-4250-B020-A713A5561300}"/>
              </a:ext>
            </a:extLst>
          </p:cNvPr>
          <p:cNvGraphicFramePr>
            <a:graphicFrameLocks noGrp="1"/>
          </p:cNvGraphicFramePr>
          <p:nvPr/>
        </p:nvGraphicFramePr>
        <p:xfrm>
          <a:off x="952498" y="3803897"/>
          <a:ext cx="34782668" cy="10137820"/>
        </p:xfrm>
        <a:graphic>
          <a:graphicData uri="http://schemas.openxmlformats.org/drawingml/2006/table">
            <a:tbl>
              <a:tblPr firstRow="1" bandRow="1">
                <a:tableStyleId>{5C22544A-7EE6-4342-B048-85BDC9FD1C3A}</a:tableStyleId>
              </a:tblPr>
              <a:tblGrid>
                <a:gridCol w="7277102">
                  <a:extLst>
                    <a:ext uri="{9D8B030D-6E8A-4147-A177-3AD203B41FA5}">
                      <a16:colId xmlns:a16="http://schemas.microsoft.com/office/drawing/2014/main" val="2844207666"/>
                    </a:ext>
                  </a:extLst>
                </a:gridCol>
                <a:gridCol w="27505566">
                  <a:extLst>
                    <a:ext uri="{9D8B030D-6E8A-4147-A177-3AD203B41FA5}">
                      <a16:colId xmlns:a16="http://schemas.microsoft.com/office/drawing/2014/main" val="921612891"/>
                    </a:ext>
                  </a:extLst>
                </a:gridCol>
              </a:tblGrid>
              <a:tr h="1482292">
                <a:tc>
                  <a:txBody>
                    <a:bodyPr/>
                    <a:lstStyle/>
                    <a:p>
                      <a:pPr marL="180000" algn="l"/>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2327591">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contains</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Returns a </a:t>
                      </a: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if the String contains the argument passed.</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382733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endsWith</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startsWith</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a:solidFill>
                            <a:schemeClr val="tx1"/>
                          </a:solidFill>
                          <a:latin typeface="Open Sans" panose="020B0606030504020204" pitchFamily="34" charset="0"/>
                          <a:ea typeface="Open Sans" panose="020B0606030504020204" pitchFamily="34" charset="0"/>
                          <a:cs typeface="Open Sans" panose="020B0606030504020204" pitchFamily="34" charset="0"/>
                        </a:rPr>
                        <a:t>These return </a:t>
                      </a: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 </a:t>
                      </a: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and are much like the contains method, but more specific to the placement of the argument in the String.</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7097468"/>
                  </a:ext>
                </a:extLst>
              </a:tr>
              <a:tr h="2500604">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regionMatches</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Returns a </a:t>
                      </a: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if defined sub-regions are matched.</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4012596"/>
                  </a:ext>
                </a:extLst>
              </a:tr>
            </a:tbl>
          </a:graphicData>
        </a:graphic>
      </p:graphicFrame>
    </p:spTree>
    <p:extLst>
      <p:ext uri="{BB962C8B-B14F-4D97-AF65-F5344CB8AC3E}">
        <p14:creationId xmlns:p14="http://schemas.microsoft.com/office/powerpoint/2010/main" val="3009370807"/>
      </p:ext>
    </p:extLst>
  </p:cSld>
  <p:clrMapOvr>
    <a:masterClrMapping/>
  </p:clrMapOvr>
  <p:transition spd="slow"/>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823896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String Comparison Methods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String Manipulation Methods</a:t>
            </a:r>
          </a:p>
        </p:txBody>
      </p:sp>
      <p:graphicFrame>
        <p:nvGraphicFramePr>
          <p:cNvPr id="2" name="Table 1">
            <a:extLst>
              <a:ext uri="{FF2B5EF4-FFF2-40B4-BE49-F238E27FC236}">
                <a16:creationId xmlns:a16="http://schemas.microsoft.com/office/drawing/2014/main" id="{764CDC76-C8DB-4250-B020-A713A5561300}"/>
              </a:ext>
            </a:extLst>
          </p:cNvPr>
          <p:cNvGraphicFramePr>
            <a:graphicFrameLocks noGrp="1"/>
          </p:cNvGraphicFramePr>
          <p:nvPr/>
        </p:nvGraphicFramePr>
        <p:xfrm>
          <a:off x="952500" y="6677254"/>
          <a:ext cx="34782668" cy="11181538"/>
        </p:xfrm>
        <a:graphic>
          <a:graphicData uri="http://schemas.openxmlformats.org/drawingml/2006/table">
            <a:tbl>
              <a:tblPr firstRow="1" bandRow="1">
                <a:tableStyleId>{5C22544A-7EE6-4342-B048-85BDC9FD1C3A}</a:tableStyleId>
              </a:tblPr>
              <a:tblGrid>
                <a:gridCol w="7277102">
                  <a:extLst>
                    <a:ext uri="{9D8B030D-6E8A-4147-A177-3AD203B41FA5}">
                      <a16:colId xmlns:a16="http://schemas.microsoft.com/office/drawing/2014/main" val="2844207666"/>
                    </a:ext>
                  </a:extLst>
                </a:gridCol>
                <a:gridCol w="27505566">
                  <a:extLst>
                    <a:ext uri="{9D8B030D-6E8A-4147-A177-3AD203B41FA5}">
                      <a16:colId xmlns:a16="http://schemas.microsoft.com/office/drawing/2014/main" val="921612891"/>
                    </a:ext>
                  </a:extLst>
                </a:gridCol>
              </a:tblGrid>
              <a:tr h="1482292">
                <a:tc>
                  <a:txBody>
                    <a:bodyPr/>
                    <a:lstStyle/>
                    <a:p>
                      <a:pPr marL="180000" algn="l"/>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2327591">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indent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This method was added in JDK 15, and adds or removes spaces from the beginning of lines in multi-line text.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4871051">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strip </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stripLeading</a:t>
                      </a: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 </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stripTrailing</a:t>
                      </a: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 </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trim</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The difference between the strip method and trim method is that the strip() supports a larger set of white space characters. It and the corresponding </a:t>
                      </a: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stripLeading</a:t>
                      </a: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and </a:t>
                      </a: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stripTrailing</a:t>
                      </a: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methods were added in JDK 11.</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7097468"/>
                  </a:ext>
                </a:extLst>
              </a:tr>
              <a:tr h="2500604">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toLowerCase</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toUpperCase</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Returns a new String, either in a lower case or in upper case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4012596"/>
                  </a:ext>
                </a:extLst>
              </a:tr>
            </a:tbl>
          </a:graphicData>
        </a:graphic>
      </p:graphicFrame>
      <p:sp>
        <p:nvSpPr>
          <p:cNvPr id="3" name="Rectangle 2">
            <a:extLst>
              <a:ext uri="{FF2B5EF4-FFF2-40B4-BE49-F238E27FC236}">
                <a16:creationId xmlns:a16="http://schemas.microsoft.com/office/drawing/2014/main" id="{926CDBAD-CECF-3F7C-BF7F-CFBD7BBCD4C6}"/>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first set of methods, don't actually change the underlying meaning of the text value, but perform some kind of clean up.</a:t>
            </a:r>
          </a:p>
        </p:txBody>
      </p:sp>
    </p:spTree>
    <p:extLst>
      <p:ext uri="{BB962C8B-B14F-4D97-AF65-F5344CB8AC3E}">
        <p14:creationId xmlns:p14="http://schemas.microsoft.com/office/powerpoint/2010/main" val="3034466957"/>
      </p:ext>
    </p:extLst>
  </p:cSld>
  <p:clrMapOvr>
    <a:masterClrMapping/>
  </p:clrMapOvr>
  <p:transition spd="slow"/>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String Manipulation Methods</a:t>
            </a:r>
          </a:p>
        </p:txBody>
      </p:sp>
      <p:graphicFrame>
        <p:nvGraphicFramePr>
          <p:cNvPr id="2" name="Table 1">
            <a:extLst>
              <a:ext uri="{FF2B5EF4-FFF2-40B4-BE49-F238E27FC236}">
                <a16:creationId xmlns:a16="http://schemas.microsoft.com/office/drawing/2014/main" id="{764CDC76-C8DB-4250-B020-A713A5561300}"/>
              </a:ext>
            </a:extLst>
          </p:cNvPr>
          <p:cNvGraphicFramePr>
            <a:graphicFrameLocks noGrp="1"/>
          </p:cNvGraphicFramePr>
          <p:nvPr/>
        </p:nvGraphicFramePr>
        <p:xfrm>
          <a:off x="952500" y="3110868"/>
          <a:ext cx="34782668" cy="14820438"/>
        </p:xfrm>
        <a:graphic>
          <a:graphicData uri="http://schemas.openxmlformats.org/drawingml/2006/table">
            <a:tbl>
              <a:tblPr firstRow="1" bandRow="1">
                <a:tableStyleId>{5C22544A-7EE6-4342-B048-85BDC9FD1C3A}</a:tableStyleId>
              </a:tblPr>
              <a:tblGrid>
                <a:gridCol w="7277102">
                  <a:extLst>
                    <a:ext uri="{9D8B030D-6E8A-4147-A177-3AD203B41FA5}">
                      <a16:colId xmlns:a16="http://schemas.microsoft.com/office/drawing/2014/main" val="2844207666"/>
                    </a:ext>
                  </a:extLst>
                </a:gridCol>
                <a:gridCol w="27505566">
                  <a:extLst>
                    <a:ext uri="{9D8B030D-6E8A-4147-A177-3AD203B41FA5}">
                      <a16:colId xmlns:a16="http://schemas.microsoft.com/office/drawing/2014/main" val="921612891"/>
                    </a:ext>
                  </a:extLst>
                </a:gridCol>
              </a:tblGrid>
              <a:tr h="1482292">
                <a:tc>
                  <a:txBody>
                    <a:bodyPr/>
                    <a:lstStyle/>
                    <a:p>
                      <a:pPr marL="180000" algn="l"/>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2327591">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concat</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Similar to the plus operator for strings, it concatenates text to the String and returns a new String as the result.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2442122">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join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Allows multiple strings to be concatenated together in a single method, specifying a delimiter.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7097468"/>
                  </a:ext>
                </a:extLst>
              </a:tr>
              <a:tr h="2442122">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repeat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Returns the String repeated by the number of times specified in the argument.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90566997"/>
                  </a:ext>
                </a:extLst>
              </a:tr>
              <a:tr h="3625707">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replace </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replaceAll</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replaceFirst</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These methods replace characters or strings in the string, returning a new String with replacements made.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4012596"/>
                  </a:ext>
                </a:extLst>
              </a:tr>
              <a:tr h="2500604">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substring </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subSequence</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These return a part of the String, its range defined by the start and end index specified.</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4230643"/>
                  </a:ext>
                </a:extLst>
              </a:tr>
            </a:tbl>
          </a:graphicData>
        </a:graphic>
      </p:graphicFrame>
      <p:sp>
        <p:nvSpPr>
          <p:cNvPr id="3" name="Rectangle 2">
            <a:extLst>
              <a:ext uri="{FF2B5EF4-FFF2-40B4-BE49-F238E27FC236}">
                <a16:creationId xmlns:a16="http://schemas.microsoft.com/office/drawing/2014/main" id="{926CDBAD-CECF-3F7C-BF7F-CFBD7BBCD4C6}"/>
              </a:ext>
            </a:extLst>
          </p:cNvPr>
          <p:cNvSpPr/>
          <p:nvPr/>
        </p:nvSpPr>
        <p:spPr>
          <a:xfrm>
            <a:off x="952501" y="691613"/>
            <a:ext cx="34782670" cy="13083738"/>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second set of string manipulation methods, transform the String value, and return a String with a different meaning, than the original String.</a:t>
            </a:r>
          </a:p>
        </p:txBody>
      </p:sp>
    </p:spTree>
    <p:extLst>
      <p:ext uri="{BB962C8B-B14F-4D97-AF65-F5344CB8AC3E}">
        <p14:creationId xmlns:p14="http://schemas.microsoft.com/office/powerpoint/2010/main" val="37934587"/>
      </p:ext>
    </p:extLst>
  </p:cSld>
  <p:clrMapOvr>
    <a:masterClrMapping/>
  </p:clrMapOvr>
  <p:transition spd="slow"/>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478129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String vs StringBuilder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StringBuilder class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Java provides a mutable class that lets us change its text value.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the StringBuilder Class.</a:t>
            </a:r>
          </a:p>
        </p:txBody>
      </p:sp>
    </p:spTree>
    <p:extLst>
      <p:ext uri="{BB962C8B-B14F-4D97-AF65-F5344CB8AC3E}">
        <p14:creationId xmlns:p14="http://schemas.microsoft.com/office/powerpoint/2010/main" val="3710276611"/>
      </p:ext>
    </p:extLst>
  </p:cSld>
  <p:clrMapOvr>
    <a:masterClrMapping/>
  </p:clrMapOvr>
  <p:transition spd="slow"/>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05137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Creating Instances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StringBuilder class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8640151"/>
            <a:ext cx="34782670" cy="9291151"/>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 are four ways to create a new StringBuilder object, using the new keyword:</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Pass a String.</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Pass no arguments at all.</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Pass an integer value.</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Pass some other type of character sequence (like StringBuilder).</a:t>
            </a:r>
          </a:p>
        </p:txBody>
      </p:sp>
      <p:sp>
        <p:nvSpPr>
          <p:cNvPr id="2" name="Rectangle 1">
            <a:extLst>
              <a:ext uri="{FF2B5EF4-FFF2-40B4-BE49-F238E27FC236}">
                <a16:creationId xmlns:a16="http://schemas.microsoft.com/office/drawing/2014/main" id="{E9C16ABC-199B-C8CF-98EF-526B3F073187}"/>
              </a:ext>
            </a:extLst>
          </p:cNvPr>
          <p:cNvSpPr/>
          <p:nvPr/>
        </p:nvSpPr>
        <p:spPr>
          <a:xfrm>
            <a:off x="952497" y="4161437"/>
            <a:ext cx="16945944" cy="3847931"/>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3" name="Rectangle 2">
            <a:extLst>
              <a:ext uri="{FF2B5EF4-FFF2-40B4-BE49-F238E27FC236}">
                <a16:creationId xmlns:a16="http://schemas.microsoft.com/office/drawing/2014/main" id="{332E772E-E5B3-EED3-B9BD-CA65F31D31FC}"/>
              </a:ext>
            </a:extLst>
          </p:cNvPr>
          <p:cNvSpPr/>
          <p:nvPr/>
        </p:nvSpPr>
        <p:spPr>
          <a:xfrm>
            <a:off x="18343833" y="4161437"/>
            <a:ext cx="17391335" cy="3847931"/>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4" name="Rectangle 3">
            <a:extLst>
              <a:ext uri="{FF2B5EF4-FFF2-40B4-BE49-F238E27FC236}">
                <a16:creationId xmlns:a16="http://schemas.microsoft.com/office/drawing/2014/main" id="{266F6092-C038-B67D-3119-02B99F796659}"/>
              </a:ext>
            </a:extLst>
          </p:cNvPr>
          <p:cNvSpPr/>
          <p:nvPr/>
        </p:nvSpPr>
        <p:spPr>
          <a:xfrm>
            <a:off x="1207648" y="4195633"/>
            <a:ext cx="15498391" cy="1087477"/>
          </a:xfrm>
          <a:prstGeom prst="rect">
            <a:avLst/>
          </a:prstGeom>
          <a:noFill/>
          <a:ln w="7620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Instantiating String Objects</a:t>
            </a:r>
          </a:p>
        </p:txBody>
      </p:sp>
      <p:sp>
        <p:nvSpPr>
          <p:cNvPr id="5" name="Rectangle 4">
            <a:extLst>
              <a:ext uri="{FF2B5EF4-FFF2-40B4-BE49-F238E27FC236}">
                <a16:creationId xmlns:a16="http://schemas.microsoft.com/office/drawing/2014/main" id="{70EE051F-5DB9-886F-7C85-2F7717DF0727}"/>
              </a:ext>
            </a:extLst>
          </p:cNvPr>
          <p:cNvSpPr/>
          <p:nvPr/>
        </p:nvSpPr>
        <p:spPr>
          <a:xfrm>
            <a:off x="18537339" y="4161437"/>
            <a:ext cx="15498391" cy="1087477"/>
          </a:xfrm>
          <a:prstGeom prst="rect">
            <a:avLst/>
          </a:prstGeom>
          <a:noFill/>
          <a:ln w="7620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Instantiating StringBuilder Objects</a:t>
            </a:r>
          </a:p>
        </p:txBody>
      </p:sp>
      <p:pic>
        <p:nvPicPr>
          <p:cNvPr id="12" name="Picture 11">
            <a:extLst>
              <a:ext uri="{FF2B5EF4-FFF2-40B4-BE49-F238E27FC236}">
                <a16:creationId xmlns:a16="http://schemas.microsoft.com/office/drawing/2014/main" id="{A81537AD-F7D5-78BC-C0F7-03CF19A412A7}"/>
              </a:ext>
            </a:extLst>
          </p:cNvPr>
          <p:cNvPicPr>
            <a:picLocks noChangeAspect="1"/>
          </p:cNvPicPr>
          <p:nvPr/>
        </p:nvPicPr>
        <p:blipFill>
          <a:blip r:embed="rId4"/>
          <a:stretch>
            <a:fillRect/>
          </a:stretch>
        </p:blipFill>
        <p:spPr>
          <a:xfrm>
            <a:off x="18537890" y="5528122"/>
            <a:ext cx="15342315" cy="2083990"/>
          </a:xfrm>
          <a:prstGeom prst="rect">
            <a:avLst/>
          </a:prstGeom>
        </p:spPr>
      </p:pic>
      <p:pic>
        <p:nvPicPr>
          <p:cNvPr id="14" name="Picture 13">
            <a:extLst>
              <a:ext uri="{FF2B5EF4-FFF2-40B4-BE49-F238E27FC236}">
                <a16:creationId xmlns:a16="http://schemas.microsoft.com/office/drawing/2014/main" id="{1082C8CD-8496-8B0E-1BCE-8C06ADC1B362}"/>
              </a:ext>
            </a:extLst>
          </p:cNvPr>
          <p:cNvPicPr>
            <a:picLocks noChangeAspect="1"/>
          </p:cNvPicPr>
          <p:nvPr/>
        </p:nvPicPr>
        <p:blipFill>
          <a:blip r:embed="rId5"/>
          <a:stretch>
            <a:fillRect/>
          </a:stretch>
        </p:blipFill>
        <p:spPr>
          <a:xfrm>
            <a:off x="1133004" y="5550101"/>
            <a:ext cx="16595159" cy="1545489"/>
          </a:xfrm>
          <a:prstGeom prst="rect">
            <a:avLst/>
          </a:prstGeom>
        </p:spPr>
      </p:pic>
    </p:spTree>
    <p:extLst>
      <p:ext uri="{BB962C8B-B14F-4D97-AF65-F5344CB8AC3E}">
        <p14:creationId xmlns:p14="http://schemas.microsoft.com/office/powerpoint/2010/main" val="4123313854"/>
      </p:ext>
    </p:extLst>
  </p:cSld>
  <p:clrMapOvr>
    <a:masterClrMapping/>
  </p:clrMapOvr>
  <p:transition spd="slow"/>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5E105779-45E2-6474-3E20-D4C035AF3F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37106" y="3023984"/>
            <a:ext cx="13074776" cy="902971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E393F1C3-9C2A-FF81-96D2-B1F08ACB14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780" y="2873722"/>
            <a:ext cx="14934312" cy="8882377"/>
          </a:xfrm>
          <a:prstGeom prst="rect">
            <a:avLst/>
          </a:prstGeom>
          <a:noFill/>
          <a:extLst>
            <a:ext uri="{909E8E84-426E-40DD-AFC4-6F175D3DCCD1}">
              <a14:hiddenFill xmlns:a14="http://schemas.microsoft.com/office/drawing/2010/main">
                <a:solidFill>
                  <a:srgbClr val="FFFFFF"/>
                </a:solidFill>
              </a14:hiddenFill>
            </a:ext>
          </a:extLst>
        </p:spPr>
      </p:pic>
      <p:sp>
        <p:nvSpPr>
          <p:cNvPr id="126" name="Shape 126"/>
          <p:cNvSpPr/>
          <p:nvPr/>
        </p:nvSpPr>
        <p:spPr>
          <a:xfrm>
            <a:off x="952498" y="459786"/>
            <a:ext cx="3927357"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String</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5"/>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StringBuilder class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12006220"/>
            <a:ext cx="34782670" cy="592508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When we passed the String literal, "and Goodbye", to the </a:t>
            </a:r>
            <a:r>
              <a:rPr lang="en-US" sz="6400" dirty="0" err="1">
                <a:latin typeface="Open Sans" panose="020B0606030504020204" pitchFamily="34" charset="0"/>
                <a:ea typeface="Open Sans" panose="020B0606030504020204" pitchFamily="34" charset="0"/>
                <a:cs typeface="Open Sans" panose="020B0606030504020204" pitchFamily="34" charset="0"/>
              </a:rPr>
              <a:t>concat</a:t>
            </a:r>
            <a:r>
              <a:rPr lang="en-US" sz="6400" dirty="0">
                <a:latin typeface="Open Sans" panose="020B0606030504020204" pitchFamily="34" charset="0"/>
                <a:ea typeface="Open Sans" panose="020B0606030504020204" pitchFamily="34" charset="0"/>
                <a:cs typeface="Open Sans" panose="020B0606030504020204" pitchFamily="34" charset="0"/>
              </a:rPr>
              <a:t> method, this created an Object in memory for that literal, "and Goodbye".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 also created the result of the </a:t>
            </a:r>
            <a:r>
              <a:rPr lang="en-US" sz="6400" dirty="0" err="1">
                <a:latin typeface="Open Sans" panose="020B0606030504020204" pitchFamily="34" charset="0"/>
                <a:ea typeface="Open Sans" panose="020B0606030504020204" pitchFamily="34" charset="0"/>
                <a:cs typeface="Open Sans" panose="020B0606030504020204" pitchFamily="34" charset="0"/>
              </a:rPr>
              <a:t>concat</a:t>
            </a:r>
            <a:r>
              <a:rPr lang="en-US" sz="6400" dirty="0">
                <a:latin typeface="Open Sans" panose="020B0606030504020204" pitchFamily="34" charset="0"/>
                <a:ea typeface="Open Sans" panose="020B0606030504020204" pitchFamily="34" charset="0"/>
                <a:cs typeface="Open Sans" panose="020B0606030504020204" pitchFamily="34" charset="0"/>
              </a:rPr>
              <a:t> method, the object, the String, that has the value, "Hello World and Goodbye".</a:t>
            </a:r>
          </a:p>
        </p:txBody>
      </p:sp>
      <p:sp>
        <p:nvSpPr>
          <p:cNvPr id="2" name="Rectangle 1">
            <a:extLst>
              <a:ext uri="{FF2B5EF4-FFF2-40B4-BE49-F238E27FC236}">
                <a16:creationId xmlns:a16="http://schemas.microsoft.com/office/drawing/2014/main" id="{E9C16ABC-199B-C8CF-98EF-526B3F073187}"/>
              </a:ext>
            </a:extLst>
          </p:cNvPr>
          <p:cNvSpPr/>
          <p:nvPr/>
        </p:nvSpPr>
        <p:spPr>
          <a:xfrm>
            <a:off x="952498" y="2805754"/>
            <a:ext cx="17279669" cy="8745534"/>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3" name="Rectangle 2">
            <a:extLst>
              <a:ext uri="{FF2B5EF4-FFF2-40B4-BE49-F238E27FC236}">
                <a16:creationId xmlns:a16="http://schemas.microsoft.com/office/drawing/2014/main" id="{332E772E-E5B3-EED3-B9BD-CA65F31D31FC}"/>
              </a:ext>
            </a:extLst>
          </p:cNvPr>
          <p:cNvSpPr/>
          <p:nvPr/>
        </p:nvSpPr>
        <p:spPr>
          <a:xfrm>
            <a:off x="18232168" y="2805754"/>
            <a:ext cx="17503002" cy="8745534"/>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4" name="Rectangle 3">
            <a:extLst>
              <a:ext uri="{FF2B5EF4-FFF2-40B4-BE49-F238E27FC236}">
                <a16:creationId xmlns:a16="http://schemas.microsoft.com/office/drawing/2014/main" id="{266F6092-C038-B67D-3119-02B99F796659}"/>
              </a:ext>
            </a:extLst>
          </p:cNvPr>
          <p:cNvSpPr/>
          <p:nvPr/>
        </p:nvSpPr>
        <p:spPr>
          <a:xfrm>
            <a:off x="1207648" y="2940989"/>
            <a:ext cx="15498391" cy="779701"/>
          </a:xfrm>
          <a:prstGeom prst="rect">
            <a:avLst/>
          </a:prstGeom>
          <a:noFill/>
          <a:ln w="7620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Memory before executing </a:t>
            </a:r>
            <a:r>
              <a:rPr lang="en-US" sz="4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helloWorld.concat</a:t>
            </a: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 method</a:t>
            </a:r>
          </a:p>
        </p:txBody>
      </p:sp>
      <p:sp>
        <p:nvSpPr>
          <p:cNvPr id="5" name="Rectangle 4">
            <a:extLst>
              <a:ext uri="{FF2B5EF4-FFF2-40B4-BE49-F238E27FC236}">
                <a16:creationId xmlns:a16="http://schemas.microsoft.com/office/drawing/2014/main" id="{70EE051F-5DB9-886F-7C85-2F7717DF0727}"/>
              </a:ext>
            </a:extLst>
          </p:cNvPr>
          <p:cNvSpPr/>
          <p:nvPr/>
        </p:nvSpPr>
        <p:spPr>
          <a:xfrm>
            <a:off x="18537339" y="2940988"/>
            <a:ext cx="15498391" cy="779701"/>
          </a:xfrm>
          <a:prstGeom prst="rect">
            <a:avLst/>
          </a:prstGeom>
          <a:noFill/>
          <a:ln w="7620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Memory after executing </a:t>
            </a:r>
            <a:r>
              <a:rPr lang="en-US" sz="4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helloWorld.concat</a:t>
            </a: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 method</a:t>
            </a:r>
          </a:p>
        </p:txBody>
      </p:sp>
    </p:spTree>
    <p:extLst>
      <p:ext uri="{BB962C8B-B14F-4D97-AF65-F5344CB8AC3E}">
        <p14:creationId xmlns:p14="http://schemas.microsoft.com/office/powerpoint/2010/main" val="1459105146"/>
      </p:ext>
    </p:extLst>
  </p:cSld>
  <p:clrMapOvr>
    <a:masterClrMapping/>
  </p:clrMapOvr>
  <p:transition spd="slow"/>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5E105779-45E2-6474-3E20-D4C035AF3F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37106" y="3023984"/>
            <a:ext cx="13074776" cy="902971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E393F1C3-9C2A-FF81-96D2-B1F08ACB14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780" y="2873722"/>
            <a:ext cx="14934312" cy="8882377"/>
          </a:xfrm>
          <a:prstGeom prst="rect">
            <a:avLst/>
          </a:prstGeom>
          <a:noFill/>
          <a:extLst>
            <a:ext uri="{909E8E84-426E-40DD-AFC4-6F175D3DCCD1}">
              <a14:hiddenFill xmlns:a14="http://schemas.microsoft.com/office/drawing/2010/main">
                <a:solidFill>
                  <a:srgbClr val="FFFFFF"/>
                </a:solidFill>
              </a14:hiddenFill>
            </a:ext>
          </a:extLst>
        </p:spPr>
      </p:pic>
      <p:sp>
        <p:nvSpPr>
          <p:cNvPr id="126" name="Shape 126"/>
          <p:cNvSpPr/>
          <p:nvPr/>
        </p:nvSpPr>
        <p:spPr>
          <a:xfrm>
            <a:off x="952498" y="459786"/>
            <a:ext cx="3927357"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String</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5"/>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StringBuilder class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12006220"/>
            <a:ext cx="34782670" cy="592508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methods don't change the internals of the existing String object.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String referenced by the </a:t>
            </a:r>
            <a:r>
              <a:rPr lang="en-US" sz="6400" dirty="0" err="1">
                <a:latin typeface="Open Sans" panose="020B0606030504020204" pitchFamily="34" charset="0"/>
                <a:ea typeface="Open Sans" panose="020B0606030504020204" pitchFamily="34" charset="0"/>
                <a:cs typeface="Open Sans" panose="020B0606030504020204" pitchFamily="34" charset="0"/>
              </a:rPr>
              <a:t>helloWorld</a:t>
            </a:r>
            <a:r>
              <a:rPr lang="en-US" sz="6400" dirty="0">
                <a:latin typeface="Open Sans" panose="020B0606030504020204" pitchFamily="34" charset="0"/>
                <a:ea typeface="Open Sans" panose="020B0606030504020204" pitchFamily="34" charset="0"/>
                <a:cs typeface="Open Sans" panose="020B0606030504020204" pitchFamily="34" charset="0"/>
              </a:rPr>
              <a:t> variable never changed, instead a new String was created by the method call.</a:t>
            </a:r>
          </a:p>
        </p:txBody>
      </p:sp>
      <p:sp>
        <p:nvSpPr>
          <p:cNvPr id="2" name="Rectangle 1">
            <a:extLst>
              <a:ext uri="{FF2B5EF4-FFF2-40B4-BE49-F238E27FC236}">
                <a16:creationId xmlns:a16="http://schemas.microsoft.com/office/drawing/2014/main" id="{E9C16ABC-199B-C8CF-98EF-526B3F073187}"/>
              </a:ext>
            </a:extLst>
          </p:cNvPr>
          <p:cNvSpPr/>
          <p:nvPr/>
        </p:nvSpPr>
        <p:spPr>
          <a:xfrm>
            <a:off x="952498" y="2805754"/>
            <a:ext cx="17279669" cy="8745534"/>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3" name="Rectangle 2">
            <a:extLst>
              <a:ext uri="{FF2B5EF4-FFF2-40B4-BE49-F238E27FC236}">
                <a16:creationId xmlns:a16="http://schemas.microsoft.com/office/drawing/2014/main" id="{332E772E-E5B3-EED3-B9BD-CA65F31D31FC}"/>
              </a:ext>
            </a:extLst>
          </p:cNvPr>
          <p:cNvSpPr/>
          <p:nvPr/>
        </p:nvSpPr>
        <p:spPr>
          <a:xfrm>
            <a:off x="18232168" y="2805754"/>
            <a:ext cx="17503002" cy="8745534"/>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4" name="Rectangle 3">
            <a:extLst>
              <a:ext uri="{FF2B5EF4-FFF2-40B4-BE49-F238E27FC236}">
                <a16:creationId xmlns:a16="http://schemas.microsoft.com/office/drawing/2014/main" id="{266F6092-C038-B67D-3119-02B99F796659}"/>
              </a:ext>
            </a:extLst>
          </p:cNvPr>
          <p:cNvSpPr/>
          <p:nvPr/>
        </p:nvSpPr>
        <p:spPr>
          <a:xfrm>
            <a:off x="1207648" y="2940989"/>
            <a:ext cx="15498391" cy="779701"/>
          </a:xfrm>
          <a:prstGeom prst="rect">
            <a:avLst/>
          </a:prstGeom>
          <a:noFill/>
          <a:ln w="7620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Memory before executing </a:t>
            </a:r>
            <a:r>
              <a:rPr lang="en-US" sz="4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helloWorld.concat</a:t>
            </a: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 method</a:t>
            </a:r>
          </a:p>
        </p:txBody>
      </p:sp>
      <p:sp>
        <p:nvSpPr>
          <p:cNvPr id="5" name="Rectangle 4">
            <a:extLst>
              <a:ext uri="{FF2B5EF4-FFF2-40B4-BE49-F238E27FC236}">
                <a16:creationId xmlns:a16="http://schemas.microsoft.com/office/drawing/2014/main" id="{70EE051F-5DB9-886F-7C85-2F7717DF0727}"/>
              </a:ext>
            </a:extLst>
          </p:cNvPr>
          <p:cNvSpPr/>
          <p:nvPr/>
        </p:nvSpPr>
        <p:spPr>
          <a:xfrm>
            <a:off x="18537339" y="2940988"/>
            <a:ext cx="15498391" cy="779701"/>
          </a:xfrm>
          <a:prstGeom prst="rect">
            <a:avLst/>
          </a:prstGeom>
          <a:noFill/>
          <a:ln w="7620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Memory after executing </a:t>
            </a:r>
            <a:r>
              <a:rPr lang="en-US" sz="4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helloWorld.concat</a:t>
            </a: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 method</a:t>
            </a:r>
          </a:p>
        </p:txBody>
      </p:sp>
    </p:spTree>
    <p:extLst>
      <p:ext uri="{BB962C8B-B14F-4D97-AF65-F5344CB8AC3E}">
        <p14:creationId xmlns:p14="http://schemas.microsoft.com/office/powerpoint/2010/main" val="3730446646"/>
      </p:ext>
    </p:extLst>
  </p:cSld>
  <p:clrMapOvr>
    <a:masterClrMapping/>
  </p:clrMapOvr>
  <p:transition spd="slow"/>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12D708AF-455B-DDA5-2FCD-36D774A864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38662" y="3224541"/>
            <a:ext cx="14350332" cy="85999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62DF7F27-5E4E-06F2-C792-92C5D9E1FC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600" y="3190038"/>
            <a:ext cx="16800612" cy="8543029"/>
          </a:xfrm>
          <a:prstGeom prst="rect">
            <a:avLst/>
          </a:prstGeom>
          <a:noFill/>
          <a:extLst>
            <a:ext uri="{909E8E84-426E-40DD-AFC4-6F175D3DCCD1}">
              <a14:hiddenFill xmlns:a14="http://schemas.microsoft.com/office/drawing/2010/main">
                <a:solidFill>
                  <a:srgbClr val="FFFFFF"/>
                </a:solidFill>
              </a14:hiddenFill>
            </a:ext>
          </a:extLst>
        </p:spPr>
      </p:pic>
      <p:sp>
        <p:nvSpPr>
          <p:cNvPr id="126" name="Shape 126"/>
          <p:cNvSpPr/>
          <p:nvPr/>
        </p:nvSpPr>
        <p:spPr>
          <a:xfrm>
            <a:off x="952498" y="459786"/>
            <a:ext cx="856805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StringBuilder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5"/>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StringBuilder class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12006220"/>
            <a:ext cx="34782670" cy="592508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On this slide, Strings and </a:t>
            </a:r>
            <a:r>
              <a:rPr lang="en-US" sz="6400" dirty="0" err="1">
                <a:latin typeface="Open Sans" panose="020B0606030504020204" pitchFamily="34" charset="0"/>
                <a:ea typeface="Open Sans" panose="020B0606030504020204" pitchFamily="34" charset="0"/>
                <a:cs typeface="Open Sans" panose="020B0606030504020204" pitchFamily="34" charset="0"/>
              </a:rPr>
              <a:t>StringBuilders</a:t>
            </a:r>
            <a:r>
              <a:rPr lang="en-US" sz="6400" dirty="0">
                <a:latin typeface="Open Sans" panose="020B0606030504020204" pitchFamily="34" charset="0"/>
                <a:ea typeface="Open Sans" panose="020B0606030504020204" pitchFamily="34" charset="0"/>
                <a:cs typeface="Open Sans" panose="020B0606030504020204" pitchFamily="34" charset="0"/>
              </a:rPr>
              <a:t> are shown in different colors, with the StringBuilder object in green.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After the call to the append method, we still only have one StringBuilder object.</a:t>
            </a:r>
          </a:p>
        </p:txBody>
      </p:sp>
      <p:sp>
        <p:nvSpPr>
          <p:cNvPr id="2" name="Rectangle 1">
            <a:extLst>
              <a:ext uri="{FF2B5EF4-FFF2-40B4-BE49-F238E27FC236}">
                <a16:creationId xmlns:a16="http://schemas.microsoft.com/office/drawing/2014/main" id="{E9C16ABC-199B-C8CF-98EF-526B3F073187}"/>
              </a:ext>
            </a:extLst>
          </p:cNvPr>
          <p:cNvSpPr/>
          <p:nvPr/>
        </p:nvSpPr>
        <p:spPr>
          <a:xfrm>
            <a:off x="952498" y="2805754"/>
            <a:ext cx="17279669" cy="8745534"/>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3" name="Rectangle 2">
            <a:extLst>
              <a:ext uri="{FF2B5EF4-FFF2-40B4-BE49-F238E27FC236}">
                <a16:creationId xmlns:a16="http://schemas.microsoft.com/office/drawing/2014/main" id="{332E772E-E5B3-EED3-B9BD-CA65F31D31FC}"/>
              </a:ext>
            </a:extLst>
          </p:cNvPr>
          <p:cNvSpPr/>
          <p:nvPr/>
        </p:nvSpPr>
        <p:spPr>
          <a:xfrm>
            <a:off x="18232168" y="2805754"/>
            <a:ext cx="17503002" cy="8745534"/>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4" name="Rectangle 3">
            <a:extLst>
              <a:ext uri="{FF2B5EF4-FFF2-40B4-BE49-F238E27FC236}">
                <a16:creationId xmlns:a16="http://schemas.microsoft.com/office/drawing/2014/main" id="{266F6092-C038-B67D-3119-02B99F796659}"/>
              </a:ext>
            </a:extLst>
          </p:cNvPr>
          <p:cNvSpPr/>
          <p:nvPr/>
        </p:nvSpPr>
        <p:spPr>
          <a:xfrm>
            <a:off x="1207649" y="2971767"/>
            <a:ext cx="16529458" cy="718145"/>
          </a:xfrm>
          <a:prstGeom prst="rect">
            <a:avLst/>
          </a:prstGeom>
          <a:noFill/>
          <a:ln w="7620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40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Memory before executing </a:t>
            </a:r>
            <a:r>
              <a:rPr lang="en-US" sz="40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helloWorldBuilder.append</a:t>
            </a:r>
            <a:r>
              <a:rPr lang="en-US" sz="4000" b="1" dirty="0">
                <a:solidFill>
                  <a:schemeClr val="tx1"/>
                </a:solidFill>
                <a:latin typeface="Open Sans" panose="020B0606030504020204" pitchFamily="34" charset="0"/>
                <a:ea typeface="Open Sans" panose="020B0606030504020204" pitchFamily="34" charset="0"/>
                <a:cs typeface="Open Sans" panose="020B0606030504020204" pitchFamily="34" charset="0"/>
              </a:rPr>
              <a:t> method</a:t>
            </a:r>
          </a:p>
        </p:txBody>
      </p:sp>
      <p:sp>
        <p:nvSpPr>
          <p:cNvPr id="5" name="Rectangle 4">
            <a:extLst>
              <a:ext uri="{FF2B5EF4-FFF2-40B4-BE49-F238E27FC236}">
                <a16:creationId xmlns:a16="http://schemas.microsoft.com/office/drawing/2014/main" id="{70EE051F-5DB9-886F-7C85-2F7717DF0727}"/>
              </a:ext>
            </a:extLst>
          </p:cNvPr>
          <p:cNvSpPr/>
          <p:nvPr/>
        </p:nvSpPr>
        <p:spPr>
          <a:xfrm>
            <a:off x="18537339" y="2940988"/>
            <a:ext cx="16831012" cy="779701"/>
          </a:xfrm>
          <a:prstGeom prst="rect">
            <a:avLst/>
          </a:prstGeom>
          <a:noFill/>
          <a:ln w="7620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Memory after executing </a:t>
            </a:r>
            <a:r>
              <a:rPr lang="en-US" sz="4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helloWorldBuilder.append</a:t>
            </a: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 method</a:t>
            </a:r>
          </a:p>
        </p:txBody>
      </p:sp>
    </p:spTree>
    <p:extLst>
      <p:ext uri="{BB962C8B-B14F-4D97-AF65-F5344CB8AC3E}">
        <p14:creationId xmlns:p14="http://schemas.microsoft.com/office/powerpoint/2010/main" val="293485445"/>
      </p:ext>
    </p:extLst>
  </p:cSld>
  <p:clrMapOvr>
    <a:masterClrMapping/>
  </p:clrMapOvr>
  <p:transition spd="slow"/>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12D708AF-455B-DDA5-2FCD-36D774A864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38662" y="3224541"/>
            <a:ext cx="14350332" cy="85999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62DF7F27-5E4E-06F2-C792-92C5D9E1FC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600" y="3190038"/>
            <a:ext cx="16800612" cy="8543029"/>
          </a:xfrm>
          <a:prstGeom prst="rect">
            <a:avLst/>
          </a:prstGeom>
          <a:noFill/>
          <a:extLst>
            <a:ext uri="{909E8E84-426E-40DD-AFC4-6F175D3DCCD1}">
              <a14:hiddenFill xmlns:a14="http://schemas.microsoft.com/office/drawing/2010/main">
                <a:solidFill>
                  <a:srgbClr val="FFFFFF"/>
                </a:solidFill>
              </a14:hiddenFill>
            </a:ext>
          </a:extLst>
        </p:spPr>
      </p:pic>
      <p:sp>
        <p:nvSpPr>
          <p:cNvPr id="126" name="Shape 126"/>
          <p:cNvSpPr/>
          <p:nvPr/>
        </p:nvSpPr>
        <p:spPr>
          <a:xfrm>
            <a:off x="952498" y="459786"/>
            <a:ext cx="856805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StringBuilder</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5"/>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StringBuilder class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12006220"/>
            <a:ext cx="34782670" cy="592508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variable </a:t>
            </a:r>
            <a:r>
              <a:rPr lang="en-US" sz="6400" dirty="0" err="1">
                <a:latin typeface="Open Sans" panose="020B0606030504020204" pitchFamily="34" charset="0"/>
                <a:ea typeface="Open Sans" panose="020B0606030504020204" pitchFamily="34" charset="0"/>
                <a:cs typeface="Open Sans" panose="020B0606030504020204" pitchFamily="34" charset="0"/>
              </a:rPr>
              <a:t>helloWorldBuilder</a:t>
            </a:r>
            <a:r>
              <a:rPr lang="en-US" sz="6400" dirty="0">
                <a:latin typeface="Open Sans" panose="020B0606030504020204" pitchFamily="34" charset="0"/>
                <a:ea typeface="Open Sans" panose="020B0606030504020204" pitchFamily="34" charset="0"/>
                <a:cs typeface="Open Sans" panose="020B0606030504020204" pitchFamily="34" charset="0"/>
              </a:rPr>
              <a:t>, is still referencing the same object, but the value of that object changed.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important, because it means the character sequence in the StringBuilder changed.</a:t>
            </a:r>
          </a:p>
        </p:txBody>
      </p:sp>
      <p:sp>
        <p:nvSpPr>
          <p:cNvPr id="2" name="Rectangle 1">
            <a:extLst>
              <a:ext uri="{FF2B5EF4-FFF2-40B4-BE49-F238E27FC236}">
                <a16:creationId xmlns:a16="http://schemas.microsoft.com/office/drawing/2014/main" id="{E9C16ABC-199B-C8CF-98EF-526B3F073187}"/>
              </a:ext>
            </a:extLst>
          </p:cNvPr>
          <p:cNvSpPr/>
          <p:nvPr/>
        </p:nvSpPr>
        <p:spPr>
          <a:xfrm>
            <a:off x="952498" y="2805754"/>
            <a:ext cx="17279669" cy="8745534"/>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3" name="Rectangle 2">
            <a:extLst>
              <a:ext uri="{FF2B5EF4-FFF2-40B4-BE49-F238E27FC236}">
                <a16:creationId xmlns:a16="http://schemas.microsoft.com/office/drawing/2014/main" id="{332E772E-E5B3-EED3-B9BD-CA65F31D31FC}"/>
              </a:ext>
            </a:extLst>
          </p:cNvPr>
          <p:cNvSpPr/>
          <p:nvPr/>
        </p:nvSpPr>
        <p:spPr>
          <a:xfrm>
            <a:off x="18232168" y="2805754"/>
            <a:ext cx="17503002" cy="8745534"/>
          </a:xfrm>
          <a:prstGeom prst="rect">
            <a:avLst/>
          </a:prstGeom>
          <a:noFill/>
          <a:ln w="76200"/>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PH" sz="3200" b="0" i="0" u="none" strike="noStrike" cap="none" spc="0" normalizeH="0" baseline="0">
              <a:ln>
                <a:noFill/>
              </a:ln>
              <a:solidFill>
                <a:srgbClr val="FFFFFF"/>
              </a:solidFill>
              <a:effectLst/>
              <a:uFillTx/>
              <a:latin typeface="+mn-lt"/>
              <a:ea typeface="+mn-ea"/>
              <a:cs typeface="+mn-cs"/>
              <a:sym typeface="Helvetica Light"/>
            </a:endParaRPr>
          </a:p>
        </p:txBody>
      </p:sp>
      <p:sp>
        <p:nvSpPr>
          <p:cNvPr id="4" name="Rectangle 3">
            <a:extLst>
              <a:ext uri="{FF2B5EF4-FFF2-40B4-BE49-F238E27FC236}">
                <a16:creationId xmlns:a16="http://schemas.microsoft.com/office/drawing/2014/main" id="{266F6092-C038-B67D-3119-02B99F796659}"/>
              </a:ext>
            </a:extLst>
          </p:cNvPr>
          <p:cNvSpPr/>
          <p:nvPr/>
        </p:nvSpPr>
        <p:spPr>
          <a:xfrm>
            <a:off x="1207649" y="2971767"/>
            <a:ext cx="16529458" cy="718145"/>
          </a:xfrm>
          <a:prstGeom prst="rect">
            <a:avLst/>
          </a:prstGeom>
          <a:noFill/>
          <a:ln w="7620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40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Memory before executing </a:t>
            </a:r>
            <a:r>
              <a:rPr lang="en-US" sz="40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helloWorldBuilder.append</a:t>
            </a:r>
            <a:r>
              <a:rPr lang="en-US" sz="4000" b="1" dirty="0">
                <a:solidFill>
                  <a:schemeClr val="tx1"/>
                </a:solidFill>
                <a:latin typeface="Open Sans" panose="020B0606030504020204" pitchFamily="34" charset="0"/>
                <a:ea typeface="Open Sans" panose="020B0606030504020204" pitchFamily="34" charset="0"/>
                <a:cs typeface="Open Sans" panose="020B0606030504020204" pitchFamily="34" charset="0"/>
              </a:rPr>
              <a:t> method</a:t>
            </a:r>
          </a:p>
        </p:txBody>
      </p:sp>
      <p:sp>
        <p:nvSpPr>
          <p:cNvPr id="5" name="Rectangle 4">
            <a:extLst>
              <a:ext uri="{FF2B5EF4-FFF2-40B4-BE49-F238E27FC236}">
                <a16:creationId xmlns:a16="http://schemas.microsoft.com/office/drawing/2014/main" id="{70EE051F-5DB9-886F-7C85-2F7717DF0727}"/>
              </a:ext>
            </a:extLst>
          </p:cNvPr>
          <p:cNvSpPr/>
          <p:nvPr/>
        </p:nvSpPr>
        <p:spPr>
          <a:xfrm>
            <a:off x="18537339" y="2940988"/>
            <a:ext cx="16831012" cy="779701"/>
          </a:xfrm>
          <a:prstGeom prst="rect">
            <a:avLst/>
          </a:prstGeom>
          <a:noFill/>
          <a:ln w="7620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l" defTabSz="825500" rtl="0" fontAlgn="auto" latinLnBrk="0" hangingPunct="0">
              <a:lnSpc>
                <a:spcPct val="100000"/>
              </a:lnSpc>
              <a:spcBef>
                <a:spcPts val="0"/>
              </a:spcBef>
              <a:spcAft>
                <a:spcPts val="0"/>
              </a:spcAft>
              <a:buClrTx/>
              <a:buSzTx/>
              <a:buFontTx/>
              <a:buNone/>
              <a:tabLst/>
            </a:pP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Memory after executing </a:t>
            </a:r>
            <a:r>
              <a:rPr lang="en-US" sz="44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helloWorldBuilder.append</a:t>
            </a:r>
            <a:r>
              <a:rPr lang="en-US" sz="4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 method</a:t>
            </a:r>
          </a:p>
        </p:txBody>
      </p:sp>
    </p:spTree>
    <p:extLst>
      <p:ext uri="{BB962C8B-B14F-4D97-AF65-F5344CB8AC3E}">
        <p14:creationId xmlns:p14="http://schemas.microsoft.com/office/powerpoint/2010/main" val="3040120626"/>
      </p:ext>
    </p:extLst>
  </p:cSld>
  <p:clrMapOvr>
    <a:masterClrMapping/>
  </p:clrMapOvr>
  <p:transition spd="slow"/>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736005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String methods vs. StringBuilder methods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StringBuilder class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String methods create a new object in memory, and return a reference to this new object.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StringBuilder methods return a StringBuilder reference, but it's really a self-reference.</a:t>
            </a:r>
          </a:p>
        </p:txBody>
      </p:sp>
    </p:spTree>
    <p:extLst>
      <p:ext uri="{BB962C8B-B14F-4D97-AF65-F5344CB8AC3E}">
        <p14:creationId xmlns:p14="http://schemas.microsoft.com/office/powerpoint/2010/main" val="2364487471"/>
      </p:ext>
    </p:extLst>
  </p:cSld>
  <p:clrMapOvr>
    <a:masterClrMapping/>
  </p:clrMapOvr>
  <p:transition spd="slow"/>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120405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Some methods unique to the StringBuilder class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The StringBuilder class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StringBuilder class has many similar methods to Strings.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it also has methods to remove and insert characters or Strings, and truncate it's size.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it also has methods to remove and insert characters or Strings, and truncate it's size.</a:t>
            </a:r>
          </a:p>
        </p:txBody>
      </p:sp>
      <p:graphicFrame>
        <p:nvGraphicFramePr>
          <p:cNvPr id="2" name="Table 1">
            <a:extLst>
              <a:ext uri="{FF2B5EF4-FFF2-40B4-BE49-F238E27FC236}">
                <a16:creationId xmlns:a16="http://schemas.microsoft.com/office/drawing/2014/main" id="{0FC3E9FB-9BE6-BE2A-90FF-ED891F43EFCF}"/>
              </a:ext>
            </a:extLst>
          </p:cNvPr>
          <p:cNvGraphicFramePr>
            <a:graphicFrameLocks noGrp="1"/>
          </p:cNvGraphicFramePr>
          <p:nvPr/>
        </p:nvGraphicFramePr>
        <p:xfrm>
          <a:off x="952498" y="7269787"/>
          <a:ext cx="34782668" cy="10437587"/>
        </p:xfrm>
        <a:graphic>
          <a:graphicData uri="http://schemas.openxmlformats.org/drawingml/2006/table">
            <a:tbl>
              <a:tblPr firstRow="1" bandRow="1">
                <a:tableStyleId>{5C22544A-7EE6-4342-B048-85BDC9FD1C3A}</a:tableStyleId>
              </a:tblPr>
              <a:tblGrid>
                <a:gridCol w="7277102">
                  <a:extLst>
                    <a:ext uri="{9D8B030D-6E8A-4147-A177-3AD203B41FA5}">
                      <a16:colId xmlns:a16="http://schemas.microsoft.com/office/drawing/2014/main" val="2844207666"/>
                    </a:ext>
                  </a:extLst>
                </a:gridCol>
                <a:gridCol w="27505566">
                  <a:extLst>
                    <a:ext uri="{9D8B030D-6E8A-4147-A177-3AD203B41FA5}">
                      <a16:colId xmlns:a16="http://schemas.microsoft.com/office/drawing/2014/main" val="921612891"/>
                    </a:ext>
                  </a:extLst>
                </a:gridCol>
              </a:tblGrid>
              <a:tr h="1482292">
                <a:tc>
                  <a:txBody>
                    <a:bodyPr/>
                    <a:lstStyle/>
                    <a:p>
                      <a:pPr marL="180000" algn="l"/>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method</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180000" algn="l"/>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description</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3978129174"/>
                  </a:ext>
                </a:extLst>
              </a:tr>
              <a:tr h="2794593">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delete</a:t>
                      </a:r>
                    </a:p>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deleteCharAt</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You can delete a substring using indices to specify a range, or delete a single character at an index.</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40325450"/>
                  </a:ext>
                </a:extLst>
              </a:tr>
              <a:tr h="1828800">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insert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You can insert text at a specified position.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7097468"/>
                  </a:ext>
                </a:extLst>
              </a:tr>
              <a:tr h="1831298">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reverse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You can reverse the order of the characters in </a:t>
                      </a:r>
                      <a:r>
                        <a:rPr lang="en-US" sz="6400" b="0">
                          <a:solidFill>
                            <a:schemeClr val="tx1"/>
                          </a:solidFill>
                          <a:latin typeface="Open Sans" panose="020B0606030504020204" pitchFamily="34" charset="0"/>
                          <a:ea typeface="Open Sans" panose="020B0606030504020204" pitchFamily="34" charset="0"/>
                          <a:cs typeface="Open Sans" panose="020B0606030504020204" pitchFamily="34" charset="0"/>
                        </a:rPr>
                        <a:t>the sequence.</a:t>
                      </a:r>
                      <a:endPar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4012596"/>
                  </a:ext>
                </a:extLst>
              </a:tr>
              <a:tr h="2500604">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Roboto Mono" panose="00000009000000000000" pitchFamily="49" charset="0"/>
                          <a:ea typeface="Roboto Mono" panose="00000009000000000000" pitchFamily="49" charset="0"/>
                          <a:cs typeface="Open Sans" panose="020B0606030504020204" pitchFamily="34" charset="0"/>
                        </a:rPr>
                        <a:t>setLength</a:t>
                      </a:r>
                      <a:endPar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setLength</a:t>
                      </a: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can be used to truncate the sequence, or include null sequences to 'fill out' the sequence to that length.</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4230643"/>
                  </a:ext>
                </a:extLst>
              </a:tr>
            </a:tbl>
          </a:graphicData>
        </a:graphic>
      </p:graphicFrame>
    </p:spTree>
    <p:extLst>
      <p:ext uri="{BB962C8B-B14F-4D97-AF65-F5344CB8AC3E}">
        <p14:creationId xmlns:p14="http://schemas.microsoft.com/office/powerpoint/2010/main" val="1910378107"/>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937</TotalTime>
  <Words>10252</Words>
  <Application>Microsoft Office PowerPoint</Application>
  <PresentationFormat>Custom</PresentationFormat>
  <Paragraphs>1258</Paragraphs>
  <Slides>160</Slides>
  <Notes>160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160</vt:i4>
      </vt:variant>
    </vt:vector>
  </HeadingPairs>
  <TitlesOfParts>
    <vt:vector size="168" baseType="lpstr">
      <vt:lpstr>Arial</vt:lpstr>
      <vt:lpstr>Helvetica</vt:lpstr>
      <vt:lpstr>Helvetica Light</vt:lpstr>
      <vt:lpstr>Helvetica Neue</vt:lpstr>
      <vt:lpstr>Open Sans</vt:lpstr>
      <vt:lpstr>Roboto</vt:lpstr>
      <vt:lpstr>Roboto Mono</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Gigabyte</dc:creator>
  <cp:lastModifiedBy>Vargas, Antonio</cp:lastModifiedBy>
  <cp:revision>190</cp:revision>
  <dcterms:modified xsi:type="dcterms:W3CDTF">2024-12-26T02:03:10Z</dcterms:modified>
</cp:coreProperties>
</file>